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592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End-to-end: motivation, the MIL abstraction, then the full engineering pipeline — data prep, encoders, architectures, training, inference, post-processing, evaluation. Five sections ship with a runnable notebook. We close with takeaways and a NotebookLM quiz.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central tension. A 40x WSI is on the order of 10 gigapixels and tens of thousands of tiles, yet supervision usually exists only at the slide level. The diagnostic evidence can be a tiny fraction of the tissue. This scale + weak-label combination is exactly what MIL is built for.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three intuitive-but-broken approaches: downsampling kills resolution, full-res end-to-end is computationally impossible, and patch-supervised needs labels we don't have. MIL threads the needle: patch-decompose, encode, and learn the pooling under slide-level supervision.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weak-label point concrete: the slide label comes from a free-text report, propagates to all patches, but is really an 'at least one positive' statement. This noisy inheritance is the standard MIL assumption we'll formalize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the application space so engineers see where this lands. Two big families: morphology tasks (subtyping, detection, grading) and the more surprising 'molecular-from-morphology' tasks (mutation, MSI, biomarker, response, survival). Same MIL machinery, different label.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field historically and commercially. Key beats: ABMIL 2018, CLAM + Paige FDA 2021, the 2024 foundation-model wave, and 2025's v2 encoders + slide encoders + TRIDENT. The point: everything we teach is now open and reproducible.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MIL crisply. A bag is an unordered set of instances with a single bag label. The classic binary assumption: a bag is positive iff at least one instance is positive. In pathology, bag=slide, instance=patch, and instance labels are unobserved.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paradigms. Instance-level scores each patch then pools scores — interpretable but unstable. Embedding-level pools features into one bag vector then classifies once — more stable and the basis of every modern method (ABMIL, CLAM, TransMIL). We focus on embedding-level for the rest of the course.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unifying mental model for the whole architecture section. Encoder → permutation-invariant pooling → classifier. The encoder is now a frozen foundation model; the classifier is trivial; all the intellectual action is in designing the pooling operator σ. Every method we cover next is a different σ.</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need the storage model. A WSI is a pyramid of pre-tiled levels; OpenSlide gives random access to any region at any level without decoding the whole file. Critical practical point: read the real mpp from metadata, because 20x on one scanner ≠ 20x on another.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the pipeline. Tissue segmentation removes background glass so we only encode real tissue. The CLAM recipe is Otsu on the saturation channel after blur + morphology. The output contours bound where we sample patches. Mention learned segmenters for pen-mark/artifact removal.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Tile tissue into a 256-px grid at a chosen magnification. The coords-first trick (store (x,y), lazy-load pixels) is what makes CLAM fast and disk-light. Each in-tissue tile becomes an instance in the bag.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crux. Each patch goes through a FROZEN foundation encoder to a d-dim vector. This is the one expensive GPU pass; cache it. The per-slide (N×d) tensor is the bag. Because it's precomputed, MIL training is cheap and fast — a key practical property.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notebook 01. It walks the full data-prep pipeline on a real TCGA slide: OpenSlide load, Otsu segmentation, 20x patching with a visual patch map, UNI/CONCH feature extraction, and saving the bag tensor + manifest. This produces the input every later notebook consumes.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encoder revolution. We went from ImageNet CNNs (big domain gap) to in-domain SSL (CTransPath) to true foundation models trained on millions of WSIs. The features are now strong enough that the MIL head can be tiny and data-efficient. That's why the frozen-encoder + light-aggregator recipe dominates.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 don't read every cell. Key takeaways: ViT-L to ViT-G scale, embedding dims from 768 to 2560, all trained on huge WSI corpora, all downloadable. Note CONCH is vision-language (zero-shot capable). Important: these models excluded TCGA/CAMELYON from training, so benchmarking on those is leakage-safe.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two tiers. Patch encoders give per-tile vectors and still need a MIL aggregator — our focus. Slide encoders are pretrained aggregators (GigaPath slide model, PRISM, TITAN, CHIEF) that output a slide embedding directly. They're the frontier and reduce task-data needs, but the course core is the flexible patch-encoder + trainable head.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anatomy before the zoo. Bag features in, optional projection, pooling (the learnable heart), linear classifier out. Emphasize how few parameters this is and how fast it trains on cached features — that's why MIL research iterates so quickly. Everything next is a different pooling box.</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 the baselines. Mean = uniform weights (robust but dilutes signal); Max = one-hot weight (sharp but fragile). Crucially, with foundation features mean-pooling is a strong baseline you must beat. Frame both as special cases of attention — which motivates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ABMIL is the workhorse. A small 2-layer network scores each patch; softmax normalizes; weighted sum gives the bag vector. The attention weights are the interpretability bonus — the same numbers we'll paint as heatmaps later. Stress that this generalizes mean/max.</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Gated attention is a one-line upgrade: add a sigmoid gate branch and element-wise-multiply it with the tanh branch before scoring. More expressive non-linearity; it's the CLAM default. Small but consistent improvement — cheap to adopt.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CLAM is the field default — explain it precisely. It's gated-attention MIL plus an instance-clustering auxiliary task: the top-k and bottom-k attended patches are pseudo-labeled and an instance classifier learns to separate them, which regularizes/sharpens attention. SB vs MB = single vs per-class attention branch. The clustering loss + data efficiency are why it caught on. Correct the common myth: there is no k-means preprocessing.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TransMIL adds inter-patch context via self-attention — patches see each other, unlike ABMIL/CLAM's independent scoring. The catch is O(N²); they use Nyström to approximate it near-linearly, plus a CLS token and PPEG positional module. Best when spatial/morphological context between regions matters.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table. The honest practical advice: default to CLAM-SB on frozen foundation features, use TransMIL when inter-patch context helps, DTFD for tiny cohorts, and always sanity-check against mean-pooling. There's no universal winner — encoder choice often matters more than aggregator choice.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defining property of modern MIL training: it's two-stage. Stage 1 encodes slides once (GPU-heavy, cached). Stage 2 trains only the small aggregator on cached features — fast, cheap, and where you iterate. Note the variable bag size forces batch_size=1 or bucketing+masking. The code mirrors a CLAM training loop.</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Losses. The primary signal is bag-level cross-entropy (weighted for imbalance). CLAM adds the instance-clustering auxiliary loss at weight ~0.3. The same aggregator backbone swaps in a Cox head for survival or an MSE head for continuous biomarkers — only the head and loss change.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nail. Left: a sane default recipe (AdamW, lr ~1e-4, dropout 0.25, early stop on val AUC). Right — the part people get wrong — splitting by PATIENT not slide to avoid leakage, stratified k-fold with mean±std, and ideally an external cohort. Pathology results are high-variance, so report distributions and log seeds.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training with the failure modes that bite people: leakage (patient split + encoder-pretraining overlap), tiny-cohort overfitting, class imbalance, and magnification mismatch. Then point to notebook 02, which implements the correct patient-stratified 10-fold CLAM-SB training with a mean-pool baseline.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is just the training pipeline run forward with no grad. The same prep + frozen encoder produce the bag; one forward pass yields both the probability and the attention vector. Reinforce that encoding dominates latency, not the head. Notebook 03 scores a held-out slide.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realities for engineers. The cost is encoding (batch + fp16 + shard); the head is trivial. Pin everything for reproducibility. Add probability calibration, OOD/abstention, slide-level QC (blur, pen, folds), and audit logging. These operational concerns separate a demo from a clinical tool.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Heatmaps are the headline interpretability output. Scatter attention back to coordinates, normalize, colormap, blend over the thumbnail — hotspots are what drove the call. Be explicit about the caveat: attention localizes but doesn't prove causation; treat it as a hypothesis for the pathologist, not ground truth.</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post-processing tools. Top-k retrieval turns attention into an evidence panel for fast human audit and dataset QC. Case-level aggregation rolls multiple slides into the patient decision (max/mean/learned) with a validation-chosen threshold. Always report at the level the clinic acts on. Notebook 04 covers both.</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discipline. AUROC is the headline but balanced accuracy and AUPRC tell the truth under imbalance. Always report an operating point with how the threshold was chosen, mean±std across folds, and — most important — an external-cohort number. Single-split accuracy on imbalanced data is the classic way to fool yourself.</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Visualization is verification, not decoration. Attention overlays catch shortcut learning (great AUC, nonsense hotspots). UMAP of patch embeddings shows whether the feature space separates tissue classes. Both belong in every evaluation report. Notebook 05 produces ROC curves, the metrics table, overlays, and the UMAP.</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test is generalization. Stain/scanner shift is the dominant failure; mitigate with normalization/augmentation and diverse training. Always quote an external cohort — internal CV is optimistic, and the illustrative bars show the typical gap. Watch for batch effects (model learns the hospital) and do subgroup analysis. Numbers shown are illustrative, not measured.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five-point recap — the slide to photograph. Scale+weak-label motivation; the encode-pool-classify abstraction; frozen-encoder + tiny-head recipe; CLAM-SB as default; and validate honestly. If they remember nothing else, these five carry the course.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look. Slide foundation models may turn MIL heads into linear probes; multimodal fusion (genomics, text, radiology) is the next frontier; vision-language enables zero-shot and report generation; spatial/cell-graph reasoning adds biology; and robustness, fairness, and regulation gate real deployment. Plenty of open engineering problems.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out. Point them to the NotebookLM quiz source (20 Q across all sections with answer key) and the 5 notebooks for self-study. Leave the references up. Then open the floor for the 10-minute Q&amp;A.</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D6336C"/>
          </a:solidFill>
          <a:ln/>
        </p:spPr>
        <p:txBody>
          <a:bodyPr/>
          <a:lstStyle/>
          <a:p>
            <a:endParaRPr lang="en-US"/>
          </a:p>
        </p:txBody>
      </p:sp>
      <p:sp>
        <p:nvSpPr>
          <p:cNvPr id="3" name="Shape 1"/>
          <p:cNvSpPr/>
          <p:nvPr/>
        </p:nvSpPr>
        <p:spPr>
          <a:xfrm>
            <a:off x="10424160" y="868680"/>
            <a:ext cx="566928" cy="566928"/>
          </a:xfrm>
          <a:prstGeom prst="ellipse">
            <a:avLst/>
          </a:prstGeom>
          <a:solidFill>
            <a:srgbClr val="D6336C">
              <a:alpha val="78000"/>
            </a:srgbClr>
          </a:solidFill>
          <a:ln/>
        </p:spPr>
        <p:txBody>
          <a:bodyPr/>
          <a:lstStyle/>
          <a:p>
            <a:endParaRPr lang="en-US"/>
          </a:p>
        </p:txBody>
      </p:sp>
      <p:sp>
        <p:nvSpPr>
          <p:cNvPr id="4" name="Shape 2"/>
          <p:cNvSpPr/>
          <p:nvPr/>
        </p:nvSpPr>
        <p:spPr>
          <a:xfrm>
            <a:off x="11247120" y="1417320"/>
            <a:ext cx="310896" cy="310896"/>
          </a:xfrm>
          <a:prstGeom prst="ellipse">
            <a:avLst/>
          </a:prstGeom>
          <a:solidFill>
            <a:srgbClr val="6B4E8F">
              <a:alpha val="78000"/>
            </a:srgbClr>
          </a:solidFill>
          <a:ln/>
        </p:spPr>
        <p:txBody>
          <a:bodyPr/>
          <a:lstStyle/>
          <a:p>
            <a:endParaRPr lang="en-US"/>
          </a:p>
        </p:txBody>
      </p:sp>
      <p:sp>
        <p:nvSpPr>
          <p:cNvPr id="5" name="Shape 3"/>
          <p:cNvSpPr/>
          <p:nvPr/>
        </p:nvSpPr>
        <p:spPr>
          <a:xfrm>
            <a:off x="10012680" y="1783080"/>
            <a:ext cx="219456" cy="219456"/>
          </a:xfrm>
          <a:prstGeom prst="ellipse">
            <a:avLst/>
          </a:prstGeom>
          <a:solidFill>
            <a:srgbClr val="F2A9C4">
              <a:alpha val="78000"/>
            </a:srgbClr>
          </a:solidFill>
          <a:ln/>
        </p:spPr>
        <p:txBody>
          <a:bodyPr/>
          <a:lstStyle/>
          <a:p>
            <a:endParaRPr lang="en-US"/>
          </a:p>
        </p:txBody>
      </p:sp>
      <p:sp>
        <p:nvSpPr>
          <p:cNvPr id="6" name="Shape 4"/>
          <p:cNvSpPr/>
          <p:nvPr/>
        </p:nvSpPr>
        <p:spPr>
          <a:xfrm>
            <a:off x="11475720" y="2240280"/>
            <a:ext cx="164592" cy="164592"/>
          </a:xfrm>
          <a:prstGeom prst="ellipse">
            <a:avLst/>
          </a:prstGeom>
          <a:solidFill>
            <a:srgbClr val="D6336C">
              <a:alpha val="78000"/>
            </a:srgbClr>
          </a:solidFill>
          <a:ln/>
        </p:spPr>
        <p:txBody>
          <a:bodyPr/>
          <a:lstStyle/>
          <a:p>
            <a:endParaRPr lang="en-US"/>
          </a:p>
        </p:txBody>
      </p:sp>
      <p:sp>
        <p:nvSpPr>
          <p:cNvPr id="7" name="Shape 5"/>
          <p:cNvSpPr/>
          <p:nvPr/>
        </p:nvSpPr>
        <p:spPr>
          <a:xfrm>
            <a:off x="10835640" y="2514600"/>
            <a:ext cx="384048" cy="384048"/>
          </a:xfrm>
          <a:prstGeom prst="ellipse">
            <a:avLst/>
          </a:prstGeom>
          <a:solidFill>
            <a:srgbClr val="6B4E8F">
              <a:alpha val="78000"/>
            </a:srgbClr>
          </a:solidFill>
          <a:ln/>
        </p:spPr>
        <p:txBody>
          <a:bodyPr/>
          <a:lstStyle/>
          <a:p>
            <a:endParaRPr lang="en-US"/>
          </a:p>
        </p:txBody>
      </p:sp>
      <p:sp>
        <p:nvSpPr>
          <p:cNvPr id="8" name="Text 6"/>
          <p:cNvSpPr/>
          <p:nvPr/>
        </p:nvSpPr>
        <p:spPr>
          <a:xfrm>
            <a:off x="822960" y="1920240"/>
            <a:ext cx="9144000" cy="36576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A TECHNICAL COURSE FOR ML ENGINEERS</a:t>
            </a:r>
            <a:endParaRPr lang="en-US" sz="1650" dirty="0"/>
          </a:p>
        </p:txBody>
      </p:sp>
      <p:sp>
        <p:nvSpPr>
          <p:cNvPr id="9" name="Text 7"/>
          <p:cNvSpPr/>
          <p:nvPr/>
        </p:nvSpPr>
        <p:spPr>
          <a:xfrm>
            <a:off x="777240" y="2286000"/>
            <a:ext cx="10515600" cy="1828800"/>
          </a:xfrm>
          <a:prstGeom prst="rect">
            <a:avLst/>
          </a:prstGeom>
          <a:noFill/>
          <a:ln/>
        </p:spPr>
        <p:txBody>
          <a:bodyPr wrap="square" lIns="0" tIns="0" rIns="0" bIns="0" rtlCol="0" anchor="ctr"/>
          <a:lstStyle/>
          <a:p>
            <a:pPr marL="0" indent="0">
              <a:lnSpc>
                <a:spcPct val="95000"/>
              </a:lnSpc>
              <a:buNone/>
            </a:pPr>
            <a:r>
              <a:rPr lang="en-US" sz="5400" b="1" dirty="0">
                <a:solidFill>
                  <a:srgbClr val="FFFFFF"/>
                </a:solidFill>
                <a:latin typeface="Georgia" pitchFamily="34" charset="0"/>
                <a:ea typeface="Georgia" pitchFamily="34" charset="-122"/>
                <a:cs typeface="Georgia" pitchFamily="34" charset="-120"/>
              </a:rPr>
              <a:t>Introduction to</a:t>
            </a:r>
            <a:endParaRPr lang="en-US" sz="5400" dirty="0"/>
          </a:p>
          <a:p>
            <a:pPr marL="0" indent="0">
              <a:lnSpc>
                <a:spcPct val="95000"/>
              </a:lnSpc>
              <a:buNone/>
            </a:pPr>
            <a:r>
              <a:rPr lang="en-US" sz="5400" b="1" dirty="0">
                <a:solidFill>
                  <a:srgbClr val="FFFFFF"/>
                </a:solidFill>
                <a:latin typeface="Georgia" pitchFamily="34" charset="0"/>
                <a:ea typeface="Georgia" pitchFamily="34" charset="-122"/>
                <a:cs typeface="Georgia" pitchFamily="34" charset="-120"/>
              </a:rPr>
              <a:t>Pathology MIL</a:t>
            </a:r>
            <a:endParaRPr lang="en-US" sz="5400" dirty="0"/>
          </a:p>
        </p:txBody>
      </p:sp>
      <p:sp>
        <p:nvSpPr>
          <p:cNvPr id="10" name="Text 8"/>
          <p:cNvSpPr/>
          <p:nvPr/>
        </p:nvSpPr>
        <p:spPr>
          <a:xfrm>
            <a:off x="822960" y="4389120"/>
            <a:ext cx="10058400" cy="822960"/>
          </a:xfrm>
          <a:prstGeom prst="rect">
            <a:avLst/>
          </a:prstGeom>
          <a:noFill/>
          <a:ln/>
        </p:spPr>
        <p:txBody>
          <a:bodyPr wrap="square" lIns="0" tIns="0" rIns="0" bIns="0" rtlCol="0" anchor="ctr"/>
          <a:lstStyle/>
          <a:p>
            <a:pPr marL="0" indent="0">
              <a:lnSpc>
                <a:spcPct val="110000"/>
              </a:lnSpc>
              <a:buNone/>
            </a:pPr>
            <a:r>
              <a:rPr lang="en-US" sz="1900" dirty="0">
                <a:solidFill>
                  <a:srgbClr val="CFC3DE"/>
                </a:solidFill>
                <a:latin typeface="Calibri" pitchFamily="34" charset="0"/>
                <a:ea typeface="Calibri" pitchFamily="34" charset="-122"/>
                <a:cs typeface="Calibri" pitchFamily="34" charset="-120"/>
              </a:rPr>
              <a:t>Multiple Instance Learning on gigapixel whole-slide images:</a:t>
            </a:r>
            <a:endParaRPr lang="en-US" sz="1900" dirty="0"/>
          </a:p>
          <a:p>
            <a:pPr marL="0" indent="0">
              <a:lnSpc>
                <a:spcPct val="110000"/>
              </a:lnSpc>
              <a:buNone/>
            </a:pPr>
            <a:r>
              <a:rPr lang="en-US" sz="1900" dirty="0">
                <a:solidFill>
                  <a:srgbClr val="CFC3DE"/>
                </a:solidFill>
                <a:latin typeface="Calibri" pitchFamily="34" charset="0"/>
                <a:ea typeface="Calibri" pitchFamily="34" charset="-122"/>
                <a:cs typeface="Calibri" pitchFamily="34" charset="-120"/>
              </a:rPr>
              <a:t>from raw slides to interpretable, weakly-supervised predictions.</a:t>
            </a:r>
            <a:endParaRPr lang="en-US" sz="1900" dirty="0"/>
          </a:p>
        </p:txBody>
      </p:sp>
      <p:sp>
        <p:nvSpPr>
          <p:cNvPr id="11" name="Text 9"/>
          <p:cNvSpPr/>
          <p:nvPr/>
        </p:nvSpPr>
        <p:spPr>
          <a:xfrm>
            <a:off x="822960" y="5669280"/>
            <a:ext cx="10515600" cy="365760"/>
          </a:xfrm>
          <a:prstGeom prst="rect">
            <a:avLst/>
          </a:prstGeom>
          <a:noFill/>
          <a:ln/>
        </p:spPr>
        <p:txBody>
          <a:bodyPr wrap="square" lIns="0" tIns="0" rIns="0" bIns="0" rtlCol="0" anchor="ctr"/>
          <a:lstStyle/>
          <a:p>
            <a:pPr marL="0" indent="0">
              <a:buNone/>
            </a:pPr>
            <a:r>
              <a:rPr lang="en-US" sz="1550" i="1" dirty="0">
                <a:solidFill>
                  <a:srgbClr val="F2A9C4"/>
                </a:solidFill>
                <a:latin typeface="Calibri" pitchFamily="34" charset="0"/>
                <a:ea typeface="Calibri" pitchFamily="34" charset="-122"/>
                <a:cs typeface="Calibri" pitchFamily="34" charset="-120"/>
              </a:rPr>
              <a:t>50-minute lecture   ·   hands-on Jupyter notebooks   ·   NotebookLM quiz</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ROADMAP</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What we'll cover in the next 50 minutes</a:t>
            </a:r>
            <a:endParaRPr lang="en-US" sz="2900" dirty="0"/>
          </a:p>
        </p:txBody>
      </p:sp>
      <p:sp>
        <p:nvSpPr>
          <p:cNvPr id="5" name="Shape 3"/>
          <p:cNvSpPr/>
          <p:nvPr/>
        </p:nvSpPr>
        <p:spPr>
          <a:xfrm>
            <a:off x="548640" y="1371600"/>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548640" y="1371600"/>
            <a:ext cx="82296" cy="822960"/>
          </a:xfrm>
          <a:prstGeom prst="rect">
            <a:avLst/>
          </a:prstGeom>
          <a:solidFill>
            <a:srgbClr val="6B4E8F"/>
          </a:solidFill>
          <a:ln/>
        </p:spPr>
        <p:txBody>
          <a:bodyPr/>
          <a:lstStyle/>
          <a:p>
            <a:endParaRPr lang="en-US"/>
          </a:p>
        </p:txBody>
      </p:sp>
      <p:sp>
        <p:nvSpPr>
          <p:cNvPr id="7" name="Shape 5"/>
          <p:cNvSpPr/>
          <p:nvPr/>
        </p:nvSpPr>
        <p:spPr>
          <a:xfrm>
            <a:off x="749808" y="1554480"/>
            <a:ext cx="457200" cy="457200"/>
          </a:xfrm>
          <a:prstGeom prst="ellipse">
            <a:avLst/>
          </a:prstGeom>
          <a:solidFill>
            <a:srgbClr val="4A2C6D"/>
          </a:solidFill>
          <a:ln/>
        </p:spPr>
        <p:txBody>
          <a:bodyPr/>
          <a:lstStyle/>
          <a:p>
            <a:endParaRPr lang="en-US"/>
          </a:p>
        </p:txBody>
      </p:sp>
      <p:sp>
        <p:nvSpPr>
          <p:cNvPr id="8" name="Text 6"/>
          <p:cNvSpPr/>
          <p:nvPr/>
        </p:nvSpPr>
        <p:spPr>
          <a:xfrm>
            <a:off x="749808" y="1554480"/>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1389888" y="1463040"/>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Background</a:t>
            </a:r>
            <a:endParaRPr lang="en-US" sz="1700" dirty="0"/>
          </a:p>
        </p:txBody>
      </p:sp>
      <p:sp>
        <p:nvSpPr>
          <p:cNvPr id="10" name="Text 8"/>
          <p:cNvSpPr/>
          <p:nvPr/>
        </p:nvSpPr>
        <p:spPr>
          <a:xfrm>
            <a:off x="1389888" y="1783080"/>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Why gigapixel pathology needs weak supervision</a:t>
            </a:r>
            <a:endParaRPr lang="en-US" sz="1350" dirty="0"/>
          </a:p>
        </p:txBody>
      </p:sp>
      <p:sp>
        <p:nvSpPr>
          <p:cNvPr id="11" name="Shape 9"/>
          <p:cNvSpPr/>
          <p:nvPr/>
        </p:nvSpPr>
        <p:spPr>
          <a:xfrm>
            <a:off x="548640" y="2313432"/>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10"/>
          <p:cNvSpPr/>
          <p:nvPr/>
        </p:nvSpPr>
        <p:spPr>
          <a:xfrm>
            <a:off x="548640" y="2313432"/>
            <a:ext cx="82296" cy="822960"/>
          </a:xfrm>
          <a:prstGeom prst="rect">
            <a:avLst/>
          </a:prstGeom>
          <a:solidFill>
            <a:srgbClr val="6B4E8F"/>
          </a:solidFill>
          <a:ln/>
        </p:spPr>
        <p:txBody>
          <a:bodyPr/>
          <a:lstStyle/>
          <a:p>
            <a:endParaRPr lang="en-US"/>
          </a:p>
        </p:txBody>
      </p:sp>
      <p:sp>
        <p:nvSpPr>
          <p:cNvPr id="13" name="Shape 11"/>
          <p:cNvSpPr/>
          <p:nvPr/>
        </p:nvSpPr>
        <p:spPr>
          <a:xfrm>
            <a:off x="749808" y="2496312"/>
            <a:ext cx="457200" cy="457200"/>
          </a:xfrm>
          <a:prstGeom prst="ellipse">
            <a:avLst/>
          </a:prstGeom>
          <a:solidFill>
            <a:srgbClr val="4A2C6D"/>
          </a:solidFill>
          <a:ln/>
        </p:spPr>
        <p:txBody>
          <a:bodyPr/>
          <a:lstStyle/>
          <a:p>
            <a:endParaRPr lang="en-US"/>
          </a:p>
        </p:txBody>
      </p:sp>
      <p:sp>
        <p:nvSpPr>
          <p:cNvPr id="14" name="Text 12"/>
          <p:cNvSpPr/>
          <p:nvPr/>
        </p:nvSpPr>
        <p:spPr>
          <a:xfrm>
            <a:off x="749808" y="2496312"/>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1389888" y="2404872"/>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MIL formulation</a:t>
            </a:r>
            <a:endParaRPr lang="en-US" sz="1700" dirty="0"/>
          </a:p>
        </p:txBody>
      </p:sp>
      <p:sp>
        <p:nvSpPr>
          <p:cNvPr id="16" name="Text 14"/>
          <p:cNvSpPr/>
          <p:nvPr/>
        </p:nvSpPr>
        <p:spPr>
          <a:xfrm>
            <a:off x="1389888" y="2724912"/>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Bags, instances &amp; permutation-invariant pooling</a:t>
            </a:r>
            <a:endParaRPr lang="en-US" sz="1350" dirty="0"/>
          </a:p>
        </p:txBody>
      </p:sp>
      <p:sp>
        <p:nvSpPr>
          <p:cNvPr id="17" name="Shape 15"/>
          <p:cNvSpPr/>
          <p:nvPr/>
        </p:nvSpPr>
        <p:spPr>
          <a:xfrm>
            <a:off x="548640" y="3255264"/>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548640" y="3255264"/>
            <a:ext cx="82296" cy="822960"/>
          </a:xfrm>
          <a:prstGeom prst="rect">
            <a:avLst/>
          </a:prstGeom>
          <a:solidFill>
            <a:srgbClr val="6B4E8F"/>
          </a:solidFill>
          <a:ln/>
        </p:spPr>
        <p:txBody>
          <a:bodyPr/>
          <a:lstStyle/>
          <a:p>
            <a:endParaRPr lang="en-US"/>
          </a:p>
        </p:txBody>
      </p:sp>
      <p:sp>
        <p:nvSpPr>
          <p:cNvPr id="19" name="Shape 17"/>
          <p:cNvSpPr/>
          <p:nvPr/>
        </p:nvSpPr>
        <p:spPr>
          <a:xfrm>
            <a:off x="749808" y="3438144"/>
            <a:ext cx="457200" cy="457200"/>
          </a:xfrm>
          <a:prstGeom prst="ellipse">
            <a:avLst/>
          </a:prstGeom>
          <a:solidFill>
            <a:srgbClr val="4A2C6D"/>
          </a:solidFill>
          <a:ln/>
        </p:spPr>
        <p:txBody>
          <a:bodyPr/>
          <a:lstStyle/>
          <a:p>
            <a:endParaRPr lang="en-US"/>
          </a:p>
        </p:txBody>
      </p:sp>
      <p:sp>
        <p:nvSpPr>
          <p:cNvPr id="20" name="Text 18"/>
          <p:cNvSpPr/>
          <p:nvPr/>
        </p:nvSpPr>
        <p:spPr>
          <a:xfrm>
            <a:off x="749808" y="3438144"/>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1" name="Text 19"/>
          <p:cNvSpPr/>
          <p:nvPr/>
        </p:nvSpPr>
        <p:spPr>
          <a:xfrm>
            <a:off x="1389888" y="3346704"/>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Data preparation</a:t>
            </a:r>
            <a:endParaRPr lang="en-US" sz="1700" dirty="0"/>
          </a:p>
        </p:txBody>
      </p:sp>
      <p:sp>
        <p:nvSpPr>
          <p:cNvPr id="22" name="Text 20"/>
          <p:cNvSpPr/>
          <p:nvPr/>
        </p:nvSpPr>
        <p:spPr>
          <a:xfrm>
            <a:off x="1389888" y="3666744"/>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WSIs → tissue → patches → features · notebook</a:t>
            </a:r>
            <a:endParaRPr lang="en-US" sz="1350" dirty="0"/>
          </a:p>
        </p:txBody>
      </p:sp>
      <p:sp>
        <p:nvSpPr>
          <p:cNvPr id="23" name="Shape 21"/>
          <p:cNvSpPr/>
          <p:nvPr/>
        </p:nvSpPr>
        <p:spPr>
          <a:xfrm>
            <a:off x="548640" y="4197096"/>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4" name="Shape 22"/>
          <p:cNvSpPr/>
          <p:nvPr/>
        </p:nvSpPr>
        <p:spPr>
          <a:xfrm>
            <a:off x="548640" y="4197096"/>
            <a:ext cx="82296" cy="822960"/>
          </a:xfrm>
          <a:prstGeom prst="rect">
            <a:avLst/>
          </a:prstGeom>
          <a:solidFill>
            <a:srgbClr val="6B4E8F"/>
          </a:solidFill>
          <a:ln/>
        </p:spPr>
        <p:txBody>
          <a:bodyPr/>
          <a:lstStyle/>
          <a:p>
            <a:endParaRPr lang="en-US"/>
          </a:p>
        </p:txBody>
      </p:sp>
      <p:sp>
        <p:nvSpPr>
          <p:cNvPr id="25" name="Shape 23"/>
          <p:cNvSpPr/>
          <p:nvPr/>
        </p:nvSpPr>
        <p:spPr>
          <a:xfrm>
            <a:off x="749808" y="4379976"/>
            <a:ext cx="457200" cy="457200"/>
          </a:xfrm>
          <a:prstGeom prst="ellipse">
            <a:avLst/>
          </a:prstGeom>
          <a:solidFill>
            <a:srgbClr val="4A2C6D"/>
          </a:solidFill>
          <a:ln/>
        </p:spPr>
        <p:txBody>
          <a:bodyPr/>
          <a:lstStyle/>
          <a:p>
            <a:endParaRPr lang="en-US"/>
          </a:p>
        </p:txBody>
      </p:sp>
      <p:sp>
        <p:nvSpPr>
          <p:cNvPr id="26" name="Text 24"/>
          <p:cNvSpPr/>
          <p:nvPr/>
        </p:nvSpPr>
        <p:spPr>
          <a:xfrm>
            <a:off x="749808" y="4379976"/>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25"/>
          <p:cNvSpPr/>
          <p:nvPr/>
        </p:nvSpPr>
        <p:spPr>
          <a:xfrm>
            <a:off x="1389888" y="4288536"/>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Foundation encoders</a:t>
            </a:r>
            <a:endParaRPr lang="en-US" sz="1700" dirty="0"/>
          </a:p>
        </p:txBody>
      </p:sp>
      <p:sp>
        <p:nvSpPr>
          <p:cNvPr id="28" name="Text 26"/>
          <p:cNvSpPr/>
          <p:nvPr/>
        </p:nvSpPr>
        <p:spPr>
          <a:xfrm>
            <a:off x="1389888" y="4608576"/>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UNI2, Virchow2, GigaPath, CONCH</a:t>
            </a:r>
            <a:endParaRPr lang="en-US" sz="1350" dirty="0"/>
          </a:p>
        </p:txBody>
      </p:sp>
      <p:sp>
        <p:nvSpPr>
          <p:cNvPr id="29" name="Shape 27"/>
          <p:cNvSpPr/>
          <p:nvPr/>
        </p:nvSpPr>
        <p:spPr>
          <a:xfrm>
            <a:off x="548640" y="5138928"/>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30" name="Shape 28"/>
          <p:cNvSpPr/>
          <p:nvPr/>
        </p:nvSpPr>
        <p:spPr>
          <a:xfrm>
            <a:off x="548640" y="5138928"/>
            <a:ext cx="82296" cy="822960"/>
          </a:xfrm>
          <a:prstGeom prst="rect">
            <a:avLst/>
          </a:prstGeom>
          <a:solidFill>
            <a:srgbClr val="6B4E8F"/>
          </a:solidFill>
          <a:ln/>
        </p:spPr>
        <p:txBody>
          <a:bodyPr/>
          <a:lstStyle/>
          <a:p>
            <a:endParaRPr lang="en-US"/>
          </a:p>
        </p:txBody>
      </p:sp>
      <p:sp>
        <p:nvSpPr>
          <p:cNvPr id="31" name="Shape 29"/>
          <p:cNvSpPr/>
          <p:nvPr/>
        </p:nvSpPr>
        <p:spPr>
          <a:xfrm>
            <a:off x="749808" y="5321808"/>
            <a:ext cx="457200" cy="457200"/>
          </a:xfrm>
          <a:prstGeom prst="ellipse">
            <a:avLst/>
          </a:prstGeom>
          <a:solidFill>
            <a:srgbClr val="4A2C6D"/>
          </a:solidFill>
          <a:ln/>
        </p:spPr>
        <p:txBody>
          <a:bodyPr/>
          <a:lstStyle/>
          <a:p>
            <a:endParaRPr lang="en-US"/>
          </a:p>
        </p:txBody>
      </p:sp>
      <p:sp>
        <p:nvSpPr>
          <p:cNvPr id="32" name="Text 30"/>
          <p:cNvSpPr/>
          <p:nvPr/>
        </p:nvSpPr>
        <p:spPr>
          <a:xfrm>
            <a:off x="749808" y="5321808"/>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3" name="Text 31"/>
          <p:cNvSpPr/>
          <p:nvPr/>
        </p:nvSpPr>
        <p:spPr>
          <a:xfrm>
            <a:off x="1389888" y="5230368"/>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Model architecture</a:t>
            </a:r>
            <a:endParaRPr lang="en-US" sz="1700" dirty="0"/>
          </a:p>
        </p:txBody>
      </p:sp>
      <p:sp>
        <p:nvSpPr>
          <p:cNvPr id="34" name="Text 32"/>
          <p:cNvSpPr/>
          <p:nvPr/>
        </p:nvSpPr>
        <p:spPr>
          <a:xfrm>
            <a:off x="1389888" y="5550408"/>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Mean/Max, ABMIL, CLAM, TransMIL, DTFD</a:t>
            </a:r>
            <a:endParaRPr lang="en-US" sz="1350" dirty="0"/>
          </a:p>
        </p:txBody>
      </p:sp>
      <p:sp>
        <p:nvSpPr>
          <p:cNvPr id="35" name="Shape 33"/>
          <p:cNvSpPr/>
          <p:nvPr/>
        </p:nvSpPr>
        <p:spPr>
          <a:xfrm>
            <a:off x="6355080" y="1371600"/>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36" name="Shape 34"/>
          <p:cNvSpPr/>
          <p:nvPr/>
        </p:nvSpPr>
        <p:spPr>
          <a:xfrm>
            <a:off x="6355080" y="1371600"/>
            <a:ext cx="82296" cy="822960"/>
          </a:xfrm>
          <a:prstGeom prst="rect">
            <a:avLst/>
          </a:prstGeom>
          <a:solidFill>
            <a:srgbClr val="6B4E8F"/>
          </a:solidFill>
          <a:ln/>
        </p:spPr>
        <p:txBody>
          <a:bodyPr/>
          <a:lstStyle/>
          <a:p>
            <a:endParaRPr lang="en-US"/>
          </a:p>
        </p:txBody>
      </p:sp>
      <p:sp>
        <p:nvSpPr>
          <p:cNvPr id="37" name="Shape 35"/>
          <p:cNvSpPr/>
          <p:nvPr/>
        </p:nvSpPr>
        <p:spPr>
          <a:xfrm>
            <a:off x="6556248" y="1554480"/>
            <a:ext cx="457200" cy="457200"/>
          </a:xfrm>
          <a:prstGeom prst="ellipse">
            <a:avLst/>
          </a:prstGeom>
          <a:solidFill>
            <a:srgbClr val="4A2C6D"/>
          </a:solidFill>
          <a:ln/>
        </p:spPr>
        <p:txBody>
          <a:bodyPr/>
          <a:lstStyle/>
          <a:p>
            <a:endParaRPr lang="en-US"/>
          </a:p>
        </p:txBody>
      </p:sp>
      <p:sp>
        <p:nvSpPr>
          <p:cNvPr id="38" name="Text 36"/>
          <p:cNvSpPr/>
          <p:nvPr/>
        </p:nvSpPr>
        <p:spPr>
          <a:xfrm>
            <a:off x="6556248" y="1554480"/>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9" name="Text 37"/>
          <p:cNvSpPr/>
          <p:nvPr/>
        </p:nvSpPr>
        <p:spPr>
          <a:xfrm>
            <a:off x="7196328" y="1463040"/>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Training protocols</a:t>
            </a:r>
            <a:endParaRPr lang="en-US" sz="1700" dirty="0"/>
          </a:p>
        </p:txBody>
      </p:sp>
      <p:sp>
        <p:nvSpPr>
          <p:cNvPr id="40" name="Text 38"/>
          <p:cNvSpPr/>
          <p:nvPr/>
        </p:nvSpPr>
        <p:spPr>
          <a:xfrm>
            <a:off x="7196328" y="1783080"/>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Two-stage pipeline, losses, CV · notebook</a:t>
            </a:r>
            <a:endParaRPr lang="en-US" sz="1350" dirty="0"/>
          </a:p>
        </p:txBody>
      </p:sp>
      <p:sp>
        <p:nvSpPr>
          <p:cNvPr id="41" name="Shape 39"/>
          <p:cNvSpPr/>
          <p:nvPr/>
        </p:nvSpPr>
        <p:spPr>
          <a:xfrm>
            <a:off x="6355080" y="2313432"/>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42" name="Shape 40"/>
          <p:cNvSpPr/>
          <p:nvPr/>
        </p:nvSpPr>
        <p:spPr>
          <a:xfrm>
            <a:off x="6355080" y="2313432"/>
            <a:ext cx="82296" cy="822960"/>
          </a:xfrm>
          <a:prstGeom prst="rect">
            <a:avLst/>
          </a:prstGeom>
          <a:solidFill>
            <a:srgbClr val="6B4E8F"/>
          </a:solidFill>
          <a:ln/>
        </p:spPr>
        <p:txBody>
          <a:bodyPr/>
          <a:lstStyle/>
          <a:p>
            <a:endParaRPr lang="en-US"/>
          </a:p>
        </p:txBody>
      </p:sp>
      <p:sp>
        <p:nvSpPr>
          <p:cNvPr id="43" name="Shape 41"/>
          <p:cNvSpPr/>
          <p:nvPr/>
        </p:nvSpPr>
        <p:spPr>
          <a:xfrm>
            <a:off x="6556248" y="2496312"/>
            <a:ext cx="457200" cy="457200"/>
          </a:xfrm>
          <a:prstGeom prst="ellipse">
            <a:avLst/>
          </a:prstGeom>
          <a:solidFill>
            <a:srgbClr val="4A2C6D"/>
          </a:solidFill>
          <a:ln/>
        </p:spPr>
        <p:txBody>
          <a:bodyPr/>
          <a:lstStyle/>
          <a:p>
            <a:endParaRPr lang="en-US"/>
          </a:p>
        </p:txBody>
      </p:sp>
      <p:sp>
        <p:nvSpPr>
          <p:cNvPr id="44" name="Text 42"/>
          <p:cNvSpPr/>
          <p:nvPr/>
        </p:nvSpPr>
        <p:spPr>
          <a:xfrm>
            <a:off x="6556248" y="2496312"/>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7196328" y="2404872"/>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Inference</a:t>
            </a:r>
            <a:endParaRPr lang="en-US" sz="1700" dirty="0"/>
          </a:p>
        </p:txBody>
      </p:sp>
      <p:sp>
        <p:nvSpPr>
          <p:cNvPr id="46" name="Text 44"/>
          <p:cNvSpPr/>
          <p:nvPr/>
        </p:nvSpPr>
        <p:spPr>
          <a:xfrm>
            <a:off x="7196328" y="2724912"/>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Slide-level prediction &amp; deployment · notebook</a:t>
            </a:r>
            <a:endParaRPr lang="en-US" sz="1350" dirty="0"/>
          </a:p>
        </p:txBody>
      </p:sp>
      <p:sp>
        <p:nvSpPr>
          <p:cNvPr id="47" name="Shape 45"/>
          <p:cNvSpPr/>
          <p:nvPr/>
        </p:nvSpPr>
        <p:spPr>
          <a:xfrm>
            <a:off x="6355080" y="3255264"/>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48" name="Shape 46"/>
          <p:cNvSpPr/>
          <p:nvPr/>
        </p:nvSpPr>
        <p:spPr>
          <a:xfrm>
            <a:off x="6355080" y="3255264"/>
            <a:ext cx="82296" cy="822960"/>
          </a:xfrm>
          <a:prstGeom prst="rect">
            <a:avLst/>
          </a:prstGeom>
          <a:solidFill>
            <a:srgbClr val="6B4E8F"/>
          </a:solidFill>
          <a:ln/>
        </p:spPr>
        <p:txBody>
          <a:bodyPr/>
          <a:lstStyle/>
          <a:p>
            <a:endParaRPr lang="en-US"/>
          </a:p>
        </p:txBody>
      </p:sp>
      <p:sp>
        <p:nvSpPr>
          <p:cNvPr id="49" name="Shape 47"/>
          <p:cNvSpPr/>
          <p:nvPr/>
        </p:nvSpPr>
        <p:spPr>
          <a:xfrm>
            <a:off x="6556248" y="3438144"/>
            <a:ext cx="457200" cy="457200"/>
          </a:xfrm>
          <a:prstGeom prst="ellipse">
            <a:avLst/>
          </a:prstGeom>
          <a:solidFill>
            <a:srgbClr val="4A2C6D"/>
          </a:solidFill>
          <a:ln/>
        </p:spPr>
        <p:txBody>
          <a:bodyPr/>
          <a:lstStyle/>
          <a:p>
            <a:endParaRPr lang="en-US"/>
          </a:p>
        </p:txBody>
      </p:sp>
      <p:sp>
        <p:nvSpPr>
          <p:cNvPr id="50" name="Text 48"/>
          <p:cNvSpPr/>
          <p:nvPr/>
        </p:nvSpPr>
        <p:spPr>
          <a:xfrm>
            <a:off x="6556248" y="3438144"/>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51" name="Text 49"/>
          <p:cNvSpPr/>
          <p:nvPr/>
        </p:nvSpPr>
        <p:spPr>
          <a:xfrm>
            <a:off x="7196328" y="3346704"/>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Post-processing</a:t>
            </a:r>
            <a:endParaRPr lang="en-US" sz="1700" dirty="0"/>
          </a:p>
        </p:txBody>
      </p:sp>
      <p:sp>
        <p:nvSpPr>
          <p:cNvPr id="52" name="Text 50"/>
          <p:cNvSpPr/>
          <p:nvPr/>
        </p:nvSpPr>
        <p:spPr>
          <a:xfrm>
            <a:off x="7196328" y="3666744"/>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Attention heatmaps &amp; case aggregation · notebook</a:t>
            </a:r>
            <a:endParaRPr lang="en-US" sz="1350" dirty="0"/>
          </a:p>
        </p:txBody>
      </p:sp>
      <p:sp>
        <p:nvSpPr>
          <p:cNvPr id="53" name="Shape 51"/>
          <p:cNvSpPr/>
          <p:nvPr/>
        </p:nvSpPr>
        <p:spPr>
          <a:xfrm>
            <a:off x="6355080" y="4197096"/>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54" name="Shape 52"/>
          <p:cNvSpPr/>
          <p:nvPr/>
        </p:nvSpPr>
        <p:spPr>
          <a:xfrm>
            <a:off x="6355080" y="4197096"/>
            <a:ext cx="82296" cy="822960"/>
          </a:xfrm>
          <a:prstGeom prst="rect">
            <a:avLst/>
          </a:prstGeom>
          <a:solidFill>
            <a:srgbClr val="6B4E8F"/>
          </a:solidFill>
          <a:ln/>
        </p:spPr>
        <p:txBody>
          <a:bodyPr/>
          <a:lstStyle/>
          <a:p>
            <a:endParaRPr lang="en-US"/>
          </a:p>
        </p:txBody>
      </p:sp>
      <p:sp>
        <p:nvSpPr>
          <p:cNvPr id="55" name="Shape 53"/>
          <p:cNvSpPr/>
          <p:nvPr/>
        </p:nvSpPr>
        <p:spPr>
          <a:xfrm>
            <a:off x="6556248" y="4379976"/>
            <a:ext cx="457200" cy="457200"/>
          </a:xfrm>
          <a:prstGeom prst="ellipse">
            <a:avLst/>
          </a:prstGeom>
          <a:solidFill>
            <a:srgbClr val="4A2C6D"/>
          </a:solidFill>
          <a:ln/>
        </p:spPr>
        <p:txBody>
          <a:bodyPr/>
          <a:lstStyle/>
          <a:p>
            <a:endParaRPr lang="en-US"/>
          </a:p>
        </p:txBody>
      </p:sp>
      <p:sp>
        <p:nvSpPr>
          <p:cNvPr id="56" name="Text 54"/>
          <p:cNvSpPr/>
          <p:nvPr/>
        </p:nvSpPr>
        <p:spPr>
          <a:xfrm>
            <a:off x="6556248" y="4379976"/>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57" name="Text 55"/>
          <p:cNvSpPr/>
          <p:nvPr/>
        </p:nvSpPr>
        <p:spPr>
          <a:xfrm>
            <a:off x="7196328" y="4288536"/>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Evaluation &amp; viz</a:t>
            </a:r>
            <a:endParaRPr lang="en-US" sz="1700" dirty="0"/>
          </a:p>
        </p:txBody>
      </p:sp>
      <p:sp>
        <p:nvSpPr>
          <p:cNvPr id="58" name="Text 56"/>
          <p:cNvSpPr/>
          <p:nvPr/>
        </p:nvSpPr>
        <p:spPr>
          <a:xfrm>
            <a:off x="7196328" y="4608576"/>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AUC, balanced acc, UMAP, robustness · notebook</a:t>
            </a:r>
            <a:endParaRPr lang="en-US" sz="1350" dirty="0"/>
          </a:p>
        </p:txBody>
      </p:sp>
      <p:sp>
        <p:nvSpPr>
          <p:cNvPr id="59" name="Shape 57"/>
          <p:cNvSpPr/>
          <p:nvPr/>
        </p:nvSpPr>
        <p:spPr>
          <a:xfrm>
            <a:off x="6355080" y="5138928"/>
            <a:ext cx="5285232" cy="8229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0" name="Shape 58"/>
          <p:cNvSpPr/>
          <p:nvPr/>
        </p:nvSpPr>
        <p:spPr>
          <a:xfrm>
            <a:off x="6355080" y="5138928"/>
            <a:ext cx="82296" cy="822960"/>
          </a:xfrm>
          <a:prstGeom prst="rect">
            <a:avLst/>
          </a:prstGeom>
          <a:solidFill>
            <a:srgbClr val="6B4E8F"/>
          </a:solidFill>
          <a:ln/>
        </p:spPr>
        <p:txBody>
          <a:bodyPr/>
          <a:lstStyle/>
          <a:p>
            <a:endParaRPr lang="en-US"/>
          </a:p>
        </p:txBody>
      </p:sp>
      <p:sp>
        <p:nvSpPr>
          <p:cNvPr id="61" name="Shape 59"/>
          <p:cNvSpPr/>
          <p:nvPr/>
        </p:nvSpPr>
        <p:spPr>
          <a:xfrm>
            <a:off x="6556248" y="5321808"/>
            <a:ext cx="457200" cy="457200"/>
          </a:xfrm>
          <a:prstGeom prst="ellipse">
            <a:avLst/>
          </a:prstGeom>
          <a:solidFill>
            <a:srgbClr val="4A2C6D"/>
          </a:solidFill>
          <a:ln/>
        </p:spPr>
        <p:txBody>
          <a:bodyPr/>
          <a:lstStyle/>
          <a:p>
            <a:endParaRPr lang="en-US"/>
          </a:p>
        </p:txBody>
      </p:sp>
      <p:sp>
        <p:nvSpPr>
          <p:cNvPr id="62" name="Text 60"/>
          <p:cNvSpPr/>
          <p:nvPr/>
        </p:nvSpPr>
        <p:spPr>
          <a:xfrm>
            <a:off x="6556248" y="5321808"/>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63" name="Text 61"/>
          <p:cNvSpPr/>
          <p:nvPr/>
        </p:nvSpPr>
        <p:spPr>
          <a:xfrm>
            <a:off x="7196328" y="5230368"/>
            <a:ext cx="4325112" cy="32918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Conclusion + Quiz</a:t>
            </a:r>
            <a:endParaRPr lang="en-US" sz="1700" dirty="0"/>
          </a:p>
        </p:txBody>
      </p:sp>
      <p:sp>
        <p:nvSpPr>
          <p:cNvPr id="64" name="Text 62"/>
          <p:cNvSpPr/>
          <p:nvPr/>
        </p:nvSpPr>
        <p:spPr>
          <a:xfrm>
            <a:off x="7196328" y="5550408"/>
            <a:ext cx="4325112" cy="329184"/>
          </a:xfrm>
          <a:prstGeom prst="rect">
            <a:avLst/>
          </a:prstGeom>
          <a:noFill/>
          <a:ln/>
        </p:spPr>
        <p:txBody>
          <a:bodyPr wrap="square" lIns="0" tIns="0" rIns="0" bIns="0" rtlCol="0" anchor="ctr"/>
          <a:lstStyle/>
          <a:p>
            <a:pPr marL="0" indent="0">
              <a:buNone/>
            </a:pPr>
            <a:r>
              <a:rPr lang="en-US" sz="1350" dirty="0">
                <a:solidFill>
                  <a:srgbClr val="8A7F99"/>
                </a:solidFill>
                <a:latin typeface="Calibri" pitchFamily="34" charset="0"/>
                <a:ea typeface="Calibri" pitchFamily="34" charset="-122"/>
                <a:cs typeface="Calibri" pitchFamily="34" charset="-120"/>
              </a:rPr>
              <a:t>Takeaways, future directions, NotebookLM quiz</a:t>
            </a:r>
            <a:endParaRPr lang="en-US" sz="1350" dirty="0"/>
          </a:p>
        </p:txBody>
      </p:sp>
      <p:sp>
        <p:nvSpPr>
          <p:cNvPr id="65" name="Text 6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66" name="Text 64"/>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1</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Background</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Why we build MIL systems for whole-slide pathology</a:t>
            </a:r>
            <a:endParaRPr lang="en-US" sz="18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9" name="Text 7"/>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3</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BACKGROUND · THE PROBLEM</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A whole-slide image is a gigapixel haystack</a:t>
            </a:r>
            <a:endParaRPr lang="en-US" sz="2900" dirty="0"/>
          </a:p>
        </p:txBody>
      </p:sp>
      <p:sp>
        <p:nvSpPr>
          <p:cNvPr id="5" name="Text 3"/>
          <p:cNvSpPr/>
          <p:nvPr/>
        </p:nvSpPr>
        <p:spPr>
          <a:xfrm>
            <a:off x="640080" y="1554480"/>
            <a:ext cx="2743200" cy="777240"/>
          </a:xfrm>
          <a:prstGeom prst="rect">
            <a:avLst/>
          </a:prstGeom>
          <a:noFill/>
          <a:ln/>
        </p:spPr>
        <p:txBody>
          <a:bodyPr wrap="square" lIns="0" tIns="0" rIns="0" bIns="0" rtlCol="0" anchor="ctr"/>
          <a:lstStyle/>
          <a:p>
            <a:pPr marL="0" indent="0" algn="l">
              <a:buNone/>
            </a:pPr>
            <a:r>
              <a:rPr lang="en-US" sz="4400" b="1" dirty="0">
                <a:solidFill>
                  <a:srgbClr val="D6336C"/>
                </a:solidFill>
                <a:latin typeface="Georgia" pitchFamily="34" charset="0"/>
                <a:ea typeface="Georgia" pitchFamily="34" charset="-122"/>
                <a:cs typeface="Georgia" pitchFamily="34" charset="-120"/>
              </a:rPr>
              <a:t>100k²</a:t>
            </a:r>
            <a:endParaRPr lang="en-US" sz="4400" dirty="0"/>
          </a:p>
        </p:txBody>
      </p:sp>
      <p:sp>
        <p:nvSpPr>
          <p:cNvPr id="6" name="Text 4"/>
          <p:cNvSpPr/>
          <p:nvPr/>
        </p:nvSpPr>
        <p:spPr>
          <a:xfrm>
            <a:off x="640080" y="2304288"/>
            <a:ext cx="2743200" cy="548640"/>
          </a:xfrm>
          <a:prstGeom prst="rect">
            <a:avLst/>
          </a:prstGeom>
          <a:noFill/>
          <a:ln/>
        </p:spPr>
        <p:txBody>
          <a:bodyPr wrap="square" lIns="0" tIns="0" rIns="0" bIns="0" rtlCol="0" anchor="ctr"/>
          <a:lstStyle/>
          <a:p>
            <a:pPr marL="0" indent="0" algn="l">
              <a:buNone/>
            </a:pPr>
            <a:r>
              <a:rPr lang="en-US" sz="1500" dirty="0">
                <a:solidFill>
                  <a:srgbClr val="8A7F99"/>
                </a:solidFill>
                <a:latin typeface="Calibri" pitchFamily="34" charset="0"/>
                <a:ea typeface="Calibri" pitchFamily="34" charset="-122"/>
                <a:cs typeface="Calibri" pitchFamily="34" charset="-120"/>
              </a:rPr>
              <a:t>pixels per slide at 40× — up to ~10 gigapixels</a:t>
            </a:r>
            <a:endParaRPr lang="en-US" sz="1500" dirty="0"/>
          </a:p>
        </p:txBody>
      </p:sp>
      <p:sp>
        <p:nvSpPr>
          <p:cNvPr id="7" name="Text 5"/>
          <p:cNvSpPr/>
          <p:nvPr/>
        </p:nvSpPr>
        <p:spPr>
          <a:xfrm>
            <a:off x="3657600" y="1554480"/>
            <a:ext cx="2743200" cy="777240"/>
          </a:xfrm>
          <a:prstGeom prst="rect">
            <a:avLst/>
          </a:prstGeom>
          <a:noFill/>
          <a:ln/>
        </p:spPr>
        <p:txBody>
          <a:bodyPr wrap="square" lIns="0" tIns="0" rIns="0" bIns="0" rtlCol="0" anchor="ctr"/>
          <a:lstStyle/>
          <a:p>
            <a:pPr marL="0" indent="0" algn="l">
              <a:buNone/>
            </a:pPr>
            <a:r>
              <a:rPr lang="en-US" sz="4400" b="1" dirty="0">
                <a:solidFill>
                  <a:srgbClr val="4A2C6D"/>
                </a:solidFill>
                <a:latin typeface="Georgia" pitchFamily="34" charset="0"/>
                <a:ea typeface="Georgia" pitchFamily="34" charset="-122"/>
                <a:cs typeface="Georgia" pitchFamily="34" charset="-120"/>
              </a:rPr>
              <a:t>1–4 GB</a:t>
            </a:r>
            <a:endParaRPr lang="en-US" sz="4400" dirty="0"/>
          </a:p>
        </p:txBody>
      </p:sp>
      <p:sp>
        <p:nvSpPr>
          <p:cNvPr id="8" name="Text 6"/>
          <p:cNvSpPr/>
          <p:nvPr/>
        </p:nvSpPr>
        <p:spPr>
          <a:xfrm>
            <a:off x="3657600" y="2304288"/>
            <a:ext cx="2743200" cy="548640"/>
          </a:xfrm>
          <a:prstGeom prst="rect">
            <a:avLst/>
          </a:prstGeom>
          <a:noFill/>
          <a:ln/>
        </p:spPr>
        <p:txBody>
          <a:bodyPr wrap="square" lIns="0" tIns="0" rIns="0" bIns="0" rtlCol="0" anchor="ctr"/>
          <a:lstStyle/>
          <a:p>
            <a:pPr marL="0" indent="0" algn="l">
              <a:buNone/>
            </a:pPr>
            <a:r>
              <a:rPr lang="en-US" sz="1500" dirty="0">
                <a:solidFill>
                  <a:srgbClr val="8A7F99"/>
                </a:solidFill>
                <a:latin typeface="Calibri" pitchFamily="34" charset="0"/>
                <a:ea typeface="Calibri" pitchFamily="34" charset="-122"/>
                <a:cs typeface="Calibri" pitchFamily="34" charset="-120"/>
              </a:rPr>
              <a:t>compressed on disk; 20–60 GB uncompressed in RAM</a:t>
            </a:r>
            <a:endParaRPr lang="en-US" sz="1500" dirty="0"/>
          </a:p>
        </p:txBody>
      </p:sp>
      <p:sp>
        <p:nvSpPr>
          <p:cNvPr id="9" name="Text 7"/>
          <p:cNvSpPr/>
          <p:nvPr/>
        </p:nvSpPr>
        <p:spPr>
          <a:xfrm>
            <a:off x="6675120" y="1554480"/>
            <a:ext cx="2743200" cy="777240"/>
          </a:xfrm>
          <a:prstGeom prst="rect">
            <a:avLst/>
          </a:prstGeom>
          <a:noFill/>
          <a:ln/>
        </p:spPr>
        <p:txBody>
          <a:bodyPr wrap="square" lIns="0" tIns="0" rIns="0" bIns="0" rtlCol="0" anchor="ctr"/>
          <a:lstStyle/>
          <a:p>
            <a:pPr marL="0" indent="0" algn="l">
              <a:buNone/>
            </a:pPr>
            <a:r>
              <a:rPr lang="en-US" sz="4400" b="1" dirty="0">
                <a:solidFill>
                  <a:srgbClr val="1C8C8C"/>
                </a:solidFill>
                <a:latin typeface="Georgia" pitchFamily="34" charset="0"/>
                <a:ea typeface="Georgia" pitchFamily="34" charset="-122"/>
                <a:cs typeface="Georgia" pitchFamily="34" charset="-120"/>
              </a:rPr>
              <a:t>10⁴–10⁵</a:t>
            </a:r>
            <a:endParaRPr lang="en-US" sz="4400" dirty="0"/>
          </a:p>
        </p:txBody>
      </p:sp>
      <p:sp>
        <p:nvSpPr>
          <p:cNvPr id="10" name="Text 8"/>
          <p:cNvSpPr/>
          <p:nvPr/>
        </p:nvSpPr>
        <p:spPr>
          <a:xfrm>
            <a:off x="6675120" y="2304288"/>
            <a:ext cx="2743200" cy="548640"/>
          </a:xfrm>
          <a:prstGeom prst="rect">
            <a:avLst/>
          </a:prstGeom>
          <a:noFill/>
          <a:ln/>
        </p:spPr>
        <p:txBody>
          <a:bodyPr wrap="square" lIns="0" tIns="0" rIns="0" bIns="0" rtlCol="0" anchor="ctr"/>
          <a:lstStyle/>
          <a:p>
            <a:pPr marL="0" indent="0" algn="l">
              <a:buNone/>
            </a:pPr>
            <a:r>
              <a:rPr lang="en-US" sz="1500" dirty="0">
                <a:solidFill>
                  <a:srgbClr val="8A7F99"/>
                </a:solidFill>
                <a:latin typeface="Calibri" pitchFamily="34" charset="0"/>
                <a:ea typeface="Calibri" pitchFamily="34" charset="-122"/>
                <a:cs typeface="Calibri" pitchFamily="34" charset="-120"/>
              </a:rPr>
              <a:t>256-px tiles of tissue per slide</a:t>
            </a:r>
            <a:endParaRPr lang="en-US" sz="1500" dirty="0"/>
          </a:p>
        </p:txBody>
      </p:sp>
      <p:sp>
        <p:nvSpPr>
          <p:cNvPr id="11" name="Text 9"/>
          <p:cNvSpPr/>
          <p:nvPr/>
        </p:nvSpPr>
        <p:spPr>
          <a:xfrm>
            <a:off x="9418320" y="1554480"/>
            <a:ext cx="2377440" cy="777240"/>
          </a:xfrm>
          <a:prstGeom prst="rect">
            <a:avLst/>
          </a:prstGeom>
          <a:noFill/>
          <a:ln/>
        </p:spPr>
        <p:txBody>
          <a:bodyPr wrap="square" lIns="0" tIns="0" rIns="0" bIns="0" rtlCol="0" anchor="ctr"/>
          <a:lstStyle/>
          <a:p>
            <a:pPr marL="0" indent="0" algn="l">
              <a:buNone/>
            </a:pPr>
            <a:r>
              <a:rPr lang="en-US" sz="4400" b="1" dirty="0">
                <a:solidFill>
                  <a:srgbClr val="C77D14"/>
                </a:solidFill>
                <a:latin typeface="Georgia" pitchFamily="34" charset="0"/>
                <a:ea typeface="Georgia" pitchFamily="34" charset="-122"/>
                <a:cs typeface="Georgia" pitchFamily="34" charset="-120"/>
              </a:rPr>
              <a:t>1</a:t>
            </a:r>
            <a:endParaRPr lang="en-US" sz="4400" dirty="0"/>
          </a:p>
        </p:txBody>
      </p:sp>
      <p:sp>
        <p:nvSpPr>
          <p:cNvPr id="12" name="Text 10"/>
          <p:cNvSpPr/>
          <p:nvPr/>
        </p:nvSpPr>
        <p:spPr>
          <a:xfrm>
            <a:off x="9418320" y="2304288"/>
            <a:ext cx="2377440" cy="548640"/>
          </a:xfrm>
          <a:prstGeom prst="rect">
            <a:avLst/>
          </a:prstGeom>
          <a:noFill/>
          <a:ln/>
        </p:spPr>
        <p:txBody>
          <a:bodyPr wrap="square" lIns="0" tIns="0" rIns="0" bIns="0" rtlCol="0" anchor="ctr"/>
          <a:lstStyle/>
          <a:p>
            <a:pPr marL="0" indent="0" algn="l">
              <a:buNone/>
            </a:pPr>
            <a:r>
              <a:rPr lang="en-US" sz="1500" dirty="0">
                <a:solidFill>
                  <a:srgbClr val="8A7F99"/>
                </a:solidFill>
                <a:latin typeface="Calibri" pitchFamily="34" charset="0"/>
                <a:ea typeface="Calibri" pitchFamily="34" charset="-122"/>
                <a:cs typeface="Calibri" pitchFamily="34" charset="-120"/>
              </a:rPr>
              <a:t>label — for the entire slide</a:t>
            </a:r>
            <a:endParaRPr lang="en-US" sz="1500" dirty="0"/>
          </a:p>
        </p:txBody>
      </p:sp>
      <p:sp>
        <p:nvSpPr>
          <p:cNvPr id="13" name="Shape 11"/>
          <p:cNvSpPr/>
          <p:nvPr/>
        </p:nvSpPr>
        <p:spPr>
          <a:xfrm>
            <a:off x="640080" y="3383280"/>
            <a:ext cx="5486400" cy="28346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640080" y="3383280"/>
            <a:ext cx="82296" cy="2834640"/>
          </a:xfrm>
          <a:prstGeom prst="rect">
            <a:avLst/>
          </a:prstGeom>
          <a:solidFill>
            <a:srgbClr val="D6336C"/>
          </a:solidFill>
          <a:ln/>
        </p:spPr>
        <p:txBody>
          <a:bodyPr/>
          <a:lstStyle/>
          <a:p>
            <a:endParaRPr lang="en-US"/>
          </a:p>
        </p:txBody>
      </p:sp>
      <p:sp>
        <p:nvSpPr>
          <p:cNvPr id="15" name="Text 13"/>
          <p:cNvSpPr/>
          <p:nvPr/>
        </p:nvSpPr>
        <p:spPr>
          <a:xfrm>
            <a:off x="868680" y="3520440"/>
            <a:ext cx="5029200" cy="365760"/>
          </a:xfrm>
          <a:prstGeom prst="rect">
            <a:avLst/>
          </a:prstGeom>
          <a:noFill/>
          <a:ln/>
        </p:spPr>
        <p:txBody>
          <a:bodyPr wrap="square" lIns="0" tIns="0" rIns="0" bIns="0" rtlCol="0" anchor="ctr"/>
          <a:lstStyle/>
          <a:p>
            <a:pPr marL="0" indent="0">
              <a:buNone/>
            </a:pPr>
            <a:r>
              <a:rPr lang="en-US" sz="1800" b="1" dirty="0">
                <a:solidFill>
                  <a:srgbClr val="4A2C6D"/>
                </a:solidFill>
                <a:latin typeface="Calibri" pitchFamily="34" charset="0"/>
                <a:ea typeface="Calibri" pitchFamily="34" charset="-122"/>
                <a:cs typeface="Calibri" pitchFamily="34" charset="-120"/>
              </a:rPr>
              <a:t>The mismatch</a:t>
            </a:r>
            <a:endParaRPr lang="en-US" sz="1800" dirty="0"/>
          </a:p>
        </p:txBody>
      </p:sp>
      <p:sp>
        <p:nvSpPr>
          <p:cNvPr id="16" name="Text 14"/>
          <p:cNvSpPr/>
          <p:nvPr/>
        </p:nvSpPr>
        <p:spPr>
          <a:xfrm>
            <a:off x="868680" y="3931920"/>
            <a:ext cx="5074920" cy="2194560"/>
          </a:xfrm>
          <a:prstGeom prst="rect">
            <a:avLst/>
          </a:prstGeom>
          <a:noFill/>
          <a:ln/>
        </p:spPr>
        <p:txBody>
          <a:bodyPr wrap="square" lIns="0" tIns="0" rIns="0" bIns="0" rtlCol="0" anchor="t"/>
          <a:lstStyle/>
          <a:p>
            <a:pPr marL="203200" indent="-203200">
              <a:spcAft>
                <a:spcPts val="1000"/>
              </a:spcAft>
              <a:buSzPct val="100000"/>
              <a:buChar char="•"/>
            </a:pPr>
            <a:r>
              <a:rPr lang="en-US" sz="1800" dirty="0">
                <a:solidFill>
                  <a:srgbClr val="2A2233"/>
                </a:solidFill>
                <a:latin typeface="Calibri" pitchFamily="34" charset="0"/>
                <a:ea typeface="Calibri" pitchFamily="34" charset="-122"/>
                <a:cs typeface="Calibri" pitchFamily="34" charset="-120"/>
              </a:rPr>
              <a:t>The diagnostic signal may live in a few hundred pixels — a small focus of tumor inside a vast field of benign tissue.</a:t>
            </a:r>
            <a:endParaRPr lang="en-US" sz="1800" dirty="0"/>
          </a:p>
          <a:p>
            <a:pPr marL="203200" indent="-203200">
              <a:spcAft>
                <a:spcPts val="1000"/>
              </a:spcAft>
              <a:buSzPct val="100000"/>
              <a:buChar char="•"/>
            </a:pPr>
            <a:r>
              <a:rPr lang="en-US" sz="1800" dirty="0">
                <a:solidFill>
                  <a:srgbClr val="2A2233"/>
                </a:solidFill>
                <a:latin typeface="Calibri" pitchFamily="34" charset="0"/>
                <a:ea typeface="Calibri" pitchFamily="34" charset="-122"/>
                <a:cs typeface="Calibri" pitchFamily="34" charset="-120"/>
              </a:rPr>
              <a:t>Pixel-level annotation by pathologists is expensive, slow, and doesn't scale to millions of slides.</a:t>
            </a:r>
            <a:endParaRPr lang="en-US" sz="1800" dirty="0"/>
          </a:p>
          <a:p>
            <a:pPr marL="203200" indent="-203200">
              <a:spcAft>
                <a:spcPts val="1000"/>
              </a:spcAft>
              <a:buSzPct val="100000"/>
              <a:buChar char="•"/>
            </a:pPr>
            <a:r>
              <a:rPr lang="en-US" sz="1800" dirty="0">
                <a:solidFill>
                  <a:srgbClr val="2A2233"/>
                </a:solidFill>
                <a:latin typeface="Calibri" pitchFamily="34" charset="0"/>
                <a:ea typeface="Calibri" pitchFamily="34" charset="-122"/>
                <a:cs typeface="Calibri" pitchFamily="34" charset="-120"/>
              </a:rPr>
              <a:t>Labels are cheap only at the slide / patient level (diagnosis, subtype, outcome).</a:t>
            </a:r>
            <a:endParaRPr lang="en-US" sz="1800" dirty="0"/>
          </a:p>
        </p:txBody>
      </p:sp>
      <p:sp>
        <p:nvSpPr>
          <p:cNvPr id="17" name="Shape 15"/>
          <p:cNvSpPr/>
          <p:nvPr/>
        </p:nvSpPr>
        <p:spPr>
          <a:xfrm>
            <a:off x="6400800" y="3383280"/>
            <a:ext cx="5394960" cy="28346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Text 16"/>
          <p:cNvSpPr/>
          <p:nvPr/>
        </p:nvSpPr>
        <p:spPr>
          <a:xfrm>
            <a:off x="6583680" y="3493008"/>
            <a:ext cx="5029200" cy="274320"/>
          </a:xfrm>
          <a:prstGeom prst="rect">
            <a:avLst/>
          </a:prstGeom>
          <a:noFill/>
          <a:ln/>
        </p:spPr>
        <p:txBody>
          <a:bodyPr wrap="square" lIns="0" tIns="0" rIns="0" bIns="0" rtlCol="0" anchor="ctr"/>
          <a:lstStyle/>
          <a:p>
            <a:pPr marL="0" indent="0">
              <a:buNone/>
            </a:pPr>
            <a:r>
              <a:rPr lang="en-US" sz="1350" i="1" dirty="0">
                <a:solidFill>
                  <a:srgbClr val="8A7F99"/>
                </a:solidFill>
                <a:latin typeface="Calibri" pitchFamily="34" charset="0"/>
                <a:ea typeface="Calibri" pitchFamily="34" charset="-122"/>
                <a:cs typeface="Calibri" pitchFamily="34" charset="-120"/>
              </a:rPr>
              <a:t>One slide ≈ a grid of tiles; only a few matter</a:t>
            </a:r>
            <a:endParaRPr lang="en-US" sz="1350" dirty="0"/>
          </a:p>
        </p:txBody>
      </p:sp>
      <p:sp>
        <p:nvSpPr>
          <p:cNvPr id="19" name="Shape 17"/>
          <p:cNvSpPr/>
          <p:nvPr/>
        </p:nvSpPr>
        <p:spPr>
          <a:xfrm>
            <a:off x="6720840"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0" name="Shape 18"/>
          <p:cNvSpPr/>
          <p:nvPr/>
        </p:nvSpPr>
        <p:spPr>
          <a:xfrm>
            <a:off x="7031736"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1" name="Shape 19"/>
          <p:cNvSpPr/>
          <p:nvPr/>
        </p:nvSpPr>
        <p:spPr>
          <a:xfrm>
            <a:off x="7342632"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2" name="Shape 20"/>
          <p:cNvSpPr/>
          <p:nvPr/>
        </p:nvSpPr>
        <p:spPr>
          <a:xfrm>
            <a:off x="7653528"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3" name="Shape 21"/>
          <p:cNvSpPr/>
          <p:nvPr/>
        </p:nvSpPr>
        <p:spPr>
          <a:xfrm>
            <a:off x="7964424"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4" name="Shape 22"/>
          <p:cNvSpPr/>
          <p:nvPr/>
        </p:nvSpPr>
        <p:spPr>
          <a:xfrm>
            <a:off x="8275320"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5" name="Shape 23"/>
          <p:cNvSpPr/>
          <p:nvPr/>
        </p:nvSpPr>
        <p:spPr>
          <a:xfrm>
            <a:off x="8586216"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6" name="Shape 24"/>
          <p:cNvSpPr/>
          <p:nvPr/>
        </p:nvSpPr>
        <p:spPr>
          <a:xfrm>
            <a:off x="8897112"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7" name="Shape 25"/>
          <p:cNvSpPr/>
          <p:nvPr/>
        </p:nvSpPr>
        <p:spPr>
          <a:xfrm>
            <a:off x="9208008"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8" name="Shape 26"/>
          <p:cNvSpPr/>
          <p:nvPr/>
        </p:nvSpPr>
        <p:spPr>
          <a:xfrm>
            <a:off x="9518904"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29" name="Shape 27"/>
          <p:cNvSpPr/>
          <p:nvPr/>
        </p:nvSpPr>
        <p:spPr>
          <a:xfrm>
            <a:off x="9829800"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30" name="Shape 28"/>
          <p:cNvSpPr/>
          <p:nvPr/>
        </p:nvSpPr>
        <p:spPr>
          <a:xfrm>
            <a:off x="10140696"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31" name="Shape 29"/>
          <p:cNvSpPr/>
          <p:nvPr/>
        </p:nvSpPr>
        <p:spPr>
          <a:xfrm>
            <a:off x="10451592"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32" name="Shape 30"/>
          <p:cNvSpPr/>
          <p:nvPr/>
        </p:nvSpPr>
        <p:spPr>
          <a:xfrm>
            <a:off x="10762488"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33" name="Shape 31"/>
          <p:cNvSpPr/>
          <p:nvPr/>
        </p:nvSpPr>
        <p:spPr>
          <a:xfrm>
            <a:off x="11073384" y="3886200"/>
            <a:ext cx="274320" cy="274320"/>
          </a:xfrm>
          <a:prstGeom prst="rect">
            <a:avLst/>
          </a:prstGeom>
          <a:solidFill>
            <a:srgbClr val="EAE2F2"/>
          </a:solidFill>
          <a:ln w="6350">
            <a:solidFill>
              <a:srgbClr val="FFFFFF"/>
            </a:solidFill>
            <a:prstDash val="solid"/>
          </a:ln>
        </p:spPr>
        <p:txBody>
          <a:bodyPr/>
          <a:lstStyle/>
          <a:p>
            <a:endParaRPr lang="en-US"/>
          </a:p>
        </p:txBody>
      </p:sp>
      <p:sp>
        <p:nvSpPr>
          <p:cNvPr id="34" name="Shape 32"/>
          <p:cNvSpPr/>
          <p:nvPr/>
        </p:nvSpPr>
        <p:spPr>
          <a:xfrm>
            <a:off x="6720840"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35" name="Shape 33"/>
          <p:cNvSpPr/>
          <p:nvPr/>
        </p:nvSpPr>
        <p:spPr>
          <a:xfrm>
            <a:off x="7031736"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36" name="Shape 34"/>
          <p:cNvSpPr/>
          <p:nvPr/>
        </p:nvSpPr>
        <p:spPr>
          <a:xfrm>
            <a:off x="7342632"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37" name="Shape 35"/>
          <p:cNvSpPr/>
          <p:nvPr/>
        </p:nvSpPr>
        <p:spPr>
          <a:xfrm>
            <a:off x="7653528"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38" name="Shape 36"/>
          <p:cNvSpPr/>
          <p:nvPr/>
        </p:nvSpPr>
        <p:spPr>
          <a:xfrm>
            <a:off x="7964424"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39" name="Shape 37"/>
          <p:cNvSpPr/>
          <p:nvPr/>
        </p:nvSpPr>
        <p:spPr>
          <a:xfrm>
            <a:off x="8275320"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0" name="Shape 38"/>
          <p:cNvSpPr/>
          <p:nvPr/>
        </p:nvSpPr>
        <p:spPr>
          <a:xfrm>
            <a:off x="8586216"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1" name="Shape 39"/>
          <p:cNvSpPr/>
          <p:nvPr/>
        </p:nvSpPr>
        <p:spPr>
          <a:xfrm>
            <a:off x="8897112"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2" name="Shape 40"/>
          <p:cNvSpPr/>
          <p:nvPr/>
        </p:nvSpPr>
        <p:spPr>
          <a:xfrm>
            <a:off x="9208008"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3" name="Shape 41"/>
          <p:cNvSpPr/>
          <p:nvPr/>
        </p:nvSpPr>
        <p:spPr>
          <a:xfrm>
            <a:off x="9518904"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4" name="Shape 42"/>
          <p:cNvSpPr/>
          <p:nvPr/>
        </p:nvSpPr>
        <p:spPr>
          <a:xfrm>
            <a:off x="9829800"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5" name="Shape 43"/>
          <p:cNvSpPr/>
          <p:nvPr/>
        </p:nvSpPr>
        <p:spPr>
          <a:xfrm>
            <a:off x="10140696"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6" name="Shape 44"/>
          <p:cNvSpPr/>
          <p:nvPr/>
        </p:nvSpPr>
        <p:spPr>
          <a:xfrm>
            <a:off x="10451592"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7" name="Shape 45"/>
          <p:cNvSpPr/>
          <p:nvPr/>
        </p:nvSpPr>
        <p:spPr>
          <a:xfrm>
            <a:off x="10762488"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8" name="Shape 46"/>
          <p:cNvSpPr/>
          <p:nvPr/>
        </p:nvSpPr>
        <p:spPr>
          <a:xfrm>
            <a:off x="11073384" y="4197096"/>
            <a:ext cx="274320" cy="274320"/>
          </a:xfrm>
          <a:prstGeom prst="rect">
            <a:avLst/>
          </a:prstGeom>
          <a:solidFill>
            <a:srgbClr val="EAE2F2"/>
          </a:solidFill>
          <a:ln w="6350">
            <a:solidFill>
              <a:srgbClr val="FFFFFF"/>
            </a:solidFill>
            <a:prstDash val="solid"/>
          </a:ln>
        </p:spPr>
        <p:txBody>
          <a:bodyPr/>
          <a:lstStyle/>
          <a:p>
            <a:endParaRPr lang="en-US"/>
          </a:p>
        </p:txBody>
      </p:sp>
      <p:sp>
        <p:nvSpPr>
          <p:cNvPr id="49" name="Shape 47"/>
          <p:cNvSpPr/>
          <p:nvPr/>
        </p:nvSpPr>
        <p:spPr>
          <a:xfrm>
            <a:off x="6720840"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0" name="Shape 48"/>
          <p:cNvSpPr/>
          <p:nvPr/>
        </p:nvSpPr>
        <p:spPr>
          <a:xfrm>
            <a:off x="7031736"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1" name="Shape 49"/>
          <p:cNvSpPr/>
          <p:nvPr/>
        </p:nvSpPr>
        <p:spPr>
          <a:xfrm>
            <a:off x="7342632"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2" name="Shape 50"/>
          <p:cNvSpPr/>
          <p:nvPr/>
        </p:nvSpPr>
        <p:spPr>
          <a:xfrm>
            <a:off x="7653528"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3" name="Shape 51"/>
          <p:cNvSpPr/>
          <p:nvPr/>
        </p:nvSpPr>
        <p:spPr>
          <a:xfrm>
            <a:off x="7964424"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4" name="Shape 52"/>
          <p:cNvSpPr/>
          <p:nvPr/>
        </p:nvSpPr>
        <p:spPr>
          <a:xfrm>
            <a:off x="8275320"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5" name="Shape 53"/>
          <p:cNvSpPr/>
          <p:nvPr/>
        </p:nvSpPr>
        <p:spPr>
          <a:xfrm>
            <a:off x="8586216"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6" name="Shape 54"/>
          <p:cNvSpPr/>
          <p:nvPr/>
        </p:nvSpPr>
        <p:spPr>
          <a:xfrm>
            <a:off x="8897112"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7" name="Shape 55"/>
          <p:cNvSpPr/>
          <p:nvPr/>
        </p:nvSpPr>
        <p:spPr>
          <a:xfrm>
            <a:off x="9208008"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58" name="Shape 56"/>
          <p:cNvSpPr/>
          <p:nvPr/>
        </p:nvSpPr>
        <p:spPr>
          <a:xfrm>
            <a:off x="9518904" y="4507992"/>
            <a:ext cx="274320" cy="274320"/>
          </a:xfrm>
          <a:prstGeom prst="rect">
            <a:avLst/>
          </a:prstGeom>
          <a:solidFill>
            <a:srgbClr val="D6336C"/>
          </a:solidFill>
          <a:ln w="6350">
            <a:solidFill>
              <a:srgbClr val="FFFFFF"/>
            </a:solidFill>
            <a:prstDash val="solid"/>
          </a:ln>
        </p:spPr>
        <p:txBody>
          <a:bodyPr/>
          <a:lstStyle/>
          <a:p>
            <a:endParaRPr lang="en-US"/>
          </a:p>
        </p:txBody>
      </p:sp>
      <p:sp>
        <p:nvSpPr>
          <p:cNvPr id="59" name="Shape 57"/>
          <p:cNvSpPr/>
          <p:nvPr/>
        </p:nvSpPr>
        <p:spPr>
          <a:xfrm>
            <a:off x="9829800" y="4507992"/>
            <a:ext cx="274320" cy="274320"/>
          </a:xfrm>
          <a:prstGeom prst="rect">
            <a:avLst/>
          </a:prstGeom>
          <a:solidFill>
            <a:srgbClr val="D6336C"/>
          </a:solidFill>
          <a:ln w="6350">
            <a:solidFill>
              <a:srgbClr val="FFFFFF"/>
            </a:solidFill>
            <a:prstDash val="solid"/>
          </a:ln>
        </p:spPr>
        <p:txBody>
          <a:bodyPr/>
          <a:lstStyle/>
          <a:p>
            <a:endParaRPr lang="en-US"/>
          </a:p>
        </p:txBody>
      </p:sp>
      <p:sp>
        <p:nvSpPr>
          <p:cNvPr id="60" name="Shape 58"/>
          <p:cNvSpPr/>
          <p:nvPr/>
        </p:nvSpPr>
        <p:spPr>
          <a:xfrm>
            <a:off x="10140696"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61" name="Shape 59"/>
          <p:cNvSpPr/>
          <p:nvPr/>
        </p:nvSpPr>
        <p:spPr>
          <a:xfrm>
            <a:off x="10451592"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62" name="Shape 60"/>
          <p:cNvSpPr/>
          <p:nvPr/>
        </p:nvSpPr>
        <p:spPr>
          <a:xfrm>
            <a:off x="10762488"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63" name="Shape 61"/>
          <p:cNvSpPr/>
          <p:nvPr/>
        </p:nvSpPr>
        <p:spPr>
          <a:xfrm>
            <a:off x="11073384" y="4507992"/>
            <a:ext cx="274320" cy="274320"/>
          </a:xfrm>
          <a:prstGeom prst="rect">
            <a:avLst/>
          </a:prstGeom>
          <a:solidFill>
            <a:srgbClr val="EAE2F2"/>
          </a:solidFill>
          <a:ln w="6350">
            <a:solidFill>
              <a:srgbClr val="FFFFFF"/>
            </a:solidFill>
            <a:prstDash val="solid"/>
          </a:ln>
        </p:spPr>
        <p:txBody>
          <a:bodyPr/>
          <a:lstStyle/>
          <a:p>
            <a:endParaRPr lang="en-US"/>
          </a:p>
        </p:txBody>
      </p:sp>
      <p:sp>
        <p:nvSpPr>
          <p:cNvPr id="64" name="Shape 62"/>
          <p:cNvSpPr/>
          <p:nvPr/>
        </p:nvSpPr>
        <p:spPr>
          <a:xfrm>
            <a:off x="6720840"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65" name="Shape 63"/>
          <p:cNvSpPr/>
          <p:nvPr/>
        </p:nvSpPr>
        <p:spPr>
          <a:xfrm>
            <a:off x="7031736"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66" name="Shape 64"/>
          <p:cNvSpPr/>
          <p:nvPr/>
        </p:nvSpPr>
        <p:spPr>
          <a:xfrm>
            <a:off x="7342632"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67" name="Shape 65"/>
          <p:cNvSpPr/>
          <p:nvPr/>
        </p:nvSpPr>
        <p:spPr>
          <a:xfrm>
            <a:off x="7653528"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68" name="Shape 66"/>
          <p:cNvSpPr/>
          <p:nvPr/>
        </p:nvSpPr>
        <p:spPr>
          <a:xfrm>
            <a:off x="7964424"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69" name="Shape 67"/>
          <p:cNvSpPr/>
          <p:nvPr/>
        </p:nvSpPr>
        <p:spPr>
          <a:xfrm>
            <a:off x="8275320"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0" name="Shape 68"/>
          <p:cNvSpPr/>
          <p:nvPr/>
        </p:nvSpPr>
        <p:spPr>
          <a:xfrm>
            <a:off x="8586216"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1" name="Shape 69"/>
          <p:cNvSpPr/>
          <p:nvPr/>
        </p:nvSpPr>
        <p:spPr>
          <a:xfrm>
            <a:off x="8897112"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2" name="Shape 70"/>
          <p:cNvSpPr/>
          <p:nvPr/>
        </p:nvSpPr>
        <p:spPr>
          <a:xfrm>
            <a:off x="9208008"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3" name="Shape 71"/>
          <p:cNvSpPr/>
          <p:nvPr/>
        </p:nvSpPr>
        <p:spPr>
          <a:xfrm>
            <a:off x="9518904" y="4818888"/>
            <a:ext cx="274320" cy="274320"/>
          </a:xfrm>
          <a:prstGeom prst="rect">
            <a:avLst/>
          </a:prstGeom>
          <a:solidFill>
            <a:srgbClr val="D6336C"/>
          </a:solidFill>
          <a:ln w="6350">
            <a:solidFill>
              <a:srgbClr val="FFFFFF"/>
            </a:solidFill>
            <a:prstDash val="solid"/>
          </a:ln>
        </p:spPr>
        <p:txBody>
          <a:bodyPr/>
          <a:lstStyle/>
          <a:p>
            <a:endParaRPr lang="en-US"/>
          </a:p>
        </p:txBody>
      </p:sp>
      <p:sp>
        <p:nvSpPr>
          <p:cNvPr id="74" name="Shape 72"/>
          <p:cNvSpPr/>
          <p:nvPr/>
        </p:nvSpPr>
        <p:spPr>
          <a:xfrm>
            <a:off x="9829800"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5" name="Shape 73"/>
          <p:cNvSpPr/>
          <p:nvPr/>
        </p:nvSpPr>
        <p:spPr>
          <a:xfrm>
            <a:off x="10140696"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6" name="Shape 74"/>
          <p:cNvSpPr/>
          <p:nvPr/>
        </p:nvSpPr>
        <p:spPr>
          <a:xfrm>
            <a:off x="10451592"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7" name="Shape 75"/>
          <p:cNvSpPr/>
          <p:nvPr/>
        </p:nvSpPr>
        <p:spPr>
          <a:xfrm>
            <a:off x="10762488"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8" name="Shape 76"/>
          <p:cNvSpPr/>
          <p:nvPr/>
        </p:nvSpPr>
        <p:spPr>
          <a:xfrm>
            <a:off x="11073384" y="4818888"/>
            <a:ext cx="274320" cy="274320"/>
          </a:xfrm>
          <a:prstGeom prst="rect">
            <a:avLst/>
          </a:prstGeom>
          <a:solidFill>
            <a:srgbClr val="EAE2F2"/>
          </a:solidFill>
          <a:ln w="6350">
            <a:solidFill>
              <a:srgbClr val="FFFFFF"/>
            </a:solidFill>
            <a:prstDash val="solid"/>
          </a:ln>
        </p:spPr>
        <p:txBody>
          <a:bodyPr/>
          <a:lstStyle/>
          <a:p>
            <a:endParaRPr lang="en-US"/>
          </a:p>
        </p:txBody>
      </p:sp>
      <p:sp>
        <p:nvSpPr>
          <p:cNvPr id="79" name="Shape 77"/>
          <p:cNvSpPr/>
          <p:nvPr/>
        </p:nvSpPr>
        <p:spPr>
          <a:xfrm>
            <a:off x="6720840"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0" name="Shape 78"/>
          <p:cNvSpPr/>
          <p:nvPr/>
        </p:nvSpPr>
        <p:spPr>
          <a:xfrm>
            <a:off x="7031736"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1" name="Shape 79"/>
          <p:cNvSpPr/>
          <p:nvPr/>
        </p:nvSpPr>
        <p:spPr>
          <a:xfrm>
            <a:off x="7342632"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2" name="Shape 80"/>
          <p:cNvSpPr/>
          <p:nvPr/>
        </p:nvSpPr>
        <p:spPr>
          <a:xfrm>
            <a:off x="7653528" y="5129784"/>
            <a:ext cx="274320" cy="274320"/>
          </a:xfrm>
          <a:prstGeom prst="rect">
            <a:avLst/>
          </a:prstGeom>
          <a:solidFill>
            <a:srgbClr val="D6336C"/>
          </a:solidFill>
          <a:ln w="6350">
            <a:solidFill>
              <a:srgbClr val="FFFFFF"/>
            </a:solidFill>
            <a:prstDash val="solid"/>
          </a:ln>
        </p:spPr>
        <p:txBody>
          <a:bodyPr/>
          <a:lstStyle/>
          <a:p>
            <a:endParaRPr lang="en-US"/>
          </a:p>
        </p:txBody>
      </p:sp>
      <p:sp>
        <p:nvSpPr>
          <p:cNvPr id="83" name="Shape 81"/>
          <p:cNvSpPr/>
          <p:nvPr/>
        </p:nvSpPr>
        <p:spPr>
          <a:xfrm>
            <a:off x="7964424"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4" name="Shape 82"/>
          <p:cNvSpPr/>
          <p:nvPr/>
        </p:nvSpPr>
        <p:spPr>
          <a:xfrm>
            <a:off x="8275320"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5" name="Shape 83"/>
          <p:cNvSpPr/>
          <p:nvPr/>
        </p:nvSpPr>
        <p:spPr>
          <a:xfrm>
            <a:off x="8586216"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6" name="Shape 84"/>
          <p:cNvSpPr/>
          <p:nvPr/>
        </p:nvSpPr>
        <p:spPr>
          <a:xfrm>
            <a:off x="8897112"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7" name="Shape 85"/>
          <p:cNvSpPr/>
          <p:nvPr/>
        </p:nvSpPr>
        <p:spPr>
          <a:xfrm>
            <a:off x="9208008"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8" name="Shape 86"/>
          <p:cNvSpPr/>
          <p:nvPr/>
        </p:nvSpPr>
        <p:spPr>
          <a:xfrm>
            <a:off x="9518904"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89" name="Shape 87"/>
          <p:cNvSpPr/>
          <p:nvPr/>
        </p:nvSpPr>
        <p:spPr>
          <a:xfrm>
            <a:off x="9829800"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90" name="Shape 88"/>
          <p:cNvSpPr/>
          <p:nvPr/>
        </p:nvSpPr>
        <p:spPr>
          <a:xfrm>
            <a:off x="10140696"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91" name="Shape 89"/>
          <p:cNvSpPr/>
          <p:nvPr/>
        </p:nvSpPr>
        <p:spPr>
          <a:xfrm>
            <a:off x="10451592"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92" name="Shape 90"/>
          <p:cNvSpPr/>
          <p:nvPr/>
        </p:nvSpPr>
        <p:spPr>
          <a:xfrm>
            <a:off x="10762488"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93" name="Shape 91"/>
          <p:cNvSpPr/>
          <p:nvPr/>
        </p:nvSpPr>
        <p:spPr>
          <a:xfrm>
            <a:off x="11073384" y="5129784"/>
            <a:ext cx="274320" cy="274320"/>
          </a:xfrm>
          <a:prstGeom prst="rect">
            <a:avLst/>
          </a:prstGeom>
          <a:solidFill>
            <a:srgbClr val="EAE2F2"/>
          </a:solidFill>
          <a:ln w="6350">
            <a:solidFill>
              <a:srgbClr val="FFFFFF"/>
            </a:solidFill>
            <a:prstDash val="solid"/>
          </a:ln>
        </p:spPr>
        <p:txBody>
          <a:bodyPr/>
          <a:lstStyle/>
          <a:p>
            <a:endParaRPr lang="en-US"/>
          </a:p>
        </p:txBody>
      </p:sp>
      <p:sp>
        <p:nvSpPr>
          <p:cNvPr id="94" name="Shape 92"/>
          <p:cNvSpPr/>
          <p:nvPr/>
        </p:nvSpPr>
        <p:spPr>
          <a:xfrm>
            <a:off x="6720840"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95" name="Shape 93"/>
          <p:cNvSpPr/>
          <p:nvPr/>
        </p:nvSpPr>
        <p:spPr>
          <a:xfrm>
            <a:off x="7031736"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96" name="Shape 94"/>
          <p:cNvSpPr/>
          <p:nvPr/>
        </p:nvSpPr>
        <p:spPr>
          <a:xfrm>
            <a:off x="7342632"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97" name="Shape 95"/>
          <p:cNvSpPr/>
          <p:nvPr/>
        </p:nvSpPr>
        <p:spPr>
          <a:xfrm>
            <a:off x="7653528"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98" name="Shape 96"/>
          <p:cNvSpPr/>
          <p:nvPr/>
        </p:nvSpPr>
        <p:spPr>
          <a:xfrm>
            <a:off x="7964424"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99" name="Shape 97"/>
          <p:cNvSpPr/>
          <p:nvPr/>
        </p:nvSpPr>
        <p:spPr>
          <a:xfrm>
            <a:off x="8275320"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0" name="Shape 98"/>
          <p:cNvSpPr/>
          <p:nvPr/>
        </p:nvSpPr>
        <p:spPr>
          <a:xfrm>
            <a:off x="8586216"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1" name="Shape 99"/>
          <p:cNvSpPr/>
          <p:nvPr/>
        </p:nvSpPr>
        <p:spPr>
          <a:xfrm>
            <a:off x="8897112"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2" name="Shape 100"/>
          <p:cNvSpPr/>
          <p:nvPr/>
        </p:nvSpPr>
        <p:spPr>
          <a:xfrm>
            <a:off x="9208008"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3" name="Shape 101"/>
          <p:cNvSpPr/>
          <p:nvPr/>
        </p:nvSpPr>
        <p:spPr>
          <a:xfrm>
            <a:off x="9518904"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4" name="Shape 102"/>
          <p:cNvSpPr/>
          <p:nvPr/>
        </p:nvSpPr>
        <p:spPr>
          <a:xfrm>
            <a:off x="9829800"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5" name="Shape 103"/>
          <p:cNvSpPr/>
          <p:nvPr/>
        </p:nvSpPr>
        <p:spPr>
          <a:xfrm>
            <a:off x="10140696"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6" name="Shape 104"/>
          <p:cNvSpPr/>
          <p:nvPr/>
        </p:nvSpPr>
        <p:spPr>
          <a:xfrm>
            <a:off x="10451592"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7" name="Shape 105"/>
          <p:cNvSpPr/>
          <p:nvPr/>
        </p:nvSpPr>
        <p:spPr>
          <a:xfrm>
            <a:off x="10762488"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8" name="Shape 106"/>
          <p:cNvSpPr/>
          <p:nvPr/>
        </p:nvSpPr>
        <p:spPr>
          <a:xfrm>
            <a:off x="11073384" y="5440680"/>
            <a:ext cx="274320" cy="274320"/>
          </a:xfrm>
          <a:prstGeom prst="rect">
            <a:avLst/>
          </a:prstGeom>
          <a:solidFill>
            <a:srgbClr val="EAE2F2"/>
          </a:solidFill>
          <a:ln w="6350">
            <a:solidFill>
              <a:srgbClr val="FFFFFF"/>
            </a:solidFill>
            <a:prstDash val="solid"/>
          </a:ln>
        </p:spPr>
        <p:txBody>
          <a:bodyPr/>
          <a:lstStyle/>
          <a:p>
            <a:endParaRPr lang="en-US"/>
          </a:p>
        </p:txBody>
      </p:sp>
      <p:sp>
        <p:nvSpPr>
          <p:cNvPr id="109" name="Shape 107"/>
          <p:cNvSpPr/>
          <p:nvPr/>
        </p:nvSpPr>
        <p:spPr>
          <a:xfrm>
            <a:off x="6720840" y="5861304"/>
            <a:ext cx="201168" cy="201168"/>
          </a:xfrm>
          <a:prstGeom prst="rect">
            <a:avLst/>
          </a:prstGeom>
          <a:solidFill>
            <a:srgbClr val="D6336C"/>
          </a:solidFill>
          <a:ln/>
        </p:spPr>
        <p:txBody>
          <a:bodyPr/>
          <a:lstStyle/>
          <a:p>
            <a:endParaRPr lang="en-US"/>
          </a:p>
        </p:txBody>
      </p:sp>
      <p:sp>
        <p:nvSpPr>
          <p:cNvPr id="110" name="Text 108"/>
          <p:cNvSpPr/>
          <p:nvPr/>
        </p:nvSpPr>
        <p:spPr>
          <a:xfrm>
            <a:off x="6995160" y="5833872"/>
            <a:ext cx="1463040" cy="256032"/>
          </a:xfrm>
          <a:prstGeom prst="rect">
            <a:avLst/>
          </a:prstGeom>
          <a:noFill/>
          <a:ln/>
        </p:spPr>
        <p:txBody>
          <a:bodyPr wrap="square" lIns="0" tIns="0" rIns="0" bIns="0" rtlCol="0" anchor="ctr"/>
          <a:lstStyle/>
          <a:p>
            <a:pPr marL="0" indent="0">
              <a:buNone/>
            </a:pPr>
            <a:r>
              <a:rPr lang="en-US" sz="1300" dirty="0">
                <a:solidFill>
                  <a:srgbClr val="8A7F99"/>
                </a:solidFill>
                <a:latin typeface="Calibri" pitchFamily="34" charset="0"/>
                <a:ea typeface="Calibri" pitchFamily="34" charset="-122"/>
                <a:cs typeface="Calibri" pitchFamily="34" charset="-120"/>
              </a:rPr>
              <a:t>tumor tile</a:t>
            </a:r>
            <a:endParaRPr lang="en-US" sz="1300" dirty="0"/>
          </a:p>
        </p:txBody>
      </p:sp>
      <p:sp>
        <p:nvSpPr>
          <p:cNvPr id="111" name="Shape 109"/>
          <p:cNvSpPr/>
          <p:nvPr/>
        </p:nvSpPr>
        <p:spPr>
          <a:xfrm>
            <a:off x="8458200" y="5861304"/>
            <a:ext cx="201168" cy="201168"/>
          </a:xfrm>
          <a:prstGeom prst="rect">
            <a:avLst/>
          </a:prstGeom>
          <a:solidFill>
            <a:srgbClr val="EAE2F2"/>
          </a:solidFill>
          <a:ln w="12700">
            <a:solidFill>
              <a:srgbClr val="E4DCEC"/>
            </a:solidFill>
            <a:prstDash val="solid"/>
          </a:ln>
        </p:spPr>
        <p:txBody>
          <a:bodyPr/>
          <a:lstStyle/>
          <a:p>
            <a:endParaRPr lang="en-US"/>
          </a:p>
        </p:txBody>
      </p:sp>
      <p:sp>
        <p:nvSpPr>
          <p:cNvPr id="112" name="Text 110"/>
          <p:cNvSpPr/>
          <p:nvPr/>
        </p:nvSpPr>
        <p:spPr>
          <a:xfrm>
            <a:off x="8732520" y="5833872"/>
            <a:ext cx="1463040" cy="256032"/>
          </a:xfrm>
          <a:prstGeom prst="rect">
            <a:avLst/>
          </a:prstGeom>
          <a:noFill/>
          <a:ln/>
        </p:spPr>
        <p:txBody>
          <a:bodyPr wrap="square" lIns="0" tIns="0" rIns="0" bIns="0" rtlCol="0" anchor="ctr"/>
          <a:lstStyle/>
          <a:p>
            <a:pPr marL="0" indent="0">
              <a:buNone/>
            </a:pPr>
            <a:r>
              <a:rPr lang="en-US" sz="1300" dirty="0">
                <a:solidFill>
                  <a:srgbClr val="8A7F99"/>
                </a:solidFill>
                <a:latin typeface="Calibri" pitchFamily="34" charset="0"/>
                <a:ea typeface="Calibri" pitchFamily="34" charset="-122"/>
                <a:cs typeface="Calibri" pitchFamily="34" charset="-120"/>
              </a:rPr>
              <a:t>benign tile</a:t>
            </a:r>
            <a:endParaRPr lang="en-US" sz="1300" dirty="0"/>
          </a:p>
        </p:txBody>
      </p:sp>
      <p:sp>
        <p:nvSpPr>
          <p:cNvPr id="113" name="Text 111"/>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114" name="Text 112"/>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4</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BACKGROUND · NAIVE APPROACHES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Why you can't just train a CNN on the slide</a:t>
            </a:r>
            <a:endParaRPr lang="en-US" sz="2900" dirty="0"/>
          </a:p>
        </p:txBody>
      </p:sp>
      <p:sp>
        <p:nvSpPr>
          <p:cNvPr id="5" name="Shape 3"/>
          <p:cNvSpPr/>
          <p:nvPr/>
        </p:nvSpPr>
        <p:spPr>
          <a:xfrm>
            <a:off x="640080" y="1508760"/>
            <a:ext cx="3602736" cy="23774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2377440"/>
          </a:xfrm>
          <a:prstGeom prst="rect">
            <a:avLst/>
          </a:prstGeom>
          <a:solidFill>
            <a:srgbClr val="D6336C"/>
          </a:solidFill>
          <a:ln/>
        </p:spPr>
        <p:txBody>
          <a:bodyPr/>
          <a:lstStyle/>
          <a:p>
            <a:endParaRPr lang="en-US"/>
          </a:p>
        </p:txBody>
      </p:sp>
      <p:sp>
        <p:nvSpPr>
          <p:cNvPr id="7" name="Text 5"/>
          <p:cNvSpPr/>
          <p:nvPr/>
        </p:nvSpPr>
        <p:spPr>
          <a:xfrm>
            <a:off x="896112" y="1655064"/>
            <a:ext cx="3191256"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Downsample the whole slide</a:t>
            </a:r>
            <a:endParaRPr lang="en-US" sz="1700" dirty="0"/>
          </a:p>
        </p:txBody>
      </p:sp>
      <p:sp>
        <p:nvSpPr>
          <p:cNvPr id="8" name="Text 6"/>
          <p:cNvSpPr/>
          <p:nvPr/>
        </p:nvSpPr>
        <p:spPr>
          <a:xfrm>
            <a:off x="896112" y="2057400"/>
            <a:ext cx="3191256" cy="1700784"/>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Shrink 100k² → 1024². You destroy exactly the cellular detail (nuclei, mitoses) that carries the diagnosis. Throws the signal away.</a:t>
            </a:r>
            <a:endParaRPr lang="en-US" sz="1650" dirty="0"/>
          </a:p>
        </p:txBody>
      </p:sp>
      <p:sp>
        <p:nvSpPr>
          <p:cNvPr id="9" name="Shape 7"/>
          <p:cNvSpPr/>
          <p:nvPr/>
        </p:nvSpPr>
        <p:spPr>
          <a:xfrm>
            <a:off x="3675888" y="1627632"/>
            <a:ext cx="384048" cy="384048"/>
          </a:xfrm>
          <a:prstGeom prst="ellipse">
            <a:avLst/>
          </a:prstGeom>
          <a:solidFill>
            <a:srgbClr val="F6E9F0"/>
          </a:solidFill>
          <a:ln/>
        </p:spPr>
        <p:txBody>
          <a:bodyPr/>
          <a:lstStyle/>
          <a:p>
            <a:endParaRPr lang="en-US"/>
          </a:p>
        </p:txBody>
      </p:sp>
      <p:sp>
        <p:nvSpPr>
          <p:cNvPr id="10" name="Text 8"/>
          <p:cNvSpPr/>
          <p:nvPr/>
        </p:nvSpPr>
        <p:spPr>
          <a:xfrm>
            <a:off x="3675888" y="1627632"/>
            <a:ext cx="384048" cy="384048"/>
          </a:xfrm>
          <a:prstGeom prst="rect">
            <a:avLst/>
          </a:prstGeom>
          <a:noFill/>
          <a:ln/>
        </p:spPr>
        <p:txBody>
          <a:bodyPr wrap="square" lIns="0" tIns="0" rIns="0" bIns="0" rtlCol="0" anchor="ctr"/>
          <a:lstStyle/>
          <a:p>
            <a:pPr marL="0" indent="0" algn="ctr">
              <a:buNone/>
            </a:pPr>
            <a:r>
              <a:rPr lang="en-US" sz="1800" b="1" dirty="0">
                <a:solidFill>
                  <a:srgbClr val="D6336C"/>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4517136" y="1508760"/>
            <a:ext cx="3602736" cy="23774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10"/>
          <p:cNvSpPr/>
          <p:nvPr/>
        </p:nvSpPr>
        <p:spPr>
          <a:xfrm>
            <a:off x="4517136" y="1508760"/>
            <a:ext cx="82296" cy="2377440"/>
          </a:xfrm>
          <a:prstGeom prst="rect">
            <a:avLst/>
          </a:prstGeom>
          <a:solidFill>
            <a:srgbClr val="4A2C6D"/>
          </a:solidFill>
          <a:ln/>
        </p:spPr>
        <p:txBody>
          <a:bodyPr/>
          <a:lstStyle/>
          <a:p>
            <a:endParaRPr lang="en-US"/>
          </a:p>
        </p:txBody>
      </p:sp>
      <p:sp>
        <p:nvSpPr>
          <p:cNvPr id="13" name="Text 11"/>
          <p:cNvSpPr/>
          <p:nvPr/>
        </p:nvSpPr>
        <p:spPr>
          <a:xfrm>
            <a:off x="4773168" y="1655064"/>
            <a:ext cx="3191256"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End-to-end on full resolution</a:t>
            </a:r>
            <a:endParaRPr lang="en-US" sz="1700" dirty="0"/>
          </a:p>
        </p:txBody>
      </p:sp>
      <p:sp>
        <p:nvSpPr>
          <p:cNvPr id="14" name="Text 12"/>
          <p:cNvSpPr/>
          <p:nvPr/>
        </p:nvSpPr>
        <p:spPr>
          <a:xfrm>
            <a:off x="4773168" y="2057400"/>
            <a:ext cx="3191256" cy="1700784"/>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A 10-gigapixel forward pass doesn't fit in any GPU. Back-prop through millions of pixels per slide is intractable.</a:t>
            </a:r>
            <a:endParaRPr lang="en-US" sz="1650" dirty="0"/>
          </a:p>
        </p:txBody>
      </p:sp>
      <p:sp>
        <p:nvSpPr>
          <p:cNvPr id="15" name="Shape 13"/>
          <p:cNvSpPr/>
          <p:nvPr/>
        </p:nvSpPr>
        <p:spPr>
          <a:xfrm>
            <a:off x="7552944" y="1627632"/>
            <a:ext cx="384048" cy="384048"/>
          </a:xfrm>
          <a:prstGeom prst="ellipse">
            <a:avLst/>
          </a:prstGeom>
          <a:solidFill>
            <a:srgbClr val="F6E9F0"/>
          </a:solidFill>
          <a:ln/>
        </p:spPr>
        <p:txBody>
          <a:bodyPr/>
          <a:lstStyle/>
          <a:p>
            <a:endParaRPr lang="en-US"/>
          </a:p>
        </p:txBody>
      </p:sp>
      <p:sp>
        <p:nvSpPr>
          <p:cNvPr id="16" name="Text 14"/>
          <p:cNvSpPr/>
          <p:nvPr/>
        </p:nvSpPr>
        <p:spPr>
          <a:xfrm>
            <a:off x="7552944" y="1627632"/>
            <a:ext cx="384048" cy="384048"/>
          </a:xfrm>
          <a:prstGeom prst="rect">
            <a:avLst/>
          </a:prstGeom>
          <a:noFill/>
          <a:ln/>
        </p:spPr>
        <p:txBody>
          <a:bodyPr wrap="square" lIns="0" tIns="0" rIns="0" bIns="0" rtlCol="0" anchor="ctr"/>
          <a:lstStyle/>
          <a:p>
            <a:pPr marL="0" indent="0" algn="ctr">
              <a:buNone/>
            </a:pPr>
            <a:r>
              <a:rPr lang="en-US" sz="1800" b="1" dirty="0">
                <a:solidFill>
                  <a:srgbClr val="D6336C"/>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8394192" y="1508760"/>
            <a:ext cx="3602736" cy="23774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8394192" y="1508760"/>
            <a:ext cx="82296" cy="2377440"/>
          </a:xfrm>
          <a:prstGeom prst="rect">
            <a:avLst/>
          </a:prstGeom>
          <a:solidFill>
            <a:srgbClr val="1C8C8C"/>
          </a:solidFill>
          <a:ln/>
        </p:spPr>
        <p:txBody>
          <a:bodyPr/>
          <a:lstStyle/>
          <a:p>
            <a:endParaRPr lang="en-US"/>
          </a:p>
        </p:txBody>
      </p:sp>
      <p:sp>
        <p:nvSpPr>
          <p:cNvPr id="19" name="Text 17"/>
          <p:cNvSpPr/>
          <p:nvPr/>
        </p:nvSpPr>
        <p:spPr>
          <a:xfrm>
            <a:off x="8650224" y="1655064"/>
            <a:ext cx="3191256"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Patch-level supervised CNN</a:t>
            </a:r>
            <a:endParaRPr lang="en-US" sz="1700" dirty="0"/>
          </a:p>
        </p:txBody>
      </p:sp>
      <p:sp>
        <p:nvSpPr>
          <p:cNvPr id="20" name="Text 18"/>
          <p:cNvSpPr/>
          <p:nvPr/>
        </p:nvSpPr>
        <p:spPr>
          <a:xfrm>
            <a:off x="8650224" y="2057400"/>
            <a:ext cx="3191256" cy="1700784"/>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Requires per-patch labels. Pathologists would have to annotate millions of tiles — the cost MIL exists to avoid.</a:t>
            </a:r>
            <a:endParaRPr lang="en-US" sz="1650" dirty="0"/>
          </a:p>
        </p:txBody>
      </p:sp>
      <p:sp>
        <p:nvSpPr>
          <p:cNvPr id="21" name="Shape 19"/>
          <p:cNvSpPr/>
          <p:nvPr/>
        </p:nvSpPr>
        <p:spPr>
          <a:xfrm>
            <a:off x="11430000" y="1627632"/>
            <a:ext cx="384048" cy="384048"/>
          </a:xfrm>
          <a:prstGeom prst="ellipse">
            <a:avLst/>
          </a:prstGeom>
          <a:solidFill>
            <a:srgbClr val="F6E9F0"/>
          </a:solidFill>
          <a:ln/>
        </p:spPr>
        <p:txBody>
          <a:bodyPr/>
          <a:lstStyle/>
          <a:p>
            <a:endParaRPr lang="en-US"/>
          </a:p>
        </p:txBody>
      </p:sp>
      <p:sp>
        <p:nvSpPr>
          <p:cNvPr id="22" name="Text 20"/>
          <p:cNvSpPr/>
          <p:nvPr/>
        </p:nvSpPr>
        <p:spPr>
          <a:xfrm>
            <a:off x="11430000" y="1627632"/>
            <a:ext cx="384048" cy="384048"/>
          </a:xfrm>
          <a:prstGeom prst="rect">
            <a:avLst/>
          </a:prstGeom>
          <a:noFill/>
          <a:ln/>
        </p:spPr>
        <p:txBody>
          <a:bodyPr wrap="square" lIns="0" tIns="0" rIns="0" bIns="0" rtlCol="0" anchor="ctr"/>
          <a:lstStyle/>
          <a:p>
            <a:pPr marL="0" indent="0" algn="ctr">
              <a:buNone/>
            </a:pPr>
            <a:r>
              <a:rPr lang="en-US" sz="1800" b="1" dirty="0">
                <a:solidFill>
                  <a:srgbClr val="D6336C"/>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640080" y="4069080"/>
            <a:ext cx="10908792" cy="2148840"/>
          </a:xfrm>
          <a:prstGeom prst="rect">
            <a:avLst/>
          </a:prstGeom>
          <a:solidFill>
            <a:srgbClr val="EEF6F6"/>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4" name="Shape 22"/>
          <p:cNvSpPr/>
          <p:nvPr/>
        </p:nvSpPr>
        <p:spPr>
          <a:xfrm>
            <a:off x="640080" y="4069080"/>
            <a:ext cx="82296" cy="2148840"/>
          </a:xfrm>
          <a:prstGeom prst="rect">
            <a:avLst/>
          </a:prstGeom>
          <a:solidFill>
            <a:srgbClr val="1C8C8C"/>
          </a:solidFill>
          <a:ln/>
        </p:spPr>
        <p:txBody>
          <a:bodyPr/>
          <a:lstStyle/>
          <a:p>
            <a:endParaRPr lang="en-US"/>
          </a:p>
        </p:txBody>
      </p:sp>
      <p:sp>
        <p:nvSpPr>
          <p:cNvPr id="25" name="Text 23"/>
          <p:cNvSpPr/>
          <p:nvPr/>
        </p:nvSpPr>
        <p:spPr>
          <a:xfrm>
            <a:off x="896112" y="4206240"/>
            <a:ext cx="10058400" cy="365760"/>
          </a:xfrm>
          <a:prstGeom prst="rect">
            <a:avLst/>
          </a:prstGeom>
          <a:noFill/>
          <a:ln/>
        </p:spPr>
        <p:txBody>
          <a:bodyPr wrap="square" lIns="0" tIns="0" rIns="0" bIns="0" rtlCol="0" anchor="ctr"/>
          <a:lstStyle/>
          <a:p>
            <a:pPr marL="0" indent="0">
              <a:buNone/>
            </a:pPr>
            <a:r>
              <a:rPr lang="en-US" sz="1800" b="1" dirty="0">
                <a:solidFill>
                  <a:srgbClr val="1C8C8C"/>
                </a:solidFill>
                <a:latin typeface="Calibri" pitchFamily="34" charset="0"/>
                <a:ea typeface="Calibri" pitchFamily="34" charset="-122"/>
                <a:cs typeface="Calibri" pitchFamily="34" charset="-120"/>
              </a:rPr>
              <a:t>The MIL answer</a:t>
            </a:r>
            <a:endParaRPr lang="en-US" sz="1800" dirty="0"/>
          </a:p>
        </p:txBody>
      </p:sp>
      <p:sp>
        <p:nvSpPr>
          <p:cNvPr id="26" name="Text 24"/>
          <p:cNvSpPr/>
          <p:nvPr/>
        </p:nvSpPr>
        <p:spPr>
          <a:xfrm>
            <a:off x="896112" y="4617720"/>
            <a:ext cx="10424160" cy="1463040"/>
          </a:xfrm>
          <a:prstGeom prst="rect">
            <a:avLst/>
          </a:prstGeom>
          <a:noFill/>
          <a:ln/>
        </p:spPr>
        <p:txBody>
          <a:bodyPr wrap="square" lIns="0" tIns="0" rIns="0" bIns="0" rtlCol="0" anchor="t"/>
          <a:lstStyle/>
          <a:p>
            <a:pPr marL="0" indent="0">
              <a:lnSpc>
                <a:spcPct val="112000"/>
              </a:lnSpc>
              <a:buNone/>
            </a:pPr>
            <a:r>
              <a:rPr lang="en-US" sz="1650" dirty="0">
                <a:solidFill>
                  <a:srgbClr val="2A2233"/>
                </a:solidFill>
                <a:latin typeface="Calibri" pitchFamily="34" charset="0"/>
                <a:ea typeface="Calibri" pitchFamily="34" charset="-122"/>
                <a:cs typeface="Calibri" pitchFamily="34" charset="-120"/>
              </a:rPr>
              <a:t>Decompose the slide into thousands of small patches (a </a:t>
            </a:r>
            <a:r>
              <a:rPr lang="en-US" sz="1650" b="1" dirty="0">
                <a:solidFill>
                  <a:srgbClr val="1C8C8C"/>
                </a:solidFill>
                <a:latin typeface="Calibri" pitchFamily="34" charset="0"/>
                <a:ea typeface="Calibri" pitchFamily="34" charset="-122"/>
                <a:cs typeface="Calibri" pitchFamily="34" charset="-120"/>
              </a:rPr>
              <a:t>bag</a:t>
            </a:r>
            <a:r>
              <a:rPr lang="en-US" sz="1650" dirty="0">
                <a:solidFill>
                  <a:srgbClr val="2A2233"/>
                </a:solidFill>
                <a:latin typeface="Calibri" pitchFamily="34" charset="0"/>
                <a:ea typeface="Calibri" pitchFamily="34" charset="-122"/>
                <a:cs typeface="Calibri" pitchFamily="34" charset="-120"/>
              </a:rPr>
              <a:t>), encode each patch independently with a frozen feature extractor, then </a:t>
            </a:r>
            <a:r>
              <a:rPr lang="en-US" sz="1650" b="1" dirty="0">
                <a:solidFill>
                  <a:srgbClr val="1C8C8C"/>
                </a:solidFill>
                <a:latin typeface="Calibri" pitchFamily="34" charset="0"/>
                <a:ea typeface="Calibri" pitchFamily="34" charset="-122"/>
                <a:cs typeface="Calibri" pitchFamily="34" charset="-120"/>
              </a:rPr>
              <a:t>learn how to pool</a:t>
            </a:r>
            <a:r>
              <a:rPr lang="en-US" sz="1650" dirty="0">
                <a:solidFill>
                  <a:srgbClr val="2A2233"/>
                </a:solidFill>
                <a:latin typeface="Calibri" pitchFamily="34" charset="0"/>
                <a:ea typeface="Calibri" pitchFamily="34" charset="-122"/>
                <a:cs typeface="Calibri" pitchFamily="34" charset="-120"/>
              </a:rPr>
              <a:t> patch features into one slide prediction — supervised by the slide label alone. The pooling step learns which patches matter, giving you interpretability for free.</a:t>
            </a:r>
            <a:endParaRPr lang="en-US" sz="1650" dirty="0"/>
          </a:p>
        </p:txBody>
      </p:sp>
      <p:sp>
        <p:nvSpPr>
          <p:cNvPr id="27" name="Text 25"/>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8" name="Text 26"/>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5</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BACKGROUND · SUPERVISION</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The labels we actually have are weak</a:t>
            </a:r>
            <a:endParaRPr lang="en-US" sz="2900" dirty="0"/>
          </a:p>
        </p:txBody>
      </p:sp>
      <p:sp>
        <p:nvSpPr>
          <p:cNvPr id="5" name="Text 3"/>
          <p:cNvSpPr/>
          <p:nvPr/>
        </p:nvSpPr>
        <p:spPr>
          <a:xfrm>
            <a:off x="640080" y="1554480"/>
            <a:ext cx="5486400" cy="3108960"/>
          </a:xfrm>
          <a:prstGeom prst="rect">
            <a:avLst/>
          </a:prstGeom>
          <a:noFill/>
          <a:ln/>
        </p:spPr>
        <p:txBody>
          <a:bodyPr wrap="square" lIns="0" tIns="0" rIns="0" bIns="0" rtlCol="0" anchor="t"/>
          <a:lstStyle/>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Strong supervision = a label for every pixel/region. Exists for tiny research sets; never at population scale.</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Weak supervision = one label per slide or per patient, pulled from the pathology report or registry.</a:t>
            </a:r>
            <a:endParaRPr lang="en-US" sz="1850" dirty="0"/>
          </a:p>
          <a:p>
            <a:pPr marL="203200" indent="-203200">
              <a:spcAft>
                <a:spcPts val="600"/>
              </a:spcAft>
              <a:buSzPct val="100000"/>
              <a:buChar char="•"/>
            </a:pPr>
            <a:r>
              <a:rPr lang="en-US" sz="1850" dirty="0">
                <a:solidFill>
                  <a:srgbClr val="2A2233"/>
                </a:solidFill>
                <a:latin typeface="Calibri" pitchFamily="34" charset="0"/>
                <a:ea typeface="Calibri" pitchFamily="34" charset="-122"/>
                <a:cs typeface="Calibri" pitchFamily="34" charset="-120"/>
              </a:rPr>
              <a:t>Slide label propagates to ALL its patches as a noisy, bag-level signal.</a:t>
            </a:r>
            <a:endParaRPr lang="en-US" sz="1850" dirty="0"/>
          </a:p>
          <a:p>
            <a:pPr marL="203200" indent="-203200">
              <a:spcAft>
                <a:spcPts val="600"/>
              </a:spcAft>
              <a:buSzPct val="100000"/>
              <a:buChar char="•"/>
            </a:pPr>
            <a:r>
              <a:rPr lang="en-US" sz="1850" dirty="0">
                <a:solidFill>
                  <a:srgbClr val="2A2233"/>
                </a:solidFill>
                <a:latin typeface="Calibri" pitchFamily="34" charset="0"/>
                <a:ea typeface="Calibri" pitchFamily="34" charset="-122"/>
                <a:cs typeface="Calibri" pitchFamily="34" charset="-120"/>
              </a:rPr>
              <a:t>Most patches in a positive slide are still benign — the label is 'at least one' positive.</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MIL is the formalism for learning from these bag-level labels without instance annotations.</a:t>
            </a:r>
            <a:endParaRPr lang="en-US" sz="1850" dirty="0"/>
          </a:p>
        </p:txBody>
      </p:sp>
      <p:sp>
        <p:nvSpPr>
          <p:cNvPr id="6" name="Shape 4"/>
          <p:cNvSpPr/>
          <p:nvPr/>
        </p:nvSpPr>
        <p:spPr>
          <a:xfrm>
            <a:off x="6400800" y="1508760"/>
            <a:ext cx="5394960" cy="46634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7" name="Text 5"/>
          <p:cNvSpPr/>
          <p:nvPr/>
        </p:nvSpPr>
        <p:spPr>
          <a:xfrm>
            <a:off x="658368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From one report to thousands of weak signals</a:t>
            </a:r>
            <a:endParaRPr lang="en-US" sz="1400" dirty="0"/>
          </a:p>
        </p:txBody>
      </p:sp>
      <p:sp>
        <p:nvSpPr>
          <p:cNvPr id="8" name="Shape 6"/>
          <p:cNvSpPr/>
          <p:nvPr/>
        </p:nvSpPr>
        <p:spPr>
          <a:xfrm>
            <a:off x="8412480" y="2057400"/>
            <a:ext cx="1463040" cy="868680"/>
          </a:xfrm>
          <a:prstGeom prst="roundRect">
            <a:avLst>
              <a:gd name="adj" fmla="val 6316"/>
            </a:avLst>
          </a:prstGeom>
          <a:solidFill>
            <a:srgbClr val="4A2C6D"/>
          </a:solidFill>
          <a:ln/>
        </p:spPr>
        <p:txBody>
          <a:bodyPr/>
          <a:lstStyle/>
          <a:p>
            <a:endParaRPr lang="en-US"/>
          </a:p>
        </p:txBody>
      </p:sp>
      <p:sp>
        <p:nvSpPr>
          <p:cNvPr id="9" name="Text 7"/>
          <p:cNvSpPr/>
          <p:nvPr/>
        </p:nvSpPr>
        <p:spPr>
          <a:xfrm>
            <a:off x="8412480" y="2057400"/>
            <a:ext cx="1463040" cy="8686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Pathology</a:t>
            </a:r>
            <a:endParaRPr lang="en-US" sz="1350" dirty="0"/>
          </a:p>
          <a:p>
            <a:pPr marL="0" indent="0" algn="ctr">
              <a:buNone/>
            </a:pPr>
            <a:r>
              <a:rPr lang="en-US" sz="1350" b="1" dirty="0">
                <a:solidFill>
                  <a:srgbClr val="FFFFFF"/>
                </a:solidFill>
                <a:latin typeface="Calibri" pitchFamily="34" charset="0"/>
                <a:ea typeface="Calibri" pitchFamily="34" charset="-122"/>
                <a:cs typeface="Calibri" pitchFamily="34" charset="-120"/>
              </a:rPr>
              <a:t>report</a:t>
            </a:r>
            <a:endParaRPr lang="en-US" sz="1350" dirty="0"/>
          </a:p>
        </p:txBody>
      </p:sp>
      <p:sp>
        <p:nvSpPr>
          <p:cNvPr id="10" name="Text 8"/>
          <p:cNvSpPr/>
          <p:nvPr/>
        </p:nvSpPr>
        <p:spPr>
          <a:xfrm>
            <a:off x="7863840" y="2926080"/>
            <a:ext cx="2560320" cy="274320"/>
          </a:xfrm>
          <a:prstGeom prst="rect">
            <a:avLst/>
          </a:prstGeom>
          <a:noFill/>
          <a:ln/>
        </p:spPr>
        <p:txBody>
          <a:bodyPr wrap="square" lIns="0" tIns="0" rIns="0" bIns="0" rtlCol="0" anchor="ctr"/>
          <a:lstStyle/>
          <a:p>
            <a:pPr marL="0" indent="0" algn="ctr">
              <a:buNone/>
            </a:pPr>
            <a:r>
              <a:rPr lang="en-US" sz="1250" i="1" dirty="0">
                <a:solidFill>
                  <a:srgbClr val="D6336C"/>
                </a:solidFill>
                <a:latin typeface="Calibri" pitchFamily="34" charset="0"/>
                <a:ea typeface="Calibri" pitchFamily="34" charset="-122"/>
                <a:cs typeface="Calibri" pitchFamily="34" charset="-120"/>
              </a:rPr>
              <a:t>“invasive carcinoma”</a:t>
            </a:r>
            <a:endParaRPr lang="en-US" sz="1250" dirty="0"/>
          </a:p>
        </p:txBody>
      </p:sp>
      <p:sp>
        <p:nvSpPr>
          <p:cNvPr id="11" name="Shape 9"/>
          <p:cNvSpPr/>
          <p:nvPr/>
        </p:nvSpPr>
        <p:spPr>
          <a:xfrm>
            <a:off x="9144000" y="3200400"/>
            <a:ext cx="0" cy="411480"/>
          </a:xfrm>
          <a:prstGeom prst="line">
            <a:avLst/>
          </a:prstGeom>
          <a:noFill/>
          <a:ln w="19050">
            <a:solidFill>
              <a:srgbClr val="8A7F99"/>
            </a:solidFill>
            <a:prstDash val="solid"/>
            <a:tailEnd type="triangle"/>
          </a:ln>
        </p:spPr>
        <p:txBody>
          <a:bodyPr/>
          <a:lstStyle/>
          <a:p>
            <a:endParaRPr lang="en-US"/>
          </a:p>
        </p:txBody>
      </p:sp>
      <p:sp>
        <p:nvSpPr>
          <p:cNvPr id="12" name="Shape 10"/>
          <p:cNvSpPr/>
          <p:nvPr/>
        </p:nvSpPr>
        <p:spPr>
          <a:xfrm>
            <a:off x="8229600" y="3657600"/>
            <a:ext cx="1828800" cy="640080"/>
          </a:xfrm>
          <a:prstGeom prst="roundRect">
            <a:avLst>
              <a:gd name="adj" fmla="val 8571"/>
            </a:avLst>
          </a:prstGeom>
          <a:solidFill>
            <a:srgbClr val="D6336C"/>
          </a:solidFill>
          <a:ln/>
        </p:spPr>
        <p:txBody>
          <a:bodyPr/>
          <a:lstStyle/>
          <a:p>
            <a:endParaRPr lang="en-US"/>
          </a:p>
        </p:txBody>
      </p:sp>
      <p:sp>
        <p:nvSpPr>
          <p:cNvPr id="13" name="Text 11"/>
          <p:cNvSpPr/>
          <p:nvPr/>
        </p:nvSpPr>
        <p:spPr>
          <a:xfrm>
            <a:off x="8229600" y="3657600"/>
            <a:ext cx="1828800" cy="64008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Slide label  Y = 1</a:t>
            </a:r>
            <a:endParaRPr lang="en-US" sz="1450" dirty="0"/>
          </a:p>
        </p:txBody>
      </p:sp>
      <p:sp>
        <p:nvSpPr>
          <p:cNvPr id="14" name="Shape 12"/>
          <p:cNvSpPr/>
          <p:nvPr/>
        </p:nvSpPr>
        <p:spPr>
          <a:xfrm>
            <a:off x="9144000" y="4315968"/>
            <a:ext cx="0" cy="365760"/>
          </a:xfrm>
          <a:prstGeom prst="line">
            <a:avLst/>
          </a:prstGeom>
          <a:noFill/>
          <a:ln w="19050">
            <a:solidFill>
              <a:srgbClr val="8A7F99"/>
            </a:solidFill>
            <a:prstDash val="solid"/>
            <a:tailEnd type="triangle"/>
          </a:ln>
        </p:spPr>
        <p:txBody>
          <a:bodyPr/>
          <a:lstStyle/>
          <a:p>
            <a:endParaRPr lang="en-US"/>
          </a:p>
        </p:txBody>
      </p:sp>
      <p:sp>
        <p:nvSpPr>
          <p:cNvPr id="15" name="Shape 13"/>
          <p:cNvSpPr/>
          <p:nvPr/>
        </p:nvSpPr>
        <p:spPr>
          <a:xfrm>
            <a:off x="6903720" y="4754880"/>
            <a:ext cx="237744" cy="237744"/>
          </a:xfrm>
          <a:prstGeom prst="rect">
            <a:avLst/>
          </a:prstGeom>
          <a:solidFill>
            <a:srgbClr val="EAE2F2"/>
          </a:solidFill>
          <a:ln/>
        </p:spPr>
        <p:txBody>
          <a:bodyPr/>
          <a:lstStyle/>
          <a:p>
            <a:endParaRPr lang="en-US"/>
          </a:p>
        </p:txBody>
      </p:sp>
      <p:sp>
        <p:nvSpPr>
          <p:cNvPr id="16" name="Shape 14"/>
          <p:cNvSpPr/>
          <p:nvPr/>
        </p:nvSpPr>
        <p:spPr>
          <a:xfrm>
            <a:off x="7178040" y="4754880"/>
            <a:ext cx="237744" cy="237744"/>
          </a:xfrm>
          <a:prstGeom prst="rect">
            <a:avLst/>
          </a:prstGeom>
          <a:solidFill>
            <a:srgbClr val="EAE2F2"/>
          </a:solidFill>
          <a:ln/>
        </p:spPr>
        <p:txBody>
          <a:bodyPr/>
          <a:lstStyle/>
          <a:p>
            <a:endParaRPr lang="en-US"/>
          </a:p>
        </p:txBody>
      </p:sp>
      <p:sp>
        <p:nvSpPr>
          <p:cNvPr id="17" name="Shape 15"/>
          <p:cNvSpPr/>
          <p:nvPr/>
        </p:nvSpPr>
        <p:spPr>
          <a:xfrm>
            <a:off x="7452360" y="4754880"/>
            <a:ext cx="237744" cy="237744"/>
          </a:xfrm>
          <a:prstGeom prst="rect">
            <a:avLst/>
          </a:prstGeom>
          <a:solidFill>
            <a:srgbClr val="EAE2F2"/>
          </a:solidFill>
          <a:ln/>
        </p:spPr>
        <p:txBody>
          <a:bodyPr/>
          <a:lstStyle/>
          <a:p>
            <a:endParaRPr lang="en-US"/>
          </a:p>
        </p:txBody>
      </p:sp>
      <p:sp>
        <p:nvSpPr>
          <p:cNvPr id="18" name="Shape 16"/>
          <p:cNvSpPr/>
          <p:nvPr/>
        </p:nvSpPr>
        <p:spPr>
          <a:xfrm>
            <a:off x="7726680" y="4754880"/>
            <a:ext cx="237744" cy="237744"/>
          </a:xfrm>
          <a:prstGeom prst="rect">
            <a:avLst/>
          </a:prstGeom>
          <a:solidFill>
            <a:srgbClr val="EAE2F2"/>
          </a:solidFill>
          <a:ln/>
        </p:spPr>
        <p:txBody>
          <a:bodyPr/>
          <a:lstStyle/>
          <a:p>
            <a:endParaRPr lang="en-US"/>
          </a:p>
        </p:txBody>
      </p:sp>
      <p:sp>
        <p:nvSpPr>
          <p:cNvPr id="19" name="Shape 17"/>
          <p:cNvSpPr/>
          <p:nvPr/>
        </p:nvSpPr>
        <p:spPr>
          <a:xfrm>
            <a:off x="8001000" y="4754880"/>
            <a:ext cx="237744" cy="237744"/>
          </a:xfrm>
          <a:prstGeom prst="rect">
            <a:avLst/>
          </a:prstGeom>
          <a:solidFill>
            <a:srgbClr val="EAE2F2"/>
          </a:solidFill>
          <a:ln/>
        </p:spPr>
        <p:txBody>
          <a:bodyPr/>
          <a:lstStyle/>
          <a:p>
            <a:endParaRPr lang="en-US"/>
          </a:p>
        </p:txBody>
      </p:sp>
      <p:sp>
        <p:nvSpPr>
          <p:cNvPr id="20" name="Shape 18"/>
          <p:cNvSpPr/>
          <p:nvPr/>
        </p:nvSpPr>
        <p:spPr>
          <a:xfrm>
            <a:off x="8275320" y="4754880"/>
            <a:ext cx="237744" cy="237744"/>
          </a:xfrm>
          <a:prstGeom prst="rect">
            <a:avLst/>
          </a:prstGeom>
          <a:solidFill>
            <a:srgbClr val="EAE2F2"/>
          </a:solidFill>
          <a:ln/>
        </p:spPr>
        <p:txBody>
          <a:bodyPr/>
          <a:lstStyle/>
          <a:p>
            <a:endParaRPr lang="en-US"/>
          </a:p>
        </p:txBody>
      </p:sp>
      <p:sp>
        <p:nvSpPr>
          <p:cNvPr id="21" name="Shape 19"/>
          <p:cNvSpPr/>
          <p:nvPr/>
        </p:nvSpPr>
        <p:spPr>
          <a:xfrm>
            <a:off x="8549640" y="4754880"/>
            <a:ext cx="237744" cy="237744"/>
          </a:xfrm>
          <a:prstGeom prst="rect">
            <a:avLst/>
          </a:prstGeom>
          <a:solidFill>
            <a:srgbClr val="EAE2F2"/>
          </a:solidFill>
          <a:ln/>
        </p:spPr>
        <p:txBody>
          <a:bodyPr/>
          <a:lstStyle/>
          <a:p>
            <a:endParaRPr lang="en-US"/>
          </a:p>
        </p:txBody>
      </p:sp>
      <p:sp>
        <p:nvSpPr>
          <p:cNvPr id="22" name="Shape 20"/>
          <p:cNvSpPr/>
          <p:nvPr/>
        </p:nvSpPr>
        <p:spPr>
          <a:xfrm>
            <a:off x="8823960" y="4754880"/>
            <a:ext cx="237744" cy="237744"/>
          </a:xfrm>
          <a:prstGeom prst="rect">
            <a:avLst/>
          </a:prstGeom>
          <a:solidFill>
            <a:srgbClr val="EAE2F2"/>
          </a:solidFill>
          <a:ln/>
        </p:spPr>
        <p:txBody>
          <a:bodyPr/>
          <a:lstStyle/>
          <a:p>
            <a:endParaRPr lang="en-US"/>
          </a:p>
        </p:txBody>
      </p:sp>
      <p:sp>
        <p:nvSpPr>
          <p:cNvPr id="23" name="Shape 21"/>
          <p:cNvSpPr/>
          <p:nvPr/>
        </p:nvSpPr>
        <p:spPr>
          <a:xfrm>
            <a:off x="9098280" y="4754880"/>
            <a:ext cx="237744" cy="237744"/>
          </a:xfrm>
          <a:prstGeom prst="rect">
            <a:avLst/>
          </a:prstGeom>
          <a:solidFill>
            <a:srgbClr val="EAE2F2"/>
          </a:solidFill>
          <a:ln/>
        </p:spPr>
        <p:txBody>
          <a:bodyPr/>
          <a:lstStyle/>
          <a:p>
            <a:endParaRPr lang="en-US"/>
          </a:p>
        </p:txBody>
      </p:sp>
      <p:sp>
        <p:nvSpPr>
          <p:cNvPr id="24" name="Shape 22"/>
          <p:cNvSpPr/>
          <p:nvPr/>
        </p:nvSpPr>
        <p:spPr>
          <a:xfrm>
            <a:off x="9372600" y="4754880"/>
            <a:ext cx="237744" cy="237744"/>
          </a:xfrm>
          <a:prstGeom prst="rect">
            <a:avLst/>
          </a:prstGeom>
          <a:solidFill>
            <a:srgbClr val="EAE2F2"/>
          </a:solidFill>
          <a:ln/>
        </p:spPr>
        <p:txBody>
          <a:bodyPr/>
          <a:lstStyle/>
          <a:p>
            <a:endParaRPr lang="en-US"/>
          </a:p>
        </p:txBody>
      </p:sp>
      <p:sp>
        <p:nvSpPr>
          <p:cNvPr id="25" name="Shape 23"/>
          <p:cNvSpPr/>
          <p:nvPr/>
        </p:nvSpPr>
        <p:spPr>
          <a:xfrm>
            <a:off x="9646920" y="4754880"/>
            <a:ext cx="237744" cy="237744"/>
          </a:xfrm>
          <a:prstGeom prst="rect">
            <a:avLst/>
          </a:prstGeom>
          <a:solidFill>
            <a:srgbClr val="EAE2F2"/>
          </a:solidFill>
          <a:ln/>
        </p:spPr>
        <p:txBody>
          <a:bodyPr/>
          <a:lstStyle/>
          <a:p>
            <a:endParaRPr lang="en-US"/>
          </a:p>
        </p:txBody>
      </p:sp>
      <p:sp>
        <p:nvSpPr>
          <p:cNvPr id="26" name="Shape 24"/>
          <p:cNvSpPr/>
          <p:nvPr/>
        </p:nvSpPr>
        <p:spPr>
          <a:xfrm>
            <a:off x="9921240" y="4754880"/>
            <a:ext cx="237744" cy="237744"/>
          </a:xfrm>
          <a:prstGeom prst="rect">
            <a:avLst/>
          </a:prstGeom>
          <a:solidFill>
            <a:srgbClr val="EAE2F2"/>
          </a:solidFill>
          <a:ln/>
        </p:spPr>
        <p:txBody>
          <a:bodyPr/>
          <a:lstStyle/>
          <a:p>
            <a:endParaRPr lang="en-US"/>
          </a:p>
        </p:txBody>
      </p:sp>
      <p:sp>
        <p:nvSpPr>
          <p:cNvPr id="27" name="Shape 25"/>
          <p:cNvSpPr/>
          <p:nvPr/>
        </p:nvSpPr>
        <p:spPr>
          <a:xfrm>
            <a:off x="10195560" y="4754880"/>
            <a:ext cx="237744" cy="237744"/>
          </a:xfrm>
          <a:prstGeom prst="rect">
            <a:avLst/>
          </a:prstGeom>
          <a:solidFill>
            <a:srgbClr val="EAE2F2"/>
          </a:solidFill>
          <a:ln/>
        </p:spPr>
        <p:txBody>
          <a:bodyPr/>
          <a:lstStyle/>
          <a:p>
            <a:endParaRPr lang="en-US"/>
          </a:p>
        </p:txBody>
      </p:sp>
      <p:sp>
        <p:nvSpPr>
          <p:cNvPr id="28" name="Shape 26"/>
          <p:cNvSpPr/>
          <p:nvPr/>
        </p:nvSpPr>
        <p:spPr>
          <a:xfrm>
            <a:off x="10469880" y="4754880"/>
            <a:ext cx="237744" cy="237744"/>
          </a:xfrm>
          <a:prstGeom prst="rect">
            <a:avLst/>
          </a:prstGeom>
          <a:solidFill>
            <a:srgbClr val="EAE2F2"/>
          </a:solidFill>
          <a:ln/>
        </p:spPr>
        <p:txBody>
          <a:bodyPr/>
          <a:lstStyle/>
          <a:p>
            <a:endParaRPr lang="en-US"/>
          </a:p>
        </p:txBody>
      </p:sp>
      <p:sp>
        <p:nvSpPr>
          <p:cNvPr id="29" name="Shape 27"/>
          <p:cNvSpPr/>
          <p:nvPr/>
        </p:nvSpPr>
        <p:spPr>
          <a:xfrm>
            <a:off x="10744200" y="4754880"/>
            <a:ext cx="237744" cy="237744"/>
          </a:xfrm>
          <a:prstGeom prst="rect">
            <a:avLst/>
          </a:prstGeom>
          <a:solidFill>
            <a:srgbClr val="EAE2F2"/>
          </a:solidFill>
          <a:ln/>
        </p:spPr>
        <p:txBody>
          <a:bodyPr/>
          <a:lstStyle/>
          <a:p>
            <a:endParaRPr lang="en-US"/>
          </a:p>
        </p:txBody>
      </p:sp>
      <p:sp>
        <p:nvSpPr>
          <p:cNvPr id="30" name="Shape 28"/>
          <p:cNvSpPr/>
          <p:nvPr/>
        </p:nvSpPr>
        <p:spPr>
          <a:xfrm>
            <a:off x="11018520" y="4754880"/>
            <a:ext cx="237744" cy="237744"/>
          </a:xfrm>
          <a:prstGeom prst="rect">
            <a:avLst/>
          </a:prstGeom>
          <a:solidFill>
            <a:srgbClr val="EAE2F2"/>
          </a:solidFill>
          <a:ln/>
        </p:spPr>
        <p:txBody>
          <a:bodyPr/>
          <a:lstStyle/>
          <a:p>
            <a:endParaRPr lang="en-US"/>
          </a:p>
        </p:txBody>
      </p:sp>
      <p:sp>
        <p:nvSpPr>
          <p:cNvPr id="31" name="Shape 29"/>
          <p:cNvSpPr/>
          <p:nvPr/>
        </p:nvSpPr>
        <p:spPr>
          <a:xfrm>
            <a:off x="6903720" y="5029200"/>
            <a:ext cx="237744" cy="237744"/>
          </a:xfrm>
          <a:prstGeom prst="rect">
            <a:avLst/>
          </a:prstGeom>
          <a:solidFill>
            <a:srgbClr val="EAE2F2"/>
          </a:solidFill>
          <a:ln/>
        </p:spPr>
        <p:txBody>
          <a:bodyPr/>
          <a:lstStyle/>
          <a:p>
            <a:endParaRPr lang="en-US"/>
          </a:p>
        </p:txBody>
      </p:sp>
      <p:sp>
        <p:nvSpPr>
          <p:cNvPr id="32" name="Shape 30"/>
          <p:cNvSpPr/>
          <p:nvPr/>
        </p:nvSpPr>
        <p:spPr>
          <a:xfrm>
            <a:off x="7178040" y="5029200"/>
            <a:ext cx="237744" cy="237744"/>
          </a:xfrm>
          <a:prstGeom prst="rect">
            <a:avLst/>
          </a:prstGeom>
          <a:solidFill>
            <a:srgbClr val="EAE2F2"/>
          </a:solidFill>
          <a:ln/>
        </p:spPr>
        <p:txBody>
          <a:bodyPr/>
          <a:lstStyle/>
          <a:p>
            <a:endParaRPr lang="en-US"/>
          </a:p>
        </p:txBody>
      </p:sp>
      <p:sp>
        <p:nvSpPr>
          <p:cNvPr id="33" name="Shape 31"/>
          <p:cNvSpPr/>
          <p:nvPr/>
        </p:nvSpPr>
        <p:spPr>
          <a:xfrm>
            <a:off x="7452360" y="5029200"/>
            <a:ext cx="237744" cy="237744"/>
          </a:xfrm>
          <a:prstGeom prst="rect">
            <a:avLst/>
          </a:prstGeom>
          <a:solidFill>
            <a:srgbClr val="EAE2F2"/>
          </a:solidFill>
          <a:ln/>
        </p:spPr>
        <p:txBody>
          <a:bodyPr/>
          <a:lstStyle/>
          <a:p>
            <a:endParaRPr lang="en-US"/>
          </a:p>
        </p:txBody>
      </p:sp>
      <p:sp>
        <p:nvSpPr>
          <p:cNvPr id="34" name="Shape 32"/>
          <p:cNvSpPr/>
          <p:nvPr/>
        </p:nvSpPr>
        <p:spPr>
          <a:xfrm>
            <a:off x="7726680" y="5029200"/>
            <a:ext cx="237744" cy="237744"/>
          </a:xfrm>
          <a:prstGeom prst="rect">
            <a:avLst/>
          </a:prstGeom>
          <a:solidFill>
            <a:srgbClr val="EAE2F2"/>
          </a:solidFill>
          <a:ln/>
        </p:spPr>
        <p:txBody>
          <a:bodyPr/>
          <a:lstStyle/>
          <a:p>
            <a:endParaRPr lang="en-US"/>
          </a:p>
        </p:txBody>
      </p:sp>
      <p:sp>
        <p:nvSpPr>
          <p:cNvPr id="35" name="Shape 33"/>
          <p:cNvSpPr/>
          <p:nvPr/>
        </p:nvSpPr>
        <p:spPr>
          <a:xfrm>
            <a:off x="8001000" y="5029200"/>
            <a:ext cx="237744" cy="237744"/>
          </a:xfrm>
          <a:prstGeom prst="rect">
            <a:avLst/>
          </a:prstGeom>
          <a:solidFill>
            <a:srgbClr val="EAE2F2"/>
          </a:solidFill>
          <a:ln/>
        </p:spPr>
        <p:txBody>
          <a:bodyPr/>
          <a:lstStyle/>
          <a:p>
            <a:endParaRPr lang="en-US"/>
          </a:p>
        </p:txBody>
      </p:sp>
      <p:sp>
        <p:nvSpPr>
          <p:cNvPr id="36" name="Shape 34"/>
          <p:cNvSpPr/>
          <p:nvPr/>
        </p:nvSpPr>
        <p:spPr>
          <a:xfrm>
            <a:off x="8275320" y="5029200"/>
            <a:ext cx="237744" cy="237744"/>
          </a:xfrm>
          <a:prstGeom prst="rect">
            <a:avLst/>
          </a:prstGeom>
          <a:solidFill>
            <a:srgbClr val="EAE2F2"/>
          </a:solidFill>
          <a:ln/>
        </p:spPr>
        <p:txBody>
          <a:bodyPr/>
          <a:lstStyle/>
          <a:p>
            <a:endParaRPr lang="en-US"/>
          </a:p>
        </p:txBody>
      </p:sp>
      <p:sp>
        <p:nvSpPr>
          <p:cNvPr id="37" name="Shape 35"/>
          <p:cNvSpPr/>
          <p:nvPr/>
        </p:nvSpPr>
        <p:spPr>
          <a:xfrm>
            <a:off x="8549640" y="5029200"/>
            <a:ext cx="237744" cy="237744"/>
          </a:xfrm>
          <a:prstGeom prst="rect">
            <a:avLst/>
          </a:prstGeom>
          <a:solidFill>
            <a:srgbClr val="EAE2F2"/>
          </a:solidFill>
          <a:ln/>
        </p:spPr>
        <p:txBody>
          <a:bodyPr/>
          <a:lstStyle/>
          <a:p>
            <a:endParaRPr lang="en-US"/>
          </a:p>
        </p:txBody>
      </p:sp>
      <p:sp>
        <p:nvSpPr>
          <p:cNvPr id="38" name="Shape 36"/>
          <p:cNvSpPr/>
          <p:nvPr/>
        </p:nvSpPr>
        <p:spPr>
          <a:xfrm>
            <a:off x="8823960" y="5029200"/>
            <a:ext cx="237744" cy="237744"/>
          </a:xfrm>
          <a:prstGeom prst="rect">
            <a:avLst/>
          </a:prstGeom>
          <a:solidFill>
            <a:srgbClr val="EAE2F2"/>
          </a:solidFill>
          <a:ln/>
        </p:spPr>
        <p:txBody>
          <a:bodyPr/>
          <a:lstStyle/>
          <a:p>
            <a:endParaRPr lang="en-US"/>
          </a:p>
        </p:txBody>
      </p:sp>
      <p:sp>
        <p:nvSpPr>
          <p:cNvPr id="39" name="Shape 37"/>
          <p:cNvSpPr/>
          <p:nvPr/>
        </p:nvSpPr>
        <p:spPr>
          <a:xfrm>
            <a:off x="9098280" y="5029200"/>
            <a:ext cx="237744" cy="237744"/>
          </a:xfrm>
          <a:prstGeom prst="rect">
            <a:avLst/>
          </a:prstGeom>
          <a:solidFill>
            <a:srgbClr val="EAE2F2"/>
          </a:solidFill>
          <a:ln/>
        </p:spPr>
        <p:txBody>
          <a:bodyPr/>
          <a:lstStyle/>
          <a:p>
            <a:endParaRPr lang="en-US"/>
          </a:p>
        </p:txBody>
      </p:sp>
      <p:sp>
        <p:nvSpPr>
          <p:cNvPr id="40" name="Shape 38"/>
          <p:cNvSpPr/>
          <p:nvPr/>
        </p:nvSpPr>
        <p:spPr>
          <a:xfrm>
            <a:off x="9372600" y="5029200"/>
            <a:ext cx="237744" cy="237744"/>
          </a:xfrm>
          <a:prstGeom prst="rect">
            <a:avLst/>
          </a:prstGeom>
          <a:solidFill>
            <a:srgbClr val="EAE2F2"/>
          </a:solidFill>
          <a:ln/>
        </p:spPr>
        <p:txBody>
          <a:bodyPr/>
          <a:lstStyle/>
          <a:p>
            <a:endParaRPr lang="en-US"/>
          </a:p>
        </p:txBody>
      </p:sp>
      <p:sp>
        <p:nvSpPr>
          <p:cNvPr id="41" name="Shape 39"/>
          <p:cNvSpPr/>
          <p:nvPr/>
        </p:nvSpPr>
        <p:spPr>
          <a:xfrm>
            <a:off x="9646920" y="5029200"/>
            <a:ext cx="237744" cy="237744"/>
          </a:xfrm>
          <a:prstGeom prst="rect">
            <a:avLst/>
          </a:prstGeom>
          <a:solidFill>
            <a:srgbClr val="EAE2F2"/>
          </a:solidFill>
          <a:ln/>
        </p:spPr>
        <p:txBody>
          <a:bodyPr/>
          <a:lstStyle/>
          <a:p>
            <a:endParaRPr lang="en-US"/>
          </a:p>
        </p:txBody>
      </p:sp>
      <p:sp>
        <p:nvSpPr>
          <p:cNvPr id="42" name="Shape 40"/>
          <p:cNvSpPr/>
          <p:nvPr/>
        </p:nvSpPr>
        <p:spPr>
          <a:xfrm>
            <a:off x="9921240" y="5029200"/>
            <a:ext cx="237744" cy="237744"/>
          </a:xfrm>
          <a:prstGeom prst="rect">
            <a:avLst/>
          </a:prstGeom>
          <a:solidFill>
            <a:srgbClr val="D6336C"/>
          </a:solidFill>
          <a:ln/>
        </p:spPr>
        <p:txBody>
          <a:bodyPr/>
          <a:lstStyle/>
          <a:p>
            <a:endParaRPr lang="en-US"/>
          </a:p>
        </p:txBody>
      </p:sp>
      <p:sp>
        <p:nvSpPr>
          <p:cNvPr id="43" name="Shape 41"/>
          <p:cNvSpPr/>
          <p:nvPr/>
        </p:nvSpPr>
        <p:spPr>
          <a:xfrm>
            <a:off x="10195560" y="5029200"/>
            <a:ext cx="237744" cy="237744"/>
          </a:xfrm>
          <a:prstGeom prst="rect">
            <a:avLst/>
          </a:prstGeom>
          <a:solidFill>
            <a:srgbClr val="D6336C"/>
          </a:solidFill>
          <a:ln/>
        </p:spPr>
        <p:txBody>
          <a:bodyPr/>
          <a:lstStyle/>
          <a:p>
            <a:endParaRPr lang="en-US"/>
          </a:p>
        </p:txBody>
      </p:sp>
      <p:sp>
        <p:nvSpPr>
          <p:cNvPr id="44" name="Shape 42"/>
          <p:cNvSpPr/>
          <p:nvPr/>
        </p:nvSpPr>
        <p:spPr>
          <a:xfrm>
            <a:off x="10469880" y="5029200"/>
            <a:ext cx="237744" cy="237744"/>
          </a:xfrm>
          <a:prstGeom prst="rect">
            <a:avLst/>
          </a:prstGeom>
          <a:solidFill>
            <a:srgbClr val="EAE2F2"/>
          </a:solidFill>
          <a:ln/>
        </p:spPr>
        <p:txBody>
          <a:bodyPr/>
          <a:lstStyle/>
          <a:p>
            <a:endParaRPr lang="en-US"/>
          </a:p>
        </p:txBody>
      </p:sp>
      <p:sp>
        <p:nvSpPr>
          <p:cNvPr id="45" name="Shape 43"/>
          <p:cNvSpPr/>
          <p:nvPr/>
        </p:nvSpPr>
        <p:spPr>
          <a:xfrm>
            <a:off x="10744200" y="5029200"/>
            <a:ext cx="237744" cy="237744"/>
          </a:xfrm>
          <a:prstGeom prst="rect">
            <a:avLst/>
          </a:prstGeom>
          <a:solidFill>
            <a:srgbClr val="EAE2F2"/>
          </a:solidFill>
          <a:ln/>
        </p:spPr>
        <p:txBody>
          <a:bodyPr/>
          <a:lstStyle/>
          <a:p>
            <a:endParaRPr lang="en-US"/>
          </a:p>
        </p:txBody>
      </p:sp>
      <p:sp>
        <p:nvSpPr>
          <p:cNvPr id="46" name="Shape 44"/>
          <p:cNvSpPr/>
          <p:nvPr/>
        </p:nvSpPr>
        <p:spPr>
          <a:xfrm>
            <a:off x="11018520" y="5029200"/>
            <a:ext cx="237744" cy="237744"/>
          </a:xfrm>
          <a:prstGeom prst="rect">
            <a:avLst/>
          </a:prstGeom>
          <a:solidFill>
            <a:srgbClr val="EAE2F2"/>
          </a:solidFill>
          <a:ln/>
        </p:spPr>
        <p:txBody>
          <a:bodyPr/>
          <a:lstStyle/>
          <a:p>
            <a:endParaRPr lang="en-US"/>
          </a:p>
        </p:txBody>
      </p:sp>
      <p:sp>
        <p:nvSpPr>
          <p:cNvPr id="47" name="Shape 45"/>
          <p:cNvSpPr/>
          <p:nvPr/>
        </p:nvSpPr>
        <p:spPr>
          <a:xfrm>
            <a:off x="6903720" y="5303520"/>
            <a:ext cx="237744" cy="237744"/>
          </a:xfrm>
          <a:prstGeom prst="rect">
            <a:avLst/>
          </a:prstGeom>
          <a:solidFill>
            <a:srgbClr val="EAE2F2"/>
          </a:solidFill>
          <a:ln/>
        </p:spPr>
        <p:txBody>
          <a:bodyPr/>
          <a:lstStyle/>
          <a:p>
            <a:endParaRPr lang="en-US"/>
          </a:p>
        </p:txBody>
      </p:sp>
      <p:sp>
        <p:nvSpPr>
          <p:cNvPr id="48" name="Shape 46"/>
          <p:cNvSpPr/>
          <p:nvPr/>
        </p:nvSpPr>
        <p:spPr>
          <a:xfrm>
            <a:off x="7178040" y="5303520"/>
            <a:ext cx="237744" cy="237744"/>
          </a:xfrm>
          <a:prstGeom prst="rect">
            <a:avLst/>
          </a:prstGeom>
          <a:solidFill>
            <a:srgbClr val="EAE2F2"/>
          </a:solidFill>
          <a:ln/>
        </p:spPr>
        <p:txBody>
          <a:bodyPr/>
          <a:lstStyle/>
          <a:p>
            <a:endParaRPr lang="en-US"/>
          </a:p>
        </p:txBody>
      </p:sp>
      <p:sp>
        <p:nvSpPr>
          <p:cNvPr id="49" name="Shape 47"/>
          <p:cNvSpPr/>
          <p:nvPr/>
        </p:nvSpPr>
        <p:spPr>
          <a:xfrm>
            <a:off x="7452360" y="5303520"/>
            <a:ext cx="237744" cy="237744"/>
          </a:xfrm>
          <a:prstGeom prst="rect">
            <a:avLst/>
          </a:prstGeom>
          <a:solidFill>
            <a:srgbClr val="EAE2F2"/>
          </a:solidFill>
          <a:ln/>
        </p:spPr>
        <p:txBody>
          <a:bodyPr/>
          <a:lstStyle/>
          <a:p>
            <a:endParaRPr lang="en-US"/>
          </a:p>
        </p:txBody>
      </p:sp>
      <p:sp>
        <p:nvSpPr>
          <p:cNvPr id="50" name="Shape 48"/>
          <p:cNvSpPr/>
          <p:nvPr/>
        </p:nvSpPr>
        <p:spPr>
          <a:xfrm>
            <a:off x="7726680" y="5303520"/>
            <a:ext cx="237744" cy="237744"/>
          </a:xfrm>
          <a:prstGeom prst="rect">
            <a:avLst/>
          </a:prstGeom>
          <a:solidFill>
            <a:srgbClr val="EAE2F2"/>
          </a:solidFill>
          <a:ln/>
        </p:spPr>
        <p:txBody>
          <a:bodyPr/>
          <a:lstStyle/>
          <a:p>
            <a:endParaRPr lang="en-US"/>
          </a:p>
        </p:txBody>
      </p:sp>
      <p:sp>
        <p:nvSpPr>
          <p:cNvPr id="51" name="Shape 49"/>
          <p:cNvSpPr/>
          <p:nvPr/>
        </p:nvSpPr>
        <p:spPr>
          <a:xfrm>
            <a:off x="8001000" y="5303520"/>
            <a:ext cx="237744" cy="237744"/>
          </a:xfrm>
          <a:prstGeom prst="rect">
            <a:avLst/>
          </a:prstGeom>
          <a:solidFill>
            <a:srgbClr val="D6336C"/>
          </a:solidFill>
          <a:ln/>
        </p:spPr>
        <p:txBody>
          <a:bodyPr/>
          <a:lstStyle/>
          <a:p>
            <a:endParaRPr lang="en-US"/>
          </a:p>
        </p:txBody>
      </p:sp>
      <p:sp>
        <p:nvSpPr>
          <p:cNvPr id="52" name="Shape 50"/>
          <p:cNvSpPr/>
          <p:nvPr/>
        </p:nvSpPr>
        <p:spPr>
          <a:xfrm>
            <a:off x="8275320" y="5303520"/>
            <a:ext cx="237744" cy="237744"/>
          </a:xfrm>
          <a:prstGeom prst="rect">
            <a:avLst/>
          </a:prstGeom>
          <a:solidFill>
            <a:srgbClr val="EAE2F2"/>
          </a:solidFill>
          <a:ln/>
        </p:spPr>
        <p:txBody>
          <a:bodyPr/>
          <a:lstStyle/>
          <a:p>
            <a:endParaRPr lang="en-US"/>
          </a:p>
        </p:txBody>
      </p:sp>
      <p:sp>
        <p:nvSpPr>
          <p:cNvPr id="53" name="Shape 51"/>
          <p:cNvSpPr/>
          <p:nvPr/>
        </p:nvSpPr>
        <p:spPr>
          <a:xfrm>
            <a:off x="8549640" y="5303520"/>
            <a:ext cx="237744" cy="237744"/>
          </a:xfrm>
          <a:prstGeom prst="rect">
            <a:avLst/>
          </a:prstGeom>
          <a:solidFill>
            <a:srgbClr val="EAE2F2"/>
          </a:solidFill>
          <a:ln/>
        </p:spPr>
        <p:txBody>
          <a:bodyPr/>
          <a:lstStyle/>
          <a:p>
            <a:endParaRPr lang="en-US"/>
          </a:p>
        </p:txBody>
      </p:sp>
      <p:sp>
        <p:nvSpPr>
          <p:cNvPr id="54" name="Shape 52"/>
          <p:cNvSpPr/>
          <p:nvPr/>
        </p:nvSpPr>
        <p:spPr>
          <a:xfrm>
            <a:off x="8823960" y="5303520"/>
            <a:ext cx="237744" cy="237744"/>
          </a:xfrm>
          <a:prstGeom prst="rect">
            <a:avLst/>
          </a:prstGeom>
          <a:solidFill>
            <a:srgbClr val="EAE2F2"/>
          </a:solidFill>
          <a:ln/>
        </p:spPr>
        <p:txBody>
          <a:bodyPr/>
          <a:lstStyle/>
          <a:p>
            <a:endParaRPr lang="en-US"/>
          </a:p>
        </p:txBody>
      </p:sp>
      <p:sp>
        <p:nvSpPr>
          <p:cNvPr id="55" name="Shape 53"/>
          <p:cNvSpPr/>
          <p:nvPr/>
        </p:nvSpPr>
        <p:spPr>
          <a:xfrm>
            <a:off x="9098280" y="5303520"/>
            <a:ext cx="237744" cy="237744"/>
          </a:xfrm>
          <a:prstGeom prst="rect">
            <a:avLst/>
          </a:prstGeom>
          <a:solidFill>
            <a:srgbClr val="EAE2F2"/>
          </a:solidFill>
          <a:ln/>
        </p:spPr>
        <p:txBody>
          <a:bodyPr/>
          <a:lstStyle/>
          <a:p>
            <a:endParaRPr lang="en-US"/>
          </a:p>
        </p:txBody>
      </p:sp>
      <p:sp>
        <p:nvSpPr>
          <p:cNvPr id="56" name="Shape 54"/>
          <p:cNvSpPr/>
          <p:nvPr/>
        </p:nvSpPr>
        <p:spPr>
          <a:xfrm>
            <a:off x="9372600" y="5303520"/>
            <a:ext cx="237744" cy="237744"/>
          </a:xfrm>
          <a:prstGeom prst="rect">
            <a:avLst/>
          </a:prstGeom>
          <a:solidFill>
            <a:srgbClr val="EAE2F2"/>
          </a:solidFill>
          <a:ln/>
        </p:spPr>
        <p:txBody>
          <a:bodyPr/>
          <a:lstStyle/>
          <a:p>
            <a:endParaRPr lang="en-US"/>
          </a:p>
        </p:txBody>
      </p:sp>
      <p:sp>
        <p:nvSpPr>
          <p:cNvPr id="57" name="Shape 55"/>
          <p:cNvSpPr/>
          <p:nvPr/>
        </p:nvSpPr>
        <p:spPr>
          <a:xfrm>
            <a:off x="9646920" y="5303520"/>
            <a:ext cx="237744" cy="237744"/>
          </a:xfrm>
          <a:prstGeom prst="rect">
            <a:avLst/>
          </a:prstGeom>
          <a:solidFill>
            <a:srgbClr val="EAE2F2"/>
          </a:solidFill>
          <a:ln/>
        </p:spPr>
        <p:txBody>
          <a:bodyPr/>
          <a:lstStyle/>
          <a:p>
            <a:endParaRPr lang="en-US"/>
          </a:p>
        </p:txBody>
      </p:sp>
      <p:sp>
        <p:nvSpPr>
          <p:cNvPr id="58" name="Shape 56"/>
          <p:cNvSpPr/>
          <p:nvPr/>
        </p:nvSpPr>
        <p:spPr>
          <a:xfrm>
            <a:off x="9921240" y="5303520"/>
            <a:ext cx="237744" cy="237744"/>
          </a:xfrm>
          <a:prstGeom prst="rect">
            <a:avLst/>
          </a:prstGeom>
          <a:solidFill>
            <a:srgbClr val="EAE2F2"/>
          </a:solidFill>
          <a:ln/>
        </p:spPr>
        <p:txBody>
          <a:bodyPr/>
          <a:lstStyle/>
          <a:p>
            <a:endParaRPr lang="en-US"/>
          </a:p>
        </p:txBody>
      </p:sp>
      <p:sp>
        <p:nvSpPr>
          <p:cNvPr id="59" name="Shape 57"/>
          <p:cNvSpPr/>
          <p:nvPr/>
        </p:nvSpPr>
        <p:spPr>
          <a:xfrm>
            <a:off x="10195560" y="5303520"/>
            <a:ext cx="237744" cy="237744"/>
          </a:xfrm>
          <a:prstGeom prst="rect">
            <a:avLst/>
          </a:prstGeom>
          <a:solidFill>
            <a:srgbClr val="EAE2F2"/>
          </a:solidFill>
          <a:ln/>
        </p:spPr>
        <p:txBody>
          <a:bodyPr/>
          <a:lstStyle/>
          <a:p>
            <a:endParaRPr lang="en-US"/>
          </a:p>
        </p:txBody>
      </p:sp>
      <p:sp>
        <p:nvSpPr>
          <p:cNvPr id="60" name="Shape 58"/>
          <p:cNvSpPr/>
          <p:nvPr/>
        </p:nvSpPr>
        <p:spPr>
          <a:xfrm>
            <a:off x="10469880" y="5303520"/>
            <a:ext cx="237744" cy="237744"/>
          </a:xfrm>
          <a:prstGeom prst="rect">
            <a:avLst/>
          </a:prstGeom>
          <a:solidFill>
            <a:srgbClr val="EAE2F2"/>
          </a:solidFill>
          <a:ln/>
        </p:spPr>
        <p:txBody>
          <a:bodyPr/>
          <a:lstStyle/>
          <a:p>
            <a:endParaRPr lang="en-US"/>
          </a:p>
        </p:txBody>
      </p:sp>
      <p:sp>
        <p:nvSpPr>
          <p:cNvPr id="61" name="Shape 59"/>
          <p:cNvSpPr/>
          <p:nvPr/>
        </p:nvSpPr>
        <p:spPr>
          <a:xfrm>
            <a:off x="10744200" y="5303520"/>
            <a:ext cx="237744" cy="237744"/>
          </a:xfrm>
          <a:prstGeom prst="rect">
            <a:avLst/>
          </a:prstGeom>
          <a:solidFill>
            <a:srgbClr val="EAE2F2"/>
          </a:solidFill>
          <a:ln/>
        </p:spPr>
        <p:txBody>
          <a:bodyPr/>
          <a:lstStyle/>
          <a:p>
            <a:endParaRPr lang="en-US"/>
          </a:p>
        </p:txBody>
      </p:sp>
      <p:sp>
        <p:nvSpPr>
          <p:cNvPr id="62" name="Shape 60"/>
          <p:cNvSpPr/>
          <p:nvPr/>
        </p:nvSpPr>
        <p:spPr>
          <a:xfrm>
            <a:off x="11018520" y="5303520"/>
            <a:ext cx="237744" cy="237744"/>
          </a:xfrm>
          <a:prstGeom prst="rect">
            <a:avLst/>
          </a:prstGeom>
          <a:solidFill>
            <a:srgbClr val="EAE2F2"/>
          </a:solidFill>
          <a:ln/>
        </p:spPr>
        <p:txBody>
          <a:bodyPr/>
          <a:lstStyle/>
          <a:p>
            <a:endParaRPr lang="en-US"/>
          </a:p>
        </p:txBody>
      </p:sp>
      <p:sp>
        <p:nvSpPr>
          <p:cNvPr id="63" name="Shape 61"/>
          <p:cNvSpPr/>
          <p:nvPr/>
        </p:nvSpPr>
        <p:spPr>
          <a:xfrm>
            <a:off x="6903720" y="5577840"/>
            <a:ext cx="237744" cy="237744"/>
          </a:xfrm>
          <a:prstGeom prst="rect">
            <a:avLst/>
          </a:prstGeom>
          <a:solidFill>
            <a:srgbClr val="EAE2F2"/>
          </a:solidFill>
          <a:ln/>
        </p:spPr>
        <p:txBody>
          <a:bodyPr/>
          <a:lstStyle/>
          <a:p>
            <a:endParaRPr lang="en-US"/>
          </a:p>
        </p:txBody>
      </p:sp>
      <p:sp>
        <p:nvSpPr>
          <p:cNvPr id="64" name="Shape 62"/>
          <p:cNvSpPr/>
          <p:nvPr/>
        </p:nvSpPr>
        <p:spPr>
          <a:xfrm>
            <a:off x="7178040" y="5577840"/>
            <a:ext cx="237744" cy="237744"/>
          </a:xfrm>
          <a:prstGeom prst="rect">
            <a:avLst/>
          </a:prstGeom>
          <a:solidFill>
            <a:srgbClr val="EAE2F2"/>
          </a:solidFill>
          <a:ln/>
        </p:spPr>
        <p:txBody>
          <a:bodyPr/>
          <a:lstStyle/>
          <a:p>
            <a:endParaRPr lang="en-US"/>
          </a:p>
        </p:txBody>
      </p:sp>
      <p:sp>
        <p:nvSpPr>
          <p:cNvPr id="65" name="Shape 63"/>
          <p:cNvSpPr/>
          <p:nvPr/>
        </p:nvSpPr>
        <p:spPr>
          <a:xfrm>
            <a:off x="7452360" y="5577840"/>
            <a:ext cx="237744" cy="237744"/>
          </a:xfrm>
          <a:prstGeom prst="rect">
            <a:avLst/>
          </a:prstGeom>
          <a:solidFill>
            <a:srgbClr val="EAE2F2"/>
          </a:solidFill>
          <a:ln/>
        </p:spPr>
        <p:txBody>
          <a:bodyPr/>
          <a:lstStyle/>
          <a:p>
            <a:endParaRPr lang="en-US"/>
          </a:p>
        </p:txBody>
      </p:sp>
      <p:sp>
        <p:nvSpPr>
          <p:cNvPr id="66" name="Shape 64"/>
          <p:cNvSpPr/>
          <p:nvPr/>
        </p:nvSpPr>
        <p:spPr>
          <a:xfrm>
            <a:off x="7726680" y="5577840"/>
            <a:ext cx="237744" cy="237744"/>
          </a:xfrm>
          <a:prstGeom prst="rect">
            <a:avLst/>
          </a:prstGeom>
          <a:solidFill>
            <a:srgbClr val="EAE2F2"/>
          </a:solidFill>
          <a:ln/>
        </p:spPr>
        <p:txBody>
          <a:bodyPr/>
          <a:lstStyle/>
          <a:p>
            <a:endParaRPr lang="en-US"/>
          </a:p>
        </p:txBody>
      </p:sp>
      <p:sp>
        <p:nvSpPr>
          <p:cNvPr id="67" name="Shape 65"/>
          <p:cNvSpPr/>
          <p:nvPr/>
        </p:nvSpPr>
        <p:spPr>
          <a:xfrm>
            <a:off x="8001000" y="5577840"/>
            <a:ext cx="237744" cy="237744"/>
          </a:xfrm>
          <a:prstGeom prst="rect">
            <a:avLst/>
          </a:prstGeom>
          <a:solidFill>
            <a:srgbClr val="EAE2F2"/>
          </a:solidFill>
          <a:ln/>
        </p:spPr>
        <p:txBody>
          <a:bodyPr/>
          <a:lstStyle/>
          <a:p>
            <a:endParaRPr lang="en-US"/>
          </a:p>
        </p:txBody>
      </p:sp>
      <p:sp>
        <p:nvSpPr>
          <p:cNvPr id="68" name="Shape 66"/>
          <p:cNvSpPr/>
          <p:nvPr/>
        </p:nvSpPr>
        <p:spPr>
          <a:xfrm>
            <a:off x="8275320" y="5577840"/>
            <a:ext cx="237744" cy="237744"/>
          </a:xfrm>
          <a:prstGeom prst="rect">
            <a:avLst/>
          </a:prstGeom>
          <a:solidFill>
            <a:srgbClr val="EAE2F2"/>
          </a:solidFill>
          <a:ln/>
        </p:spPr>
        <p:txBody>
          <a:bodyPr/>
          <a:lstStyle/>
          <a:p>
            <a:endParaRPr lang="en-US"/>
          </a:p>
        </p:txBody>
      </p:sp>
      <p:sp>
        <p:nvSpPr>
          <p:cNvPr id="69" name="Shape 67"/>
          <p:cNvSpPr/>
          <p:nvPr/>
        </p:nvSpPr>
        <p:spPr>
          <a:xfrm>
            <a:off x="8549640" y="5577840"/>
            <a:ext cx="237744" cy="237744"/>
          </a:xfrm>
          <a:prstGeom prst="rect">
            <a:avLst/>
          </a:prstGeom>
          <a:solidFill>
            <a:srgbClr val="EAE2F2"/>
          </a:solidFill>
          <a:ln/>
        </p:spPr>
        <p:txBody>
          <a:bodyPr/>
          <a:lstStyle/>
          <a:p>
            <a:endParaRPr lang="en-US"/>
          </a:p>
        </p:txBody>
      </p:sp>
      <p:sp>
        <p:nvSpPr>
          <p:cNvPr id="70" name="Shape 68"/>
          <p:cNvSpPr/>
          <p:nvPr/>
        </p:nvSpPr>
        <p:spPr>
          <a:xfrm>
            <a:off x="8823960" y="5577840"/>
            <a:ext cx="237744" cy="237744"/>
          </a:xfrm>
          <a:prstGeom prst="rect">
            <a:avLst/>
          </a:prstGeom>
          <a:solidFill>
            <a:srgbClr val="EAE2F2"/>
          </a:solidFill>
          <a:ln/>
        </p:spPr>
        <p:txBody>
          <a:bodyPr/>
          <a:lstStyle/>
          <a:p>
            <a:endParaRPr lang="en-US"/>
          </a:p>
        </p:txBody>
      </p:sp>
      <p:sp>
        <p:nvSpPr>
          <p:cNvPr id="71" name="Shape 69"/>
          <p:cNvSpPr/>
          <p:nvPr/>
        </p:nvSpPr>
        <p:spPr>
          <a:xfrm>
            <a:off x="9098280" y="5577840"/>
            <a:ext cx="237744" cy="237744"/>
          </a:xfrm>
          <a:prstGeom prst="rect">
            <a:avLst/>
          </a:prstGeom>
          <a:solidFill>
            <a:srgbClr val="EAE2F2"/>
          </a:solidFill>
          <a:ln/>
        </p:spPr>
        <p:txBody>
          <a:bodyPr/>
          <a:lstStyle/>
          <a:p>
            <a:endParaRPr lang="en-US"/>
          </a:p>
        </p:txBody>
      </p:sp>
      <p:sp>
        <p:nvSpPr>
          <p:cNvPr id="72" name="Shape 70"/>
          <p:cNvSpPr/>
          <p:nvPr/>
        </p:nvSpPr>
        <p:spPr>
          <a:xfrm>
            <a:off x="9372600" y="5577840"/>
            <a:ext cx="237744" cy="237744"/>
          </a:xfrm>
          <a:prstGeom prst="rect">
            <a:avLst/>
          </a:prstGeom>
          <a:solidFill>
            <a:srgbClr val="EAE2F2"/>
          </a:solidFill>
          <a:ln/>
        </p:spPr>
        <p:txBody>
          <a:bodyPr/>
          <a:lstStyle/>
          <a:p>
            <a:endParaRPr lang="en-US"/>
          </a:p>
        </p:txBody>
      </p:sp>
      <p:sp>
        <p:nvSpPr>
          <p:cNvPr id="73" name="Shape 71"/>
          <p:cNvSpPr/>
          <p:nvPr/>
        </p:nvSpPr>
        <p:spPr>
          <a:xfrm>
            <a:off x="9646920" y="5577840"/>
            <a:ext cx="237744" cy="237744"/>
          </a:xfrm>
          <a:prstGeom prst="rect">
            <a:avLst/>
          </a:prstGeom>
          <a:solidFill>
            <a:srgbClr val="EAE2F2"/>
          </a:solidFill>
          <a:ln/>
        </p:spPr>
        <p:txBody>
          <a:bodyPr/>
          <a:lstStyle/>
          <a:p>
            <a:endParaRPr lang="en-US"/>
          </a:p>
        </p:txBody>
      </p:sp>
      <p:sp>
        <p:nvSpPr>
          <p:cNvPr id="74" name="Shape 72"/>
          <p:cNvSpPr/>
          <p:nvPr/>
        </p:nvSpPr>
        <p:spPr>
          <a:xfrm>
            <a:off x="9921240" y="5577840"/>
            <a:ext cx="237744" cy="237744"/>
          </a:xfrm>
          <a:prstGeom prst="rect">
            <a:avLst/>
          </a:prstGeom>
          <a:solidFill>
            <a:srgbClr val="EAE2F2"/>
          </a:solidFill>
          <a:ln/>
        </p:spPr>
        <p:txBody>
          <a:bodyPr/>
          <a:lstStyle/>
          <a:p>
            <a:endParaRPr lang="en-US"/>
          </a:p>
        </p:txBody>
      </p:sp>
      <p:sp>
        <p:nvSpPr>
          <p:cNvPr id="75" name="Shape 73"/>
          <p:cNvSpPr/>
          <p:nvPr/>
        </p:nvSpPr>
        <p:spPr>
          <a:xfrm>
            <a:off x="10195560" y="5577840"/>
            <a:ext cx="237744" cy="237744"/>
          </a:xfrm>
          <a:prstGeom prst="rect">
            <a:avLst/>
          </a:prstGeom>
          <a:solidFill>
            <a:srgbClr val="EAE2F2"/>
          </a:solidFill>
          <a:ln/>
        </p:spPr>
        <p:txBody>
          <a:bodyPr/>
          <a:lstStyle/>
          <a:p>
            <a:endParaRPr lang="en-US"/>
          </a:p>
        </p:txBody>
      </p:sp>
      <p:sp>
        <p:nvSpPr>
          <p:cNvPr id="76" name="Shape 74"/>
          <p:cNvSpPr/>
          <p:nvPr/>
        </p:nvSpPr>
        <p:spPr>
          <a:xfrm>
            <a:off x="10469880" y="5577840"/>
            <a:ext cx="237744" cy="237744"/>
          </a:xfrm>
          <a:prstGeom prst="rect">
            <a:avLst/>
          </a:prstGeom>
          <a:solidFill>
            <a:srgbClr val="EAE2F2"/>
          </a:solidFill>
          <a:ln/>
        </p:spPr>
        <p:txBody>
          <a:bodyPr/>
          <a:lstStyle/>
          <a:p>
            <a:endParaRPr lang="en-US"/>
          </a:p>
        </p:txBody>
      </p:sp>
      <p:sp>
        <p:nvSpPr>
          <p:cNvPr id="77" name="Shape 75"/>
          <p:cNvSpPr/>
          <p:nvPr/>
        </p:nvSpPr>
        <p:spPr>
          <a:xfrm>
            <a:off x="10744200" y="5577840"/>
            <a:ext cx="237744" cy="237744"/>
          </a:xfrm>
          <a:prstGeom prst="rect">
            <a:avLst/>
          </a:prstGeom>
          <a:solidFill>
            <a:srgbClr val="EAE2F2"/>
          </a:solidFill>
          <a:ln/>
        </p:spPr>
        <p:txBody>
          <a:bodyPr/>
          <a:lstStyle/>
          <a:p>
            <a:endParaRPr lang="en-US"/>
          </a:p>
        </p:txBody>
      </p:sp>
      <p:sp>
        <p:nvSpPr>
          <p:cNvPr id="78" name="Shape 76"/>
          <p:cNvSpPr/>
          <p:nvPr/>
        </p:nvSpPr>
        <p:spPr>
          <a:xfrm>
            <a:off x="11018520" y="5577840"/>
            <a:ext cx="237744" cy="237744"/>
          </a:xfrm>
          <a:prstGeom prst="rect">
            <a:avLst/>
          </a:prstGeom>
          <a:solidFill>
            <a:srgbClr val="EAE2F2"/>
          </a:solidFill>
          <a:ln/>
        </p:spPr>
        <p:txBody>
          <a:bodyPr/>
          <a:lstStyle/>
          <a:p>
            <a:endParaRPr lang="en-US"/>
          </a:p>
        </p:txBody>
      </p:sp>
      <p:sp>
        <p:nvSpPr>
          <p:cNvPr id="79" name="Text 77"/>
          <p:cNvSpPr/>
          <p:nvPr/>
        </p:nvSpPr>
        <p:spPr>
          <a:xfrm>
            <a:off x="6766560" y="5897880"/>
            <a:ext cx="4937760" cy="274320"/>
          </a:xfrm>
          <a:prstGeom prst="rect">
            <a:avLst/>
          </a:prstGeom>
          <a:noFill/>
          <a:ln/>
        </p:spPr>
        <p:txBody>
          <a:bodyPr wrap="square" lIns="0" tIns="0" rIns="0" bIns="0" rtlCol="0" anchor="ctr"/>
          <a:lstStyle/>
          <a:p>
            <a:pPr marL="0" indent="0" algn="ctr">
              <a:buNone/>
            </a:pPr>
            <a:r>
              <a:rPr lang="en-US" sz="1250" dirty="0">
                <a:solidFill>
                  <a:srgbClr val="8A7F99"/>
                </a:solidFill>
                <a:latin typeface="Calibri" pitchFamily="34" charset="0"/>
                <a:ea typeface="Calibri" pitchFamily="34" charset="-122"/>
                <a:cs typeface="Calibri" pitchFamily="34" charset="-120"/>
              </a:rPr>
              <a:t>every patch inherits Y=1, though most are benign</a:t>
            </a:r>
            <a:endParaRPr lang="en-US" sz="1250" dirty="0"/>
          </a:p>
        </p:txBody>
      </p:sp>
      <p:sp>
        <p:nvSpPr>
          <p:cNvPr id="80" name="Text 7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81" name="Text 79"/>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6</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BACKGROUND · APPLICATIONS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What MIL pathology systems actually do</a:t>
            </a:r>
            <a:endParaRPr lang="en-US" sz="2900" dirty="0"/>
          </a:p>
        </p:txBody>
      </p:sp>
      <p:sp>
        <p:nvSpPr>
          <p:cNvPr id="5" name="Shape 3"/>
          <p:cNvSpPr/>
          <p:nvPr/>
        </p:nvSpPr>
        <p:spPr>
          <a:xfrm>
            <a:off x="640080"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463040"/>
            <a:ext cx="82296" cy="1993392"/>
          </a:xfrm>
          <a:prstGeom prst="rect">
            <a:avLst/>
          </a:prstGeom>
          <a:solidFill>
            <a:srgbClr val="D6336C"/>
          </a:solidFill>
          <a:ln/>
        </p:spPr>
        <p:txBody>
          <a:bodyPr/>
          <a:lstStyle/>
          <a:p>
            <a:endParaRPr lang="en-US"/>
          </a:p>
        </p:txBody>
      </p:sp>
      <p:sp>
        <p:nvSpPr>
          <p:cNvPr id="7" name="Text 5"/>
          <p:cNvSpPr/>
          <p:nvPr/>
        </p:nvSpPr>
        <p:spPr>
          <a:xfrm>
            <a:off x="896112" y="1609344"/>
            <a:ext cx="315468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Cancer subtyping</a:t>
            </a:r>
            <a:endParaRPr lang="en-US" sz="1700" dirty="0"/>
          </a:p>
        </p:txBody>
      </p:sp>
      <p:sp>
        <p:nvSpPr>
          <p:cNvPr id="8" name="Text 6"/>
          <p:cNvSpPr/>
          <p:nvPr/>
        </p:nvSpPr>
        <p:spPr>
          <a:xfrm>
            <a:off x="896112" y="2011680"/>
            <a:ext cx="3154680" cy="1316736"/>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LUAD vs LUSC, RCC subtypes, breast molecular class — directly from H&amp;E.</a:t>
            </a:r>
            <a:endParaRPr lang="en-US" sz="1650" dirty="0"/>
          </a:p>
        </p:txBody>
      </p:sp>
      <p:sp>
        <p:nvSpPr>
          <p:cNvPr id="9" name="Shape 7"/>
          <p:cNvSpPr/>
          <p:nvPr/>
        </p:nvSpPr>
        <p:spPr>
          <a:xfrm>
            <a:off x="4507992"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4507992" y="1463040"/>
            <a:ext cx="82296" cy="1993392"/>
          </a:xfrm>
          <a:prstGeom prst="rect">
            <a:avLst/>
          </a:prstGeom>
          <a:solidFill>
            <a:srgbClr val="4A2C6D"/>
          </a:solidFill>
          <a:ln/>
        </p:spPr>
        <p:txBody>
          <a:bodyPr/>
          <a:lstStyle/>
          <a:p>
            <a:endParaRPr lang="en-US"/>
          </a:p>
        </p:txBody>
      </p:sp>
      <p:sp>
        <p:nvSpPr>
          <p:cNvPr id="11" name="Text 9"/>
          <p:cNvSpPr/>
          <p:nvPr/>
        </p:nvSpPr>
        <p:spPr>
          <a:xfrm>
            <a:off x="4764024" y="1609344"/>
            <a:ext cx="315468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Cancer detection</a:t>
            </a:r>
            <a:endParaRPr lang="en-US" sz="1700" dirty="0"/>
          </a:p>
        </p:txBody>
      </p:sp>
      <p:sp>
        <p:nvSpPr>
          <p:cNvPr id="12" name="Text 10"/>
          <p:cNvSpPr/>
          <p:nvPr/>
        </p:nvSpPr>
        <p:spPr>
          <a:xfrm>
            <a:off x="4764024" y="2011680"/>
            <a:ext cx="3154680" cy="1316736"/>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Metastasis in lymph nodes (CAMELYON), prostate cancer foci screening.</a:t>
            </a:r>
            <a:endParaRPr lang="en-US" sz="1650" dirty="0"/>
          </a:p>
        </p:txBody>
      </p:sp>
      <p:sp>
        <p:nvSpPr>
          <p:cNvPr id="13" name="Shape 11"/>
          <p:cNvSpPr/>
          <p:nvPr/>
        </p:nvSpPr>
        <p:spPr>
          <a:xfrm>
            <a:off x="8375904"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8375904" y="1463040"/>
            <a:ext cx="82296" cy="1993392"/>
          </a:xfrm>
          <a:prstGeom prst="rect">
            <a:avLst/>
          </a:prstGeom>
          <a:solidFill>
            <a:srgbClr val="6B4E8F"/>
          </a:solidFill>
          <a:ln/>
        </p:spPr>
        <p:txBody>
          <a:bodyPr/>
          <a:lstStyle/>
          <a:p>
            <a:endParaRPr lang="en-US"/>
          </a:p>
        </p:txBody>
      </p:sp>
      <p:sp>
        <p:nvSpPr>
          <p:cNvPr id="15" name="Text 13"/>
          <p:cNvSpPr/>
          <p:nvPr/>
        </p:nvSpPr>
        <p:spPr>
          <a:xfrm>
            <a:off x="8631936" y="1609344"/>
            <a:ext cx="315468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Grading</a:t>
            </a:r>
            <a:endParaRPr lang="en-US" sz="1700" dirty="0"/>
          </a:p>
        </p:txBody>
      </p:sp>
      <p:sp>
        <p:nvSpPr>
          <p:cNvPr id="16" name="Text 14"/>
          <p:cNvSpPr/>
          <p:nvPr/>
        </p:nvSpPr>
        <p:spPr>
          <a:xfrm>
            <a:off x="8631936" y="2011680"/>
            <a:ext cx="3154680" cy="1316736"/>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Gleason grading for prostate; nuclear grade for breast &amp; renal.</a:t>
            </a:r>
            <a:endParaRPr lang="en-US" sz="1650" dirty="0"/>
          </a:p>
        </p:txBody>
      </p:sp>
      <p:sp>
        <p:nvSpPr>
          <p:cNvPr id="17" name="Shape 15"/>
          <p:cNvSpPr/>
          <p:nvPr/>
        </p:nvSpPr>
        <p:spPr>
          <a:xfrm>
            <a:off x="640080" y="3730752"/>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40080" y="3730752"/>
            <a:ext cx="82296" cy="1993392"/>
          </a:xfrm>
          <a:prstGeom prst="rect">
            <a:avLst/>
          </a:prstGeom>
          <a:solidFill>
            <a:srgbClr val="1C8C8C"/>
          </a:solidFill>
          <a:ln/>
        </p:spPr>
        <p:txBody>
          <a:bodyPr/>
          <a:lstStyle/>
          <a:p>
            <a:endParaRPr lang="en-US"/>
          </a:p>
        </p:txBody>
      </p:sp>
      <p:sp>
        <p:nvSpPr>
          <p:cNvPr id="19" name="Text 17"/>
          <p:cNvSpPr/>
          <p:nvPr/>
        </p:nvSpPr>
        <p:spPr>
          <a:xfrm>
            <a:off x="896112" y="3877056"/>
            <a:ext cx="315468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Biomarker prediction</a:t>
            </a:r>
            <a:endParaRPr lang="en-US" sz="1700" dirty="0"/>
          </a:p>
        </p:txBody>
      </p:sp>
      <p:sp>
        <p:nvSpPr>
          <p:cNvPr id="20" name="Text 18"/>
          <p:cNvSpPr/>
          <p:nvPr/>
        </p:nvSpPr>
        <p:spPr>
          <a:xfrm>
            <a:off x="896112" y="4279392"/>
            <a:ext cx="3154680" cy="1316736"/>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MSI status, gene mutations (EGFR, BRAF), HER2 — 'molecular from morphology'.</a:t>
            </a:r>
            <a:endParaRPr lang="en-US" sz="1650" dirty="0"/>
          </a:p>
        </p:txBody>
      </p:sp>
      <p:sp>
        <p:nvSpPr>
          <p:cNvPr id="21" name="Shape 19"/>
          <p:cNvSpPr/>
          <p:nvPr/>
        </p:nvSpPr>
        <p:spPr>
          <a:xfrm>
            <a:off x="4507992" y="3730752"/>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4507992" y="3730752"/>
            <a:ext cx="82296" cy="1993392"/>
          </a:xfrm>
          <a:prstGeom prst="rect">
            <a:avLst/>
          </a:prstGeom>
          <a:solidFill>
            <a:srgbClr val="C77D14"/>
          </a:solidFill>
          <a:ln/>
        </p:spPr>
        <p:txBody>
          <a:bodyPr/>
          <a:lstStyle/>
          <a:p>
            <a:endParaRPr lang="en-US"/>
          </a:p>
        </p:txBody>
      </p:sp>
      <p:sp>
        <p:nvSpPr>
          <p:cNvPr id="23" name="Text 21"/>
          <p:cNvSpPr/>
          <p:nvPr/>
        </p:nvSpPr>
        <p:spPr>
          <a:xfrm>
            <a:off x="4764024" y="3877056"/>
            <a:ext cx="315468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Treatment response</a:t>
            </a:r>
            <a:endParaRPr lang="en-US" sz="1700" dirty="0"/>
          </a:p>
        </p:txBody>
      </p:sp>
      <p:sp>
        <p:nvSpPr>
          <p:cNvPr id="24" name="Text 22"/>
          <p:cNvSpPr/>
          <p:nvPr/>
        </p:nvSpPr>
        <p:spPr>
          <a:xfrm>
            <a:off x="4764024" y="4279392"/>
            <a:ext cx="3154680" cy="1316736"/>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Predict response to immunotherapy / chemotherapy from baseline slides.</a:t>
            </a:r>
            <a:endParaRPr lang="en-US" sz="1650" dirty="0"/>
          </a:p>
        </p:txBody>
      </p:sp>
      <p:sp>
        <p:nvSpPr>
          <p:cNvPr id="25" name="Shape 23"/>
          <p:cNvSpPr/>
          <p:nvPr/>
        </p:nvSpPr>
        <p:spPr>
          <a:xfrm>
            <a:off x="8375904" y="3730752"/>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4"/>
          <p:cNvSpPr/>
          <p:nvPr/>
        </p:nvSpPr>
        <p:spPr>
          <a:xfrm>
            <a:off x="8375904" y="3730752"/>
            <a:ext cx="82296" cy="1993392"/>
          </a:xfrm>
          <a:prstGeom prst="rect">
            <a:avLst/>
          </a:prstGeom>
          <a:solidFill>
            <a:srgbClr val="D6336C"/>
          </a:solidFill>
          <a:ln/>
        </p:spPr>
        <p:txBody>
          <a:bodyPr/>
          <a:lstStyle/>
          <a:p>
            <a:endParaRPr lang="en-US"/>
          </a:p>
        </p:txBody>
      </p:sp>
      <p:sp>
        <p:nvSpPr>
          <p:cNvPr id="27" name="Text 25"/>
          <p:cNvSpPr/>
          <p:nvPr/>
        </p:nvSpPr>
        <p:spPr>
          <a:xfrm>
            <a:off x="8631936" y="3877056"/>
            <a:ext cx="315468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Survival / prognosis</a:t>
            </a:r>
            <a:endParaRPr lang="en-US" sz="1700" dirty="0"/>
          </a:p>
        </p:txBody>
      </p:sp>
      <p:sp>
        <p:nvSpPr>
          <p:cNvPr id="28" name="Text 26"/>
          <p:cNvSpPr/>
          <p:nvPr/>
        </p:nvSpPr>
        <p:spPr>
          <a:xfrm>
            <a:off x="8631936" y="4279392"/>
            <a:ext cx="3154680" cy="1316736"/>
          </a:xfrm>
          <a:prstGeom prst="rect">
            <a:avLst/>
          </a:prstGeom>
          <a:noFill/>
          <a:ln/>
        </p:spPr>
        <p:txBody>
          <a:bodyPr wrap="square" lIns="0" tIns="0" rIns="0" bIns="0" rtlCol="0" anchor="t"/>
          <a:lstStyle/>
          <a:p>
            <a:pPr marL="0" indent="0">
              <a:buNone/>
            </a:pPr>
            <a:r>
              <a:rPr lang="en-US" sz="1650" dirty="0">
                <a:solidFill>
                  <a:srgbClr val="2A2233"/>
                </a:solidFill>
                <a:latin typeface="Calibri" pitchFamily="34" charset="0"/>
                <a:ea typeface="Calibri" pitchFamily="34" charset="-122"/>
                <a:cs typeface="Calibri" pitchFamily="34" charset="-120"/>
              </a:rPr>
              <a:t>Risk stratification and outcome prediction at the patient level.</a:t>
            </a:r>
            <a:endParaRPr lang="en-US" sz="1650" dirty="0"/>
          </a:p>
        </p:txBody>
      </p:sp>
      <p:sp>
        <p:nvSpPr>
          <p:cNvPr id="29" name="Text 2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0" name="Text 28"/>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7</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BACKGROUND · THE FIELD TODAY</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From research code to the clinic</a:t>
            </a:r>
            <a:endParaRPr lang="en-US" sz="2900" dirty="0"/>
          </a:p>
        </p:txBody>
      </p:sp>
      <p:sp>
        <p:nvSpPr>
          <p:cNvPr id="5" name="Text 3"/>
          <p:cNvSpPr/>
          <p:nvPr/>
        </p:nvSpPr>
        <p:spPr>
          <a:xfrm>
            <a:off x="640080" y="1554480"/>
            <a:ext cx="5577840" cy="4206240"/>
          </a:xfrm>
          <a:prstGeom prst="rect">
            <a:avLst/>
          </a:prstGeom>
          <a:noFill/>
          <a:ln/>
        </p:spPr>
        <p:txBody>
          <a:bodyPr wrap="square" lIns="0" tIns="0" rIns="0" bIns="0" rtlCol="0" anchor="t"/>
          <a:lstStyle/>
          <a:p>
            <a:pPr marL="203200" indent="-203200">
              <a:spcAft>
                <a:spcPts val="1100"/>
              </a:spcAft>
              <a:buSzPct val="100000"/>
              <a:buChar char="•"/>
            </a:pPr>
            <a:r>
              <a:rPr lang="en-US" sz="1850" dirty="0">
                <a:solidFill>
                  <a:srgbClr val="2A2233"/>
                </a:solidFill>
                <a:latin typeface="Calibri" pitchFamily="34" charset="0"/>
                <a:ea typeface="Calibri" pitchFamily="34" charset="-122"/>
                <a:cs typeface="Calibri" pitchFamily="34" charset="-120"/>
              </a:rPr>
              <a:t>Digital pathology went mainstream once whole-slide scanners + FDA clearance for primary diagnosis arrived (Philips 2017).</a:t>
            </a:r>
            <a:endParaRPr lang="en-US" sz="1850" dirty="0"/>
          </a:p>
          <a:p>
            <a:pPr marL="203200" indent="-203200">
              <a:spcAft>
                <a:spcPts val="1100"/>
              </a:spcAft>
              <a:buSzPct val="100000"/>
              <a:buChar char="•"/>
            </a:pPr>
            <a:r>
              <a:rPr lang="en-US" sz="1850" dirty="0">
                <a:solidFill>
                  <a:srgbClr val="2A2233"/>
                </a:solidFill>
                <a:latin typeface="Calibri" pitchFamily="34" charset="0"/>
                <a:ea typeface="Calibri" pitchFamily="34" charset="-122"/>
                <a:cs typeface="Calibri" pitchFamily="34" charset="-120"/>
              </a:rPr>
              <a:t>Paige Prostate became the first FDA-authorized AI for pathology (2021) — a clinical-grade MIL/foundation system.</a:t>
            </a:r>
            <a:endParaRPr lang="en-US" sz="1850" dirty="0"/>
          </a:p>
          <a:p>
            <a:pPr marL="203200" indent="-203200">
              <a:spcAft>
                <a:spcPts val="1100"/>
              </a:spcAft>
              <a:buSzPct val="100000"/>
              <a:buChar char="•"/>
            </a:pPr>
            <a:r>
              <a:rPr lang="en-US" sz="1850" dirty="0">
                <a:solidFill>
                  <a:srgbClr val="2A2233"/>
                </a:solidFill>
                <a:latin typeface="Calibri" pitchFamily="34" charset="0"/>
                <a:ea typeface="Calibri" pitchFamily="34" charset="-122"/>
                <a:cs typeface="Calibri" pitchFamily="34" charset="-120"/>
              </a:rPr>
              <a:t>2024–2025 saw an explosion of open pathology foundation models (UNI, Virchow, GigaPath, CONCH) that ML engineers can use off-the-shelf.</a:t>
            </a:r>
            <a:endParaRPr lang="en-US" sz="1850" dirty="0"/>
          </a:p>
          <a:p>
            <a:pPr marL="203200" indent="-203200">
              <a:spcAft>
                <a:spcPts val="1100"/>
              </a:spcAft>
              <a:buSzPct val="100000"/>
              <a:buChar char="•"/>
            </a:pPr>
            <a:r>
              <a:rPr lang="en-US" sz="1850" dirty="0">
                <a:solidFill>
                  <a:srgbClr val="2A2233"/>
                </a:solidFill>
                <a:latin typeface="Calibri" pitchFamily="34" charset="0"/>
                <a:ea typeface="Calibri" pitchFamily="34" charset="-122"/>
                <a:cs typeface="Calibri" pitchFamily="34" charset="-120"/>
              </a:rPr>
              <a:t>Most published models are research-/non-commercial-licensed; clinical deployment still needs regulatory validation and external cohorts.</a:t>
            </a:r>
            <a:endParaRPr lang="en-US" sz="1850" dirty="0"/>
          </a:p>
          <a:p>
            <a:pPr marL="203200" indent="-203200">
              <a:spcAft>
                <a:spcPts val="1100"/>
              </a:spcAft>
              <a:buSzPct val="100000"/>
              <a:buChar char="•"/>
            </a:pPr>
            <a:r>
              <a:rPr lang="en-US" sz="1850" dirty="0">
                <a:solidFill>
                  <a:srgbClr val="2A2233"/>
                </a:solidFill>
                <a:latin typeface="Calibri" pitchFamily="34" charset="0"/>
                <a:ea typeface="Calibri" pitchFamily="34" charset="-122"/>
                <a:cs typeface="Calibri" pitchFamily="34" charset="-120"/>
              </a:rPr>
              <a:t>Net: the building blocks are now public, reproducible, and the subject of this course.</a:t>
            </a:r>
            <a:endParaRPr lang="en-US" sz="1850" dirty="0"/>
          </a:p>
        </p:txBody>
      </p:sp>
      <p:sp>
        <p:nvSpPr>
          <p:cNvPr id="6" name="Shape 4"/>
          <p:cNvSpPr/>
          <p:nvPr/>
        </p:nvSpPr>
        <p:spPr>
          <a:xfrm>
            <a:off x="6492240" y="1508760"/>
            <a:ext cx="5303520" cy="4572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5"/>
          <p:cNvSpPr/>
          <p:nvPr/>
        </p:nvSpPr>
        <p:spPr>
          <a:xfrm>
            <a:off x="6492240" y="1508760"/>
            <a:ext cx="82296" cy="4572000"/>
          </a:xfrm>
          <a:prstGeom prst="rect">
            <a:avLst/>
          </a:prstGeom>
          <a:solidFill>
            <a:srgbClr val="D6336C"/>
          </a:solidFill>
          <a:ln/>
        </p:spPr>
        <p:txBody>
          <a:bodyPr/>
          <a:lstStyle/>
          <a:p>
            <a:endParaRPr lang="en-US"/>
          </a:p>
        </p:txBody>
      </p:sp>
      <p:sp>
        <p:nvSpPr>
          <p:cNvPr id="8" name="Text 6"/>
          <p:cNvSpPr/>
          <p:nvPr/>
        </p:nvSpPr>
        <p:spPr>
          <a:xfrm>
            <a:off x="6766560" y="1664208"/>
            <a:ext cx="457200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A short timeline</a:t>
            </a:r>
            <a:endParaRPr lang="en-US" sz="1700" dirty="0"/>
          </a:p>
        </p:txBody>
      </p:sp>
      <p:sp>
        <p:nvSpPr>
          <p:cNvPr id="9" name="Shape 7"/>
          <p:cNvSpPr/>
          <p:nvPr/>
        </p:nvSpPr>
        <p:spPr>
          <a:xfrm>
            <a:off x="6766560" y="2258568"/>
            <a:ext cx="201168" cy="201168"/>
          </a:xfrm>
          <a:prstGeom prst="ellipse">
            <a:avLst/>
          </a:prstGeom>
          <a:solidFill>
            <a:srgbClr val="D6336C"/>
          </a:solidFill>
          <a:ln/>
        </p:spPr>
        <p:txBody>
          <a:bodyPr/>
          <a:lstStyle/>
          <a:p>
            <a:endParaRPr lang="en-US"/>
          </a:p>
        </p:txBody>
      </p:sp>
      <p:sp>
        <p:nvSpPr>
          <p:cNvPr id="10" name="Text 8"/>
          <p:cNvSpPr/>
          <p:nvPr/>
        </p:nvSpPr>
        <p:spPr>
          <a:xfrm>
            <a:off x="7059168" y="2203704"/>
            <a:ext cx="868680" cy="274320"/>
          </a:xfrm>
          <a:prstGeom prst="rect">
            <a:avLst/>
          </a:prstGeom>
          <a:noFill/>
          <a:ln/>
        </p:spPr>
        <p:txBody>
          <a:bodyPr wrap="square" lIns="0" tIns="0" rIns="0" bIns="0" rtlCol="0" anchor="ctr"/>
          <a:lstStyle/>
          <a:p>
            <a:pPr marL="0" indent="0">
              <a:buNone/>
            </a:pPr>
            <a:r>
              <a:rPr lang="en-US" sz="1550" b="1" dirty="0">
                <a:solidFill>
                  <a:srgbClr val="D6336C"/>
                </a:solidFill>
                <a:latin typeface="Calibri" pitchFamily="34" charset="0"/>
                <a:ea typeface="Calibri" pitchFamily="34" charset="-122"/>
                <a:cs typeface="Calibri" pitchFamily="34" charset="-120"/>
              </a:rPr>
              <a:t>2018</a:t>
            </a:r>
            <a:endParaRPr lang="en-US" sz="1550" dirty="0"/>
          </a:p>
        </p:txBody>
      </p:sp>
      <p:sp>
        <p:nvSpPr>
          <p:cNvPr id="11" name="Text 9"/>
          <p:cNvSpPr/>
          <p:nvPr/>
        </p:nvSpPr>
        <p:spPr>
          <a:xfrm>
            <a:off x="7955280" y="2194560"/>
            <a:ext cx="3749040" cy="59436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ABMIL — attention-based MIL formalized</a:t>
            </a:r>
            <a:endParaRPr lang="en-US" sz="1400" dirty="0"/>
          </a:p>
        </p:txBody>
      </p:sp>
      <p:sp>
        <p:nvSpPr>
          <p:cNvPr id="12" name="Shape 10"/>
          <p:cNvSpPr/>
          <p:nvPr/>
        </p:nvSpPr>
        <p:spPr>
          <a:xfrm>
            <a:off x="6766560" y="3044952"/>
            <a:ext cx="201168" cy="201168"/>
          </a:xfrm>
          <a:prstGeom prst="ellipse">
            <a:avLst/>
          </a:prstGeom>
          <a:solidFill>
            <a:srgbClr val="D6336C"/>
          </a:solidFill>
          <a:ln/>
        </p:spPr>
        <p:txBody>
          <a:bodyPr/>
          <a:lstStyle/>
          <a:p>
            <a:endParaRPr lang="en-US"/>
          </a:p>
        </p:txBody>
      </p:sp>
      <p:sp>
        <p:nvSpPr>
          <p:cNvPr id="13" name="Text 11"/>
          <p:cNvSpPr/>
          <p:nvPr/>
        </p:nvSpPr>
        <p:spPr>
          <a:xfrm>
            <a:off x="7059168" y="2990088"/>
            <a:ext cx="868680" cy="274320"/>
          </a:xfrm>
          <a:prstGeom prst="rect">
            <a:avLst/>
          </a:prstGeom>
          <a:noFill/>
          <a:ln/>
        </p:spPr>
        <p:txBody>
          <a:bodyPr wrap="square" lIns="0" tIns="0" rIns="0" bIns="0" rtlCol="0" anchor="ctr"/>
          <a:lstStyle/>
          <a:p>
            <a:pPr marL="0" indent="0">
              <a:buNone/>
            </a:pPr>
            <a:r>
              <a:rPr lang="en-US" sz="1550" b="1" dirty="0">
                <a:solidFill>
                  <a:srgbClr val="D6336C"/>
                </a:solidFill>
                <a:latin typeface="Calibri" pitchFamily="34" charset="0"/>
                <a:ea typeface="Calibri" pitchFamily="34" charset="-122"/>
                <a:cs typeface="Calibri" pitchFamily="34" charset="-120"/>
              </a:rPr>
              <a:t>2021</a:t>
            </a:r>
            <a:endParaRPr lang="en-US" sz="1550" dirty="0"/>
          </a:p>
        </p:txBody>
      </p:sp>
      <p:sp>
        <p:nvSpPr>
          <p:cNvPr id="14" name="Text 12"/>
          <p:cNvSpPr/>
          <p:nvPr/>
        </p:nvSpPr>
        <p:spPr>
          <a:xfrm>
            <a:off x="7955280" y="2980944"/>
            <a:ext cx="3749040" cy="59436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CLAM (Nature BME); Paige Prostate FDA-cleared</a:t>
            </a:r>
            <a:endParaRPr lang="en-US" sz="1400" dirty="0"/>
          </a:p>
        </p:txBody>
      </p:sp>
      <p:sp>
        <p:nvSpPr>
          <p:cNvPr id="15" name="Shape 13"/>
          <p:cNvSpPr/>
          <p:nvPr/>
        </p:nvSpPr>
        <p:spPr>
          <a:xfrm>
            <a:off x="6766560" y="3831336"/>
            <a:ext cx="201168" cy="201168"/>
          </a:xfrm>
          <a:prstGeom prst="ellipse">
            <a:avLst/>
          </a:prstGeom>
          <a:solidFill>
            <a:srgbClr val="D6336C"/>
          </a:solidFill>
          <a:ln/>
        </p:spPr>
        <p:txBody>
          <a:bodyPr/>
          <a:lstStyle/>
          <a:p>
            <a:endParaRPr lang="en-US"/>
          </a:p>
        </p:txBody>
      </p:sp>
      <p:sp>
        <p:nvSpPr>
          <p:cNvPr id="16" name="Text 14"/>
          <p:cNvSpPr/>
          <p:nvPr/>
        </p:nvSpPr>
        <p:spPr>
          <a:xfrm>
            <a:off x="7059168" y="3776472"/>
            <a:ext cx="868680" cy="274320"/>
          </a:xfrm>
          <a:prstGeom prst="rect">
            <a:avLst/>
          </a:prstGeom>
          <a:noFill/>
          <a:ln/>
        </p:spPr>
        <p:txBody>
          <a:bodyPr wrap="square" lIns="0" tIns="0" rIns="0" bIns="0" rtlCol="0" anchor="ctr"/>
          <a:lstStyle/>
          <a:p>
            <a:pPr marL="0" indent="0">
              <a:buNone/>
            </a:pPr>
            <a:r>
              <a:rPr lang="en-US" sz="1550" b="1" dirty="0">
                <a:solidFill>
                  <a:srgbClr val="D6336C"/>
                </a:solidFill>
                <a:latin typeface="Calibri" pitchFamily="34" charset="0"/>
                <a:ea typeface="Calibri" pitchFamily="34" charset="-122"/>
                <a:cs typeface="Calibri" pitchFamily="34" charset="-120"/>
              </a:rPr>
              <a:t>2021</a:t>
            </a:r>
            <a:endParaRPr lang="en-US" sz="1550" dirty="0"/>
          </a:p>
        </p:txBody>
      </p:sp>
      <p:sp>
        <p:nvSpPr>
          <p:cNvPr id="17" name="Text 15"/>
          <p:cNvSpPr/>
          <p:nvPr/>
        </p:nvSpPr>
        <p:spPr>
          <a:xfrm>
            <a:off x="7955280" y="3767328"/>
            <a:ext cx="3749040" cy="59436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TransMIL — transformer aggregation</a:t>
            </a:r>
            <a:endParaRPr lang="en-US" sz="1400" dirty="0"/>
          </a:p>
        </p:txBody>
      </p:sp>
      <p:sp>
        <p:nvSpPr>
          <p:cNvPr id="18" name="Shape 16"/>
          <p:cNvSpPr/>
          <p:nvPr/>
        </p:nvSpPr>
        <p:spPr>
          <a:xfrm>
            <a:off x="6766560" y="4617720"/>
            <a:ext cx="201168" cy="201168"/>
          </a:xfrm>
          <a:prstGeom prst="ellipse">
            <a:avLst/>
          </a:prstGeom>
          <a:solidFill>
            <a:srgbClr val="D6336C"/>
          </a:solidFill>
          <a:ln/>
        </p:spPr>
        <p:txBody>
          <a:bodyPr/>
          <a:lstStyle/>
          <a:p>
            <a:endParaRPr lang="en-US"/>
          </a:p>
        </p:txBody>
      </p:sp>
      <p:sp>
        <p:nvSpPr>
          <p:cNvPr id="19" name="Text 17"/>
          <p:cNvSpPr/>
          <p:nvPr/>
        </p:nvSpPr>
        <p:spPr>
          <a:xfrm>
            <a:off x="7059168" y="4562856"/>
            <a:ext cx="868680" cy="274320"/>
          </a:xfrm>
          <a:prstGeom prst="rect">
            <a:avLst/>
          </a:prstGeom>
          <a:noFill/>
          <a:ln/>
        </p:spPr>
        <p:txBody>
          <a:bodyPr wrap="square" lIns="0" tIns="0" rIns="0" bIns="0" rtlCol="0" anchor="ctr"/>
          <a:lstStyle/>
          <a:p>
            <a:pPr marL="0" indent="0">
              <a:buNone/>
            </a:pPr>
            <a:r>
              <a:rPr lang="en-US" sz="1550" b="1" dirty="0">
                <a:solidFill>
                  <a:srgbClr val="D6336C"/>
                </a:solidFill>
                <a:latin typeface="Calibri" pitchFamily="34" charset="0"/>
                <a:ea typeface="Calibri" pitchFamily="34" charset="-122"/>
                <a:cs typeface="Calibri" pitchFamily="34" charset="-120"/>
              </a:rPr>
              <a:t>2024</a:t>
            </a:r>
            <a:endParaRPr lang="en-US" sz="1550" dirty="0"/>
          </a:p>
        </p:txBody>
      </p:sp>
      <p:sp>
        <p:nvSpPr>
          <p:cNvPr id="20" name="Text 18"/>
          <p:cNvSpPr/>
          <p:nvPr/>
        </p:nvSpPr>
        <p:spPr>
          <a:xfrm>
            <a:off x="7955280" y="4553712"/>
            <a:ext cx="3749040" cy="59436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UNI, Virchow, GigaPath, CONCH foundation models</a:t>
            </a:r>
            <a:endParaRPr lang="en-US" sz="1400" dirty="0"/>
          </a:p>
        </p:txBody>
      </p:sp>
      <p:sp>
        <p:nvSpPr>
          <p:cNvPr id="21" name="Shape 19"/>
          <p:cNvSpPr/>
          <p:nvPr/>
        </p:nvSpPr>
        <p:spPr>
          <a:xfrm>
            <a:off x="6766560" y="5404104"/>
            <a:ext cx="201168" cy="201168"/>
          </a:xfrm>
          <a:prstGeom prst="ellipse">
            <a:avLst/>
          </a:prstGeom>
          <a:solidFill>
            <a:srgbClr val="D6336C"/>
          </a:solidFill>
          <a:ln/>
        </p:spPr>
        <p:txBody>
          <a:bodyPr/>
          <a:lstStyle/>
          <a:p>
            <a:endParaRPr lang="en-US"/>
          </a:p>
        </p:txBody>
      </p:sp>
      <p:sp>
        <p:nvSpPr>
          <p:cNvPr id="22" name="Text 20"/>
          <p:cNvSpPr/>
          <p:nvPr/>
        </p:nvSpPr>
        <p:spPr>
          <a:xfrm>
            <a:off x="7059168" y="5349240"/>
            <a:ext cx="868680" cy="274320"/>
          </a:xfrm>
          <a:prstGeom prst="rect">
            <a:avLst/>
          </a:prstGeom>
          <a:noFill/>
          <a:ln/>
        </p:spPr>
        <p:txBody>
          <a:bodyPr wrap="square" lIns="0" tIns="0" rIns="0" bIns="0" rtlCol="0" anchor="ctr"/>
          <a:lstStyle/>
          <a:p>
            <a:pPr marL="0" indent="0">
              <a:buNone/>
            </a:pPr>
            <a:r>
              <a:rPr lang="en-US" sz="1550" b="1" dirty="0">
                <a:solidFill>
                  <a:srgbClr val="D6336C"/>
                </a:solidFill>
                <a:latin typeface="Calibri" pitchFamily="34" charset="0"/>
                <a:ea typeface="Calibri" pitchFamily="34" charset="-122"/>
                <a:cs typeface="Calibri" pitchFamily="34" charset="-120"/>
              </a:rPr>
              <a:t>2025</a:t>
            </a:r>
            <a:endParaRPr lang="en-US" sz="1550" dirty="0"/>
          </a:p>
        </p:txBody>
      </p:sp>
      <p:sp>
        <p:nvSpPr>
          <p:cNvPr id="23" name="Text 21"/>
          <p:cNvSpPr/>
          <p:nvPr/>
        </p:nvSpPr>
        <p:spPr>
          <a:xfrm>
            <a:off x="7955280" y="5340096"/>
            <a:ext cx="3749040" cy="59436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UNI2 / Virchow2; TRIDENT toolkit; slide encoders</a:t>
            </a:r>
            <a:endParaRPr lang="en-US" sz="1400" dirty="0"/>
          </a:p>
        </p:txBody>
      </p:sp>
      <p:sp>
        <p:nvSpPr>
          <p:cNvPr id="24" name="Shape 22"/>
          <p:cNvSpPr/>
          <p:nvPr/>
        </p:nvSpPr>
        <p:spPr>
          <a:xfrm>
            <a:off x="6867144" y="2286000"/>
            <a:ext cx="0" cy="3154680"/>
          </a:xfrm>
          <a:prstGeom prst="line">
            <a:avLst/>
          </a:prstGeom>
          <a:noFill/>
          <a:ln w="25400">
            <a:solidFill>
              <a:srgbClr val="E4DCEC"/>
            </a:solidFill>
            <a:prstDash val="solid"/>
          </a:ln>
        </p:spPr>
        <p:txBody>
          <a:bodyPr/>
          <a:lstStyle/>
          <a:p>
            <a:endParaRPr lang="en-US"/>
          </a:p>
        </p:txBody>
      </p:sp>
      <p:sp>
        <p:nvSpPr>
          <p:cNvPr id="25" name="Text 2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6" name="Text 24"/>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8</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2</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The MIL Formulation</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Bags, instances, and permutation-invariant pooling</a:t>
            </a:r>
            <a:endParaRPr lang="en-US" sz="18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9" name="Text 7"/>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9</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MIL · DEFINITION</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Multiple Instance Learning, formally</a:t>
            </a:r>
            <a:endParaRPr lang="en-US" sz="2900" dirty="0"/>
          </a:p>
        </p:txBody>
      </p:sp>
      <p:sp>
        <p:nvSpPr>
          <p:cNvPr id="5" name="Shape 3"/>
          <p:cNvSpPr/>
          <p:nvPr/>
        </p:nvSpPr>
        <p:spPr>
          <a:xfrm>
            <a:off x="640080" y="1508760"/>
            <a:ext cx="5486400" cy="2286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2286000"/>
          </a:xfrm>
          <a:prstGeom prst="rect">
            <a:avLst/>
          </a:prstGeom>
          <a:solidFill>
            <a:srgbClr val="4A2C6D"/>
          </a:solidFill>
          <a:ln/>
        </p:spPr>
        <p:txBody>
          <a:bodyPr/>
          <a:lstStyle/>
          <a:p>
            <a:endParaRPr lang="en-US"/>
          </a:p>
        </p:txBody>
      </p:sp>
      <p:sp>
        <p:nvSpPr>
          <p:cNvPr id="7" name="Text 5"/>
          <p:cNvSpPr/>
          <p:nvPr/>
        </p:nvSpPr>
        <p:spPr>
          <a:xfrm>
            <a:off x="896112" y="1645920"/>
            <a:ext cx="4572000" cy="32004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The setup</a:t>
            </a:r>
            <a:endParaRPr lang="en-US" sz="1700" dirty="0"/>
          </a:p>
        </p:txBody>
      </p:sp>
      <p:sp>
        <p:nvSpPr>
          <p:cNvPr id="8" name="Text 6"/>
          <p:cNvSpPr/>
          <p:nvPr/>
        </p:nvSpPr>
        <p:spPr>
          <a:xfrm>
            <a:off x="896112" y="2057400"/>
            <a:ext cx="5029200" cy="1737360"/>
          </a:xfrm>
          <a:prstGeom prst="rect">
            <a:avLst/>
          </a:prstGeom>
          <a:noFill/>
          <a:ln/>
        </p:spPr>
        <p:txBody>
          <a:bodyPr wrap="square" lIns="0" tIns="0" rIns="0" bIns="0" rtlCol="0" anchor="t"/>
          <a:lstStyle/>
          <a:p>
            <a:pPr marL="203200" indent="-203200">
              <a:spcAft>
                <a:spcPts val="600"/>
              </a:spcAft>
              <a:buSzPct val="100000"/>
              <a:buChar char="•"/>
            </a:pPr>
            <a:r>
              <a:rPr lang="en-US" sz="1750" dirty="0">
                <a:solidFill>
                  <a:srgbClr val="2A2233"/>
                </a:solidFill>
                <a:latin typeface="Calibri" pitchFamily="34" charset="0"/>
                <a:ea typeface="Calibri" pitchFamily="34" charset="-122"/>
                <a:cs typeface="Calibri" pitchFamily="34" charset="-120"/>
              </a:rPr>
              <a:t>A bag X = {x₁, x₂, …, x_N} is a set of instances (patches).</a:t>
            </a:r>
            <a:endParaRPr lang="en-US" sz="1750" dirty="0"/>
          </a:p>
          <a:p>
            <a:pPr marL="203200" indent="-203200">
              <a:spcAft>
                <a:spcPts val="600"/>
              </a:spcAft>
              <a:buSzPct val="100000"/>
              <a:buChar char="•"/>
            </a:pPr>
            <a:r>
              <a:rPr lang="en-US" sz="1750" dirty="0">
                <a:solidFill>
                  <a:srgbClr val="2A2233"/>
                </a:solidFill>
                <a:latin typeface="Calibri" pitchFamily="34" charset="0"/>
                <a:ea typeface="Calibri" pitchFamily="34" charset="-122"/>
                <a:cs typeface="Calibri" pitchFamily="34" charset="-120"/>
              </a:rPr>
              <a:t>We observe one label Y for the whole bag, not per instance.</a:t>
            </a:r>
            <a:endParaRPr lang="en-US" sz="1750" dirty="0"/>
          </a:p>
          <a:p>
            <a:pPr marL="203200" indent="-203200">
              <a:spcAft>
                <a:spcPts val="600"/>
              </a:spcAft>
              <a:buSzPct val="100000"/>
              <a:buChar char="•"/>
            </a:pPr>
            <a:r>
              <a:rPr lang="en-US" sz="1750" dirty="0">
                <a:solidFill>
                  <a:srgbClr val="2A2233"/>
                </a:solidFill>
                <a:latin typeface="Calibri" pitchFamily="34" charset="0"/>
                <a:ea typeface="Calibri" pitchFamily="34" charset="-122"/>
                <a:cs typeface="Calibri" pitchFamily="34" charset="-120"/>
              </a:rPr>
              <a:t>Bag size N varies slide to slide (1k–100k+).</a:t>
            </a:r>
            <a:endParaRPr lang="en-US" sz="1750" dirty="0"/>
          </a:p>
        </p:txBody>
      </p:sp>
      <p:sp>
        <p:nvSpPr>
          <p:cNvPr id="9" name="Shape 7"/>
          <p:cNvSpPr/>
          <p:nvPr/>
        </p:nvSpPr>
        <p:spPr>
          <a:xfrm>
            <a:off x="640080" y="4023360"/>
            <a:ext cx="5486400" cy="128016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10" name="Text 8"/>
          <p:cNvSpPr/>
          <p:nvPr/>
        </p:nvSpPr>
        <p:spPr>
          <a:xfrm>
            <a:off x="822960" y="4114800"/>
            <a:ext cx="5120640" cy="82296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Y = 1  ⇔  ∃ i : yᵢ = 1</a:t>
            </a:r>
            <a:endParaRPr lang="en-US" sz="1900" dirty="0"/>
          </a:p>
          <a:p>
            <a:pPr marL="0" indent="0" algn="ctr">
              <a:buNone/>
            </a:pPr>
            <a:r>
              <a:rPr lang="en-US" sz="1900" dirty="0">
                <a:solidFill>
                  <a:srgbClr val="4A2C6D"/>
                </a:solidFill>
                <a:latin typeface="Courier New" pitchFamily="34" charset="0"/>
                <a:ea typeface="Courier New" pitchFamily="34" charset="-122"/>
                <a:cs typeface="Courier New" pitchFamily="34" charset="-120"/>
              </a:rPr>
              <a:t>Y = 0  ⇔  ∀ i : yᵢ = 0</a:t>
            </a:r>
            <a:endParaRPr lang="en-US" sz="1900" dirty="0"/>
          </a:p>
        </p:txBody>
      </p:sp>
      <p:sp>
        <p:nvSpPr>
          <p:cNvPr id="11" name="Text 9"/>
          <p:cNvSpPr/>
          <p:nvPr/>
        </p:nvSpPr>
        <p:spPr>
          <a:xfrm>
            <a:off x="822960" y="4919472"/>
            <a:ext cx="5120640" cy="292608"/>
          </a:xfrm>
          <a:prstGeom prst="rect">
            <a:avLst/>
          </a:prstGeom>
          <a:noFill/>
          <a:ln/>
        </p:spPr>
        <p:txBody>
          <a:bodyPr wrap="square" lIns="0" tIns="0" rIns="0" bIns="0" rtlCol="0" anchor="ctr"/>
          <a:lstStyle/>
          <a:p>
            <a:pPr marL="0" indent="0" algn="ctr">
              <a:buNone/>
            </a:pPr>
            <a:r>
              <a:rPr lang="en-US" sz="1300" i="1" dirty="0">
                <a:solidFill>
                  <a:srgbClr val="8A7F99"/>
                </a:solidFill>
                <a:latin typeface="Calibri" pitchFamily="34" charset="0"/>
                <a:ea typeface="Calibri" pitchFamily="34" charset="-122"/>
                <a:cs typeface="Calibri" pitchFamily="34" charset="-120"/>
              </a:rPr>
              <a:t>Standard (binary) MIL assumption: positive bag ⇒ at least one positive instance</a:t>
            </a:r>
            <a:endParaRPr lang="en-US" sz="1300" dirty="0"/>
          </a:p>
        </p:txBody>
      </p:sp>
      <p:sp>
        <p:nvSpPr>
          <p:cNvPr id="12" name="Shape 10"/>
          <p:cNvSpPr/>
          <p:nvPr/>
        </p:nvSpPr>
        <p:spPr>
          <a:xfrm>
            <a:off x="6400800" y="1508760"/>
            <a:ext cx="5394960" cy="37947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3" name="Text 11"/>
          <p:cNvSpPr/>
          <p:nvPr/>
        </p:nvSpPr>
        <p:spPr>
          <a:xfrm>
            <a:off x="658368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Bag = slide,  instance = patch</a:t>
            </a:r>
            <a:endParaRPr lang="en-US" sz="1400" dirty="0"/>
          </a:p>
        </p:txBody>
      </p:sp>
      <p:sp>
        <p:nvSpPr>
          <p:cNvPr id="14" name="Shape 12"/>
          <p:cNvSpPr/>
          <p:nvPr/>
        </p:nvSpPr>
        <p:spPr>
          <a:xfrm>
            <a:off x="6812280" y="2057400"/>
            <a:ext cx="4572000" cy="3017520"/>
          </a:xfrm>
          <a:prstGeom prst="roundRect">
            <a:avLst>
              <a:gd name="adj" fmla="val 2424"/>
            </a:avLst>
          </a:prstGeom>
          <a:solidFill>
            <a:srgbClr val="F3EEF9"/>
          </a:solidFill>
          <a:ln w="19050">
            <a:solidFill>
              <a:srgbClr val="6B4E8F"/>
            </a:solidFill>
            <a:prstDash val="dash"/>
          </a:ln>
        </p:spPr>
        <p:txBody>
          <a:bodyPr/>
          <a:lstStyle/>
          <a:p>
            <a:endParaRPr lang="en-US"/>
          </a:p>
        </p:txBody>
      </p:sp>
      <p:sp>
        <p:nvSpPr>
          <p:cNvPr id="15" name="Text 13"/>
          <p:cNvSpPr/>
          <p:nvPr/>
        </p:nvSpPr>
        <p:spPr>
          <a:xfrm>
            <a:off x="6903720" y="2121408"/>
            <a:ext cx="4114800" cy="274320"/>
          </a:xfrm>
          <a:prstGeom prst="rect">
            <a:avLst/>
          </a:prstGeom>
          <a:noFill/>
          <a:ln/>
        </p:spPr>
        <p:txBody>
          <a:bodyPr wrap="square" lIns="0" tIns="0" rIns="0" bIns="0" rtlCol="0" anchor="ctr"/>
          <a:lstStyle/>
          <a:p>
            <a:pPr marL="0" indent="0">
              <a:buNone/>
            </a:pPr>
            <a:r>
              <a:rPr lang="en-US" sz="1350" b="1" dirty="0">
                <a:solidFill>
                  <a:srgbClr val="4A2C6D"/>
                </a:solidFill>
                <a:latin typeface="Calibri" pitchFamily="34" charset="0"/>
                <a:ea typeface="Calibri" pitchFamily="34" charset="-122"/>
                <a:cs typeface="Calibri" pitchFamily="34" charset="-120"/>
              </a:rPr>
              <a:t>Bag  X  (one slide)</a:t>
            </a:r>
            <a:endParaRPr lang="en-US" sz="1350" dirty="0"/>
          </a:p>
        </p:txBody>
      </p:sp>
      <p:sp>
        <p:nvSpPr>
          <p:cNvPr id="16" name="Shape 14"/>
          <p:cNvSpPr/>
          <p:nvPr/>
        </p:nvSpPr>
        <p:spPr>
          <a:xfrm>
            <a:off x="7040880" y="2560320"/>
            <a:ext cx="475488" cy="475488"/>
          </a:xfrm>
          <a:prstGeom prst="rect">
            <a:avLst/>
          </a:prstGeom>
          <a:solidFill>
            <a:srgbClr val="D9CCEC"/>
          </a:solidFill>
          <a:ln w="12700">
            <a:solidFill>
              <a:srgbClr val="FFFFFF"/>
            </a:solidFill>
            <a:prstDash val="solid"/>
          </a:ln>
        </p:spPr>
        <p:txBody>
          <a:bodyPr/>
          <a:lstStyle/>
          <a:p>
            <a:endParaRPr lang="en-US"/>
          </a:p>
        </p:txBody>
      </p:sp>
      <p:sp>
        <p:nvSpPr>
          <p:cNvPr id="17" name="Shape 15"/>
          <p:cNvSpPr/>
          <p:nvPr/>
        </p:nvSpPr>
        <p:spPr>
          <a:xfrm>
            <a:off x="7607808" y="2560320"/>
            <a:ext cx="475488" cy="475488"/>
          </a:xfrm>
          <a:prstGeom prst="rect">
            <a:avLst/>
          </a:prstGeom>
          <a:solidFill>
            <a:srgbClr val="D9CCEC"/>
          </a:solidFill>
          <a:ln w="12700">
            <a:solidFill>
              <a:srgbClr val="FFFFFF"/>
            </a:solidFill>
            <a:prstDash val="solid"/>
          </a:ln>
        </p:spPr>
        <p:txBody>
          <a:bodyPr/>
          <a:lstStyle/>
          <a:p>
            <a:endParaRPr lang="en-US"/>
          </a:p>
        </p:txBody>
      </p:sp>
      <p:sp>
        <p:nvSpPr>
          <p:cNvPr id="18" name="Shape 16"/>
          <p:cNvSpPr/>
          <p:nvPr/>
        </p:nvSpPr>
        <p:spPr>
          <a:xfrm>
            <a:off x="8174736" y="2560320"/>
            <a:ext cx="475488" cy="475488"/>
          </a:xfrm>
          <a:prstGeom prst="rect">
            <a:avLst/>
          </a:prstGeom>
          <a:solidFill>
            <a:srgbClr val="D9CCEC"/>
          </a:solidFill>
          <a:ln w="12700">
            <a:solidFill>
              <a:srgbClr val="FFFFFF"/>
            </a:solidFill>
            <a:prstDash val="solid"/>
          </a:ln>
        </p:spPr>
        <p:txBody>
          <a:bodyPr/>
          <a:lstStyle/>
          <a:p>
            <a:endParaRPr lang="en-US"/>
          </a:p>
        </p:txBody>
      </p:sp>
      <p:sp>
        <p:nvSpPr>
          <p:cNvPr id="19" name="Shape 17"/>
          <p:cNvSpPr/>
          <p:nvPr/>
        </p:nvSpPr>
        <p:spPr>
          <a:xfrm>
            <a:off x="8741664" y="2560320"/>
            <a:ext cx="475488" cy="475488"/>
          </a:xfrm>
          <a:prstGeom prst="rect">
            <a:avLst/>
          </a:prstGeom>
          <a:solidFill>
            <a:srgbClr val="D9CCEC"/>
          </a:solidFill>
          <a:ln w="12700">
            <a:solidFill>
              <a:srgbClr val="FFFFFF"/>
            </a:solidFill>
            <a:prstDash val="solid"/>
          </a:ln>
        </p:spPr>
        <p:txBody>
          <a:bodyPr/>
          <a:lstStyle/>
          <a:p>
            <a:endParaRPr lang="en-US"/>
          </a:p>
        </p:txBody>
      </p:sp>
      <p:sp>
        <p:nvSpPr>
          <p:cNvPr id="20" name="Shape 18"/>
          <p:cNvSpPr/>
          <p:nvPr/>
        </p:nvSpPr>
        <p:spPr>
          <a:xfrm>
            <a:off x="9308592" y="2560320"/>
            <a:ext cx="475488" cy="475488"/>
          </a:xfrm>
          <a:prstGeom prst="rect">
            <a:avLst/>
          </a:prstGeom>
          <a:solidFill>
            <a:srgbClr val="D9CCEC"/>
          </a:solidFill>
          <a:ln w="12700">
            <a:solidFill>
              <a:srgbClr val="FFFFFF"/>
            </a:solidFill>
            <a:prstDash val="solid"/>
          </a:ln>
        </p:spPr>
        <p:txBody>
          <a:bodyPr/>
          <a:lstStyle/>
          <a:p>
            <a:endParaRPr lang="en-US"/>
          </a:p>
        </p:txBody>
      </p:sp>
      <p:sp>
        <p:nvSpPr>
          <p:cNvPr id="21" name="Shape 19"/>
          <p:cNvSpPr/>
          <p:nvPr/>
        </p:nvSpPr>
        <p:spPr>
          <a:xfrm>
            <a:off x="9875520" y="2560320"/>
            <a:ext cx="475488" cy="475488"/>
          </a:xfrm>
          <a:prstGeom prst="rect">
            <a:avLst/>
          </a:prstGeom>
          <a:solidFill>
            <a:srgbClr val="D9CCEC"/>
          </a:solidFill>
          <a:ln w="12700">
            <a:solidFill>
              <a:srgbClr val="FFFFFF"/>
            </a:solidFill>
            <a:prstDash val="solid"/>
          </a:ln>
        </p:spPr>
        <p:txBody>
          <a:bodyPr/>
          <a:lstStyle/>
          <a:p>
            <a:endParaRPr lang="en-US"/>
          </a:p>
        </p:txBody>
      </p:sp>
      <p:sp>
        <p:nvSpPr>
          <p:cNvPr id="22" name="Shape 20"/>
          <p:cNvSpPr/>
          <p:nvPr/>
        </p:nvSpPr>
        <p:spPr>
          <a:xfrm>
            <a:off x="10442448" y="2560320"/>
            <a:ext cx="475488" cy="475488"/>
          </a:xfrm>
          <a:prstGeom prst="rect">
            <a:avLst/>
          </a:prstGeom>
          <a:solidFill>
            <a:srgbClr val="D9CCEC"/>
          </a:solidFill>
          <a:ln w="12700">
            <a:solidFill>
              <a:srgbClr val="FFFFFF"/>
            </a:solidFill>
            <a:prstDash val="solid"/>
          </a:ln>
        </p:spPr>
        <p:txBody>
          <a:bodyPr/>
          <a:lstStyle/>
          <a:p>
            <a:endParaRPr lang="en-US"/>
          </a:p>
        </p:txBody>
      </p:sp>
      <p:sp>
        <p:nvSpPr>
          <p:cNvPr id="23" name="Shape 21"/>
          <p:cNvSpPr/>
          <p:nvPr/>
        </p:nvSpPr>
        <p:spPr>
          <a:xfrm>
            <a:off x="7040880" y="3127248"/>
            <a:ext cx="475488" cy="475488"/>
          </a:xfrm>
          <a:prstGeom prst="rect">
            <a:avLst/>
          </a:prstGeom>
          <a:solidFill>
            <a:srgbClr val="D9CCEC"/>
          </a:solidFill>
          <a:ln w="12700">
            <a:solidFill>
              <a:srgbClr val="FFFFFF"/>
            </a:solidFill>
            <a:prstDash val="solid"/>
          </a:ln>
        </p:spPr>
        <p:txBody>
          <a:bodyPr/>
          <a:lstStyle/>
          <a:p>
            <a:endParaRPr lang="en-US"/>
          </a:p>
        </p:txBody>
      </p:sp>
      <p:sp>
        <p:nvSpPr>
          <p:cNvPr id="24" name="Shape 22"/>
          <p:cNvSpPr/>
          <p:nvPr/>
        </p:nvSpPr>
        <p:spPr>
          <a:xfrm>
            <a:off x="7607808" y="3127248"/>
            <a:ext cx="475488" cy="475488"/>
          </a:xfrm>
          <a:prstGeom prst="rect">
            <a:avLst/>
          </a:prstGeom>
          <a:solidFill>
            <a:srgbClr val="D9CCEC"/>
          </a:solidFill>
          <a:ln w="12700">
            <a:solidFill>
              <a:srgbClr val="FFFFFF"/>
            </a:solidFill>
            <a:prstDash val="solid"/>
          </a:ln>
        </p:spPr>
        <p:txBody>
          <a:bodyPr/>
          <a:lstStyle/>
          <a:p>
            <a:endParaRPr lang="en-US"/>
          </a:p>
        </p:txBody>
      </p:sp>
      <p:sp>
        <p:nvSpPr>
          <p:cNvPr id="25" name="Shape 23"/>
          <p:cNvSpPr/>
          <p:nvPr/>
        </p:nvSpPr>
        <p:spPr>
          <a:xfrm>
            <a:off x="8174736" y="3127248"/>
            <a:ext cx="475488" cy="475488"/>
          </a:xfrm>
          <a:prstGeom prst="rect">
            <a:avLst/>
          </a:prstGeom>
          <a:solidFill>
            <a:srgbClr val="D9CCEC"/>
          </a:solidFill>
          <a:ln w="12700">
            <a:solidFill>
              <a:srgbClr val="FFFFFF"/>
            </a:solidFill>
            <a:prstDash val="solid"/>
          </a:ln>
        </p:spPr>
        <p:txBody>
          <a:bodyPr/>
          <a:lstStyle/>
          <a:p>
            <a:endParaRPr lang="en-US"/>
          </a:p>
        </p:txBody>
      </p:sp>
      <p:sp>
        <p:nvSpPr>
          <p:cNvPr id="26" name="Shape 24"/>
          <p:cNvSpPr/>
          <p:nvPr/>
        </p:nvSpPr>
        <p:spPr>
          <a:xfrm>
            <a:off x="8741664" y="3127248"/>
            <a:ext cx="475488" cy="475488"/>
          </a:xfrm>
          <a:prstGeom prst="rect">
            <a:avLst/>
          </a:prstGeom>
          <a:solidFill>
            <a:srgbClr val="D9CCEC"/>
          </a:solidFill>
          <a:ln w="12700">
            <a:solidFill>
              <a:srgbClr val="FFFFFF"/>
            </a:solidFill>
            <a:prstDash val="solid"/>
          </a:ln>
        </p:spPr>
        <p:txBody>
          <a:bodyPr/>
          <a:lstStyle/>
          <a:p>
            <a:endParaRPr lang="en-US"/>
          </a:p>
        </p:txBody>
      </p:sp>
      <p:sp>
        <p:nvSpPr>
          <p:cNvPr id="27" name="Shape 25"/>
          <p:cNvSpPr/>
          <p:nvPr/>
        </p:nvSpPr>
        <p:spPr>
          <a:xfrm>
            <a:off x="9308592" y="3127248"/>
            <a:ext cx="475488" cy="475488"/>
          </a:xfrm>
          <a:prstGeom prst="rect">
            <a:avLst/>
          </a:prstGeom>
          <a:solidFill>
            <a:srgbClr val="D6336C"/>
          </a:solidFill>
          <a:ln w="12700">
            <a:solidFill>
              <a:srgbClr val="FFFFFF"/>
            </a:solidFill>
            <a:prstDash val="solid"/>
          </a:ln>
        </p:spPr>
        <p:txBody>
          <a:bodyPr/>
          <a:lstStyle/>
          <a:p>
            <a:endParaRPr lang="en-US"/>
          </a:p>
        </p:txBody>
      </p:sp>
      <p:sp>
        <p:nvSpPr>
          <p:cNvPr id="28" name="Shape 26"/>
          <p:cNvSpPr/>
          <p:nvPr/>
        </p:nvSpPr>
        <p:spPr>
          <a:xfrm>
            <a:off x="9875520" y="3127248"/>
            <a:ext cx="475488" cy="475488"/>
          </a:xfrm>
          <a:prstGeom prst="rect">
            <a:avLst/>
          </a:prstGeom>
          <a:solidFill>
            <a:srgbClr val="D9CCEC"/>
          </a:solidFill>
          <a:ln w="12700">
            <a:solidFill>
              <a:srgbClr val="FFFFFF"/>
            </a:solidFill>
            <a:prstDash val="solid"/>
          </a:ln>
        </p:spPr>
        <p:txBody>
          <a:bodyPr/>
          <a:lstStyle/>
          <a:p>
            <a:endParaRPr lang="en-US"/>
          </a:p>
        </p:txBody>
      </p:sp>
      <p:sp>
        <p:nvSpPr>
          <p:cNvPr id="29" name="Shape 27"/>
          <p:cNvSpPr/>
          <p:nvPr/>
        </p:nvSpPr>
        <p:spPr>
          <a:xfrm>
            <a:off x="10442448" y="3127248"/>
            <a:ext cx="475488" cy="475488"/>
          </a:xfrm>
          <a:prstGeom prst="rect">
            <a:avLst/>
          </a:prstGeom>
          <a:solidFill>
            <a:srgbClr val="D9CCEC"/>
          </a:solidFill>
          <a:ln w="12700">
            <a:solidFill>
              <a:srgbClr val="FFFFFF"/>
            </a:solidFill>
            <a:prstDash val="solid"/>
          </a:ln>
        </p:spPr>
        <p:txBody>
          <a:bodyPr/>
          <a:lstStyle/>
          <a:p>
            <a:endParaRPr lang="en-US"/>
          </a:p>
        </p:txBody>
      </p:sp>
      <p:sp>
        <p:nvSpPr>
          <p:cNvPr id="30" name="Shape 28"/>
          <p:cNvSpPr/>
          <p:nvPr/>
        </p:nvSpPr>
        <p:spPr>
          <a:xfrm>
            <a:off x="7040880" y="3694176"/>
            <a:ext cx="475488" cy="475488"/>
          </a:xfrm>
          <a:prstGeom prst="rect">
            <a:avLst/>
          </a:prstGeom>
          <a:solidFill>
            <a:srgbClr val="D9CCEC"/>
          </a:solidFill>
          <a:ln w="12700">
            <a:solidFill>
              <a:srgbClr val="FFFFFF"/>
            </a:solidFill>
            <a:prstDash val="solid"/>
          </a:ln>
        </p:spPr>
        <p:txBody>
          <a:bodyPr/>
          <a:lstStyle/>
          <a:p>
            <a:endParaRPr lang="en-US"/>
          </a:p>
        </p:txBody>
      </p:sp>
      <p:sp>
        <p:nvSpPr>
          <p:cNvPr id="31" name="Shape 29"/>
          <p:cNvSpPr/>
          <p:nvPr/>
        </p:nvSpPr>
        <p:spPr>
          <a:xfrm>
            <a:off x="7607808" y="3694176"/>
            <a:ext cx="475488" cy="475488"/>
          </a:xfrm>
          <a:prstGeom prst="rect">
            <a:avLst/>
          </a:prstGeom>
          <a:solidFill>
            <a:srgbClr val="D6336C"/>
          </a:solidFill>
          <a:ln w="12700">
            <a:solidFill>
              <a:srgbClr val="FFFFFF"/>
            </a:solidFill>
            <a:prstDash val="solid"/>
          </a:ln>
        </p:spPr>
        <p:txBody>
          <a:bodyPr/>
          <a:lstStyle/>
          <a:p>
            <a:endParaRPr lang="en-US"/>
          </a:p>
        </p:txBody>
      </p:sp>
      <p:sp>
        <p:nvSpPr>
          <p:cNvPr id="32" name="Shape 30"/>
          <p:cNvSpPr/>
          <p:nvPr/>
        </p:nvSpPr>
        <p:spPr>
          <a:xfrm>
            <a:off x="8174736" y="3694176"/>
            <a:ext cx="475488" cy="475488"/>
          </a:xfrm>
          <a:prstGeom prst="rect">
            <a:avLst/>
          </a:prstGeom>
          <a:solidFill>
            <a:srgbClr val="D9CCEC"/>
          </a:solidFill>
          <a:ln w="12700">
            <a:solidFill>
              <a:srgbClr val="FFFFFF"/>
            </a:solidFill>
            <a:prstDash val="solid"/>
          </a:ln>
        </p:spPr>
        <p:txBody>
          <a:bodyPr/>
          <a:lstStyle/>
          <a:p>
            <a:endParaRPr lang="en-US"/>
          </a:p>
        </p:txBody>
      </p:sp>
      <p:sp>
        <p:nvSpPr>
          <p:cNvPr id="33" name="Shape 31"/>
          <p:cNvSpPr/>
          <p:nvPr/>
        </p:nvSpPr>
        <p:spPr>
          <a:xfrm>
            <a:off x="8741664" y="3694176"/>
            <a:ext cx="475488" cy="475488"/>
          </a:xfrm>
          <a:prstGeom prst="rect">
            <a:avLst/>
          </a:prstGeom>
          <a:solidFill>
            <a:srgbClr val="D9CCEC"/>
          </a:solidFill>
          <a:ln w="12700">
            <a:solidFill>
              <a:srgbClr val="FFFFFF"/>
            </a:solidFill>
            <a:prstDash val="solid"/>
          </a:ln>
        </p:spPr>
        <p:txBody>
          <a:bodyPr/>
          <a:lstStyle/>
          <a:p>
            <a:endParaRPr lang="en-US"/>
          </a:p>
        </p:txBody>
      </p:sp>
      <p:sp>
        <p:nvSpPr>
          <p:cNvPr id="34" name="Shape 32"/>
          <p:cNvSpPr/>
          <p:nvPr/>
        </p:nvSpPr>
        <p:spPr>
          <a:xfrm>
            <a:off x="9308592" y="3694176"/>
            <a:ext cx="475488" cy="475488"/>
          </a:xfrm>
          <a:prstGeom prst="rect">
            <a:avLst/>
          </a:prstGeom>
          <a:solidFill>
            <a:srgbClr val="D9CCEC"/>
          </a:solidFill>
          <a:ln w="12700">
            <a:solidFill>
              <a:srgbClr val="FFFFFF"/>
            </a:solidFill>
            <a:prstDash val="solid"/>
          </a:ln>
        </p:spPr>
        <p:txBody>
          <a:bodyPr/>
          <a:lstStyle/>
          <a:p>
            <a:endParaRPr lang="en-US"/>
          </a:p>
        </p:txBody>
      </p:sp>
      <p:sp>
        <p:nvSpPr>
          <p:cNvPr id="35" name="Shape 33"/>
          <p:cNvSpPr/>
          <p:nvPr/>
        </p:nvSpPr>
        <p:spPr>
          <a:xfrm>
            <a:off x="9875520" y="3694176"/>
            <a:ext cx="475488" cy="475488"/>
          </a:xfrm>
          <a:prstGeom prst="rect">
            <a:avLst/>
          </a:prstGeom>
          <a:solidFill>
            <a:srgbClr val="D9CCEC"/>
          </a:solidFill>
          <a:ln w="12700">
            <a:solidFill>
              <a:srgbClr val="FFFFFF"/>
            </a:solidFill>
            <a:prstDash val="solid"/>
          </a:ln>
        </p:spPr>
        <p:txBody>
          <a:bodyPr/>
          <a:lstStyle/>
          <a:p>
            <a:endParaRPr lang="en-US"/>
          </a:p>
        </p:txBody>
      </p:sp>
      <p:sp>
        <p:nvSpPr>
          <p:cNvPr id="36" name="Shape 34"/>
          <p:cNvSpPr/>
          <p:nvPr/>
        </p:nvSpPr>
        <p:spPr>
          <a:xfrm>
            <a:off x="10442448" y="3694176"/>
            <a:ext cx="475488" cy="475488"/>
          </a:xfrm>
          <a:prstGeom prst="rect">
            <a:avLst/>
          </a:prstGeom>
          <a:solidFill>
            <a:srgbClr val="D9CCEC"/>
          </a:solidFill>
          <a:ln w="12700">
            <a:solidFill>
              <a:srgbClr val="FFFFFF"/>
            </a:solidFill>
            <a:prstDash val="solid"/>
          </a:ln>
        </p:spPr>
        <p:txBody>
          <a:bodyPr/>
          <a:lstStyle/>
          <a:p>
            <a:endParaRPr lang="en-US"/>
          </a:p>
        </p:txBody>
      </p:sp>
      <p:sp>
        <p:nvSpPr>
          <p:cNvPr id="37" name="Shape 35"/>
          <p:cNvSpPr/>
          <p:nvPr/>
        </p:nvSpPr>
        <p:spPr>
          <a:xfrm>
            <a:off x="7040880" y="4261104"/>
            <a:ext cx="475488" cy="475488"/>
          </a:xfrm>
          <a:prstGeom prst="rect">
            <a:avLst/>
          </a:prstGeom>
          <a:solidFill>
            <a:srgbClr val="D9CCEC"/>
          </a:solidFill>
          <a:ln w="12700">
            <a:solidFill>
              <a:srgbClr val="FFFFFF"/>
            </a:solidFill>
            <a:prstDash val="solid"/>
          </a:ln>
        </p:spPr>
        <p:txBody>
          <a:bodyPr/>
          <a:lstStyle/>
          <a:p>
            <a:endParaRPr lang="en-US"/>
          </a:p>
        </p:txBody>
      </p:sp>
      <p:sp>
        <p:nvSpPr>
          <p:cNvPr id="38" name="Shape 36"/>
          <p:cNvSpPr/>
          <p:nvPr/>
        </p:nvSpPr>
        <p:spPr>
          <a:xfrm>
            <a:off x="7607808" y="4261104"/>
            <a:ext cx="475488" cy="475488"/>
          </a:xfrm>
          <a:prstGeom prst="rect">
            <a:avLst/>
          </a:prstGeom>
          <a:solidFill>
            <a:srgbClr val="D9CCEC"/>
          </a:solidFill>
          <a:ln w="12700">
            <a:solidFill>
              <a:srgbClr val="FFFFFF"/>
            </a:solidFill>
            <a:prstDash val="solid"/>
          </a:ln>
        </p:spPr>
        <p:txBody>
          <a:bodyPr/>
          <a:lstStyle/>
          <a:p>
            <a:endParaRPr lang="en-US"/>
          </a:p>
        </p:txBody>
      </p:sp>
      <p:sp>
        <p:nvSpPr>
          <p:cNvPr id="39" name="Shape 37"/>
          <p:cNvSpPr/>
          <p:nvPr/>
        </p:nvSpPr>
        <p:spPr>
          <a:xfrm>
            <a:off x="8174736" y="4261104"/>
            <a:ext cx="475488" cy="475488"/>
          </a:xfrm>
          <a:prstGeom prst="rect">
            <a:avLst/>
          </a:prstGeom>
          <a:solidFill>
            <a:srgbClr val="D9CCEC"/>
          </a:solidFill>
          <a:ln w="12700">
            <a:solidFill>
              <a:srgbClr val="FFFFFF"/>
            </a:solidFill>
            <a:prstDash val="solid"/>
          </a:ln>
        </p:spPr>
        <p:txBody>
          <a:bodyPr/>
          <a:lstStyle/>
          <a:p>
            <a:endParaRPr lang="en-US"/>
          </a:p>
        </p:txBody>
      </p:sp>
      <p:sp>
        <p:nvSpPr>
          <p:cNvPr id="40" name="Shape 38"/>
          <p:cNvSpPr/>
          <p:nvPr/>
        </p:nvSpPr>
        <p:spPr>
          <a:xfrm>
            <a:off x="8741664" y="4261104"/>
            <a:ext cx="475488" cy="475488"/>
          </a:xfrm>
          <a:prstGeom prst="rect">
            <a:avLst/>
          </a:prstGeom>
          <a:solidFill>
            <a:srgbClr val="D9CCEC"/>
          </a:solidFill>
          <a:ln w="12700">
            <a:solidFill>
              <a:srgbClr val="FFFFFF"/>
            </a:solidFill>
            <a:prstDash val="solid"/>
          </a:ln>
        </p:spPr>
        <p:txBody>
          <a:bodyPr/>
          <a:lstStyle/>
          <a:p>
            <a:endParaRPr lang="en-US"/>
          </a:p>
        </p:txBody>
      </p:sp>
      <p:sp>
        <p:nvSpPr>
          <p:cNvPr id="41" name="Shape 39"/>
          <p:cNvSpPr/>
          <p:nvPr/>
        </p:nvSpPr>
        <p:spPr>
          <a:xfrm>
            <a:off x="9308592" y="4261104"/>
            <a:ext cx="475488" cy="475488"/>
          </a:xfrm>
          <a:prstGeom prst="rect">
            <a:avLst/>
          </a:prstGeom>
          <a:solidFill>
            <a:srgbClr val="D9CCEC"/>
          </a:solidFill>
          <a:ln w="12700">
            <a:solidFill>
              <a:srgbClr val="FFFFFF"/>
            </a:solidFill>
            <a:prstDash val="solid"/>
          </a:ln>
        </p:spPr>
        <p:txBody>
          <a:bodyPr/>
          <a:lstStyle/>
          <a:p>
            <a:endParaRPr lang="en-US"/>
          </a:p>
        </p:txBody>
      </p:sp>
      <p:sp>
        <p:nvSpPr>
          <p:cNvPr id="42" name="Shape 40"/>
          <p:cNvSpPr/>
          <p:nvPr/>
        </p:nvSpPr>
        <p:spPr>
          <a:xfrm>
            <a:off x="9875520" y="4261104"/>
            <a:ext cx="475488" cy="475488"/>
          </a:xfrm>
          <a:prstGeom prst="rect">
            <a:avLst/>
          </a:prstGeom>
          <a:solidFill>
            <a:srgbClr val="D9CCEC"/>
          </a:solidFill>
          <a:ln w="12700">
            <a:solidFill>
              <a:srgbClr val="FFFFFF"/>
            </a:solidFill>
            <a:prstDash val="solid"/>
          </a:ln>
        </p:spPr>
        <p:txBody>
          <a:bodyPr/>
          <a:lstStyle/>
          <a:p>
            <a:endParaRPr lang="en-US"/>
          </a:p>
        </p:txBody>
      </p:sp>
      <p:sp>
        <p:nvSpPr>
          <p:cNvPr id="43" name="Shape 41"/>
          <p:cNvSpPr/>
          <p:nvPr/>
        </p:nvSpPr>
        <p:spPr>
          <a:xfrm>
            <a:off x="10442448" y="4261104"/>
            <a:ext cx="475488" cy="475488"/>
          </a:xfrm>
          <a:prstGeom prst="rect">
            <a:avLst/>
          </a:prstGeom>
          <a:solidFill>
            <a:srgbClr val="D9CCEC"/>
          </a:solidFill>
          <a:ln w="12700">
            <a:solidFill>
              <a:srgbClr val="FFFFFF"/>
            </a:solidFill>
            <a:prstDash val="solid"/>
          </a:ln>
        </p:spPr>
        <p:txBody>
          <a:bodyPr/>
          <a:lstStyle/>
          <a:p>
            <a:endParaRPr lang="en-US"/>
          </a:p>
        </p:txBody>
      </p:sp>
      <p:sp>
        <p:nvSpPr>
          <p:cNvPr id="44" name="Text 42"/>
          <p:cNvSpPr/>
          <p:nvPr/>
        </p:nvSpPr>
        <p:spPr>
          <a:xfrm>
            <a:off x="7040880" y="2560320"/>
            <a:ext cx="475488" cy="475488"/>
          </a:xfrm>
          <a:prstGeom prst="rect">
            <a:avLst/>
          </a:prstGeom>
          <a:noFill/>
          <a:ln/>
        </p:spPr>
        <p:txBody>
          <a:bodyPr wrap="square" lIns="0" tIns="0" rIns="0" bIns="0" rtlCol="0" anchor="ctr"/>
          <a:lstStyle/>
          <a:p>
            <a:pPr marL="0" indent="0" algn="ctr">
              <a:buNone/>
            </a:pPr>
            <a:r>
              <a:rPr lang="en-US" sz="1350" i="1" dirty="0">
                <a:solidFill>
                  <a:srgbClr val="4A2C6D"/>
                </a:solidFill>
                <a:latin typeface="Courier New" pitchFamily="34" charset="0"/>
                <a:ea typeface="Courier New" pitchFamily="34" charset="-122"/>
                <a:cs typeface="Courier New" pitchFamily="34" charset="-120"/>
              </a:rPr>
              <a:t>xᵢ</a:t>
            </a:r>
            <a:endParaRPr lang="en-US" sz="1350" dirty="0"/>
          </a:p>
        </p:txBody>
      </p:sp>
      <p:sp>
        <p:nvSpPr>
          <p:cNvPr id="45" name="Text 4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46" name="Text 44"/>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10</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MIL · TWO PARADIGMS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Instance-level vs embedding-level MIL</a:t>
            </a:r>
            <a:endParaRPr lang="en-US" sz="2900" dirty="0"/>
          </a:p>
        </p:txBody>
      </p:sp>
      <p:sp>
        <p:nvSpPr>
          <p:cNvPr id="5" name="Shape 3"/>
          <p:cNvSpPr/>
          <p:nvPr/>
        </p:nvSpPr>
        <p:spPr>
          <a:xfrm>
            <a:off x="640080" y="1508760"/>
            <a:ext cx="5486400" cy="4572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4572000"/>
          </a:xfrm>
          <a:prstGeom prst="rect">
            <a:avLst/>
          </a:prstGeom>
          <a:solidFill>
            <a:srgbClr val="C77D14"/>
          </a:solidFill>
          <a:ln/>
        </p:spPr>
        <p:txBody>
          <a:bodyPr/>
          <a:lstStyle/>
          <a:p>
            <a:endParaRPr lang="en-US"/>
          </a:p>
        </p:txBody>
      </p:sp>
      <p:sp>
        <p:nvSpPr>
          <p:cNvPr id="7" name="Text 5"/>
          <p:cNvSpPr/>
          <p:nvPr/>
        </p:nvSpPr>
        <p:spPr>
          <a:xfrm>
            <a:off x="896112" y="1664208"/>
            <a:ext cx="4572000" cy="365760"/>
          </a:xfrm>
          <a:prstGeom prst="rect">
            <a:avLst/>
          </a:prstGeom>
          <a:noFill/>
          <a:ln/>
        </p:spPr>
        <p:txBody>
          <a:bodyPr wrap="square" lIns="0" tIns="0" rIns="0" bIns="0" rtlCol="0" anchor="ctr"/>
          <a:lstStyle/>
          <a:p>
            <a:pPr marL="0" indent="0">
              <a:buNone/>
            </a:pPr>
            <a:r>
              <a:rPr lang="en-US" sz="1900" b="1" dirty="0">
                <a:solidFill>
                  <a:srgbClr val="C77D14"/>
                </a:solidFill>
                <a:latin typeface="Calibri" pitchFamily="34" charset="0"/>
                <a:ea typeface="Calibri" pitchFamily="34" charset="-122"/>
                <a:cs typeface="Calibri" pitchFamily="34" charset="-120"/>
              </a:rPr>
              <a:t>Instance-level</a:t>
            </a:r>
            <a:endParaRPr lang="en-US" sz="1900" dirty="0"/>
          </a:p>
        </p:txBody>
      </p:sp>
      <p:sp>
        <p:nvSpPr>
          <p:cNvPr id="8" name="Text 6"/>
          <p:cNvSpPr/>
          <p:nvPr/>
        </p:nvSpPr>
        <p:spPr>
          <a:xfrm>
            <a:off x="896112" y="2029968"/>
            <a:ext cx="4937760" cy="274320"/>
          </a:xfrm>
          <a:prstGeom prst="rect">
            <a:avLst/>
          </a:prstGeom>
          <a:noFill/>
          <a:ln/>
        </p:spPr>
        <p:txBody>
          <a:bodyPr wrap="square" lIns="0" tIns="0" rIns="0" bIns="0" rtlCol="0" anchor="ctr"/>
          <a:lstStyle/>
          <a:p>
            <a:pPr marL="0" indent="0">
              <a:buNone/>
            </a:pPr>
            <a:r>
              <a:rPr lang="en-US" sz="1450" i="1" dirty="0">
                <a:solidFill>
                  <a:srgbClr val="8A7F99"/>
                </a:solidFill>
                <a:latin typeface="Calibri" pitchFamily="34" charset="0"/>
                <a:ea typeface="Calibri" pitchFamily="34" charset="-122"/>
                <a:cs typeface="Calibri" pitchFamily="34" charset="-120"/>
              </a:rPr>
              <a:t>Score each patch, then pool the scores</a:t>
            </a:r>
            <a:endParaRPr lang="en-US" sz="1450" dirty="0"/>
          </a:p>
        </p:txBody>
      </p:sp>
      <p:sp>
        <p:nvSpPr>
          <p:cNvPr id="9" name="Text 7"/>
          <p:cNvSpPr/>
          <p:nvPr/>
        </p:nvSpPr>
        <p:spPr>
          <a:xfrm>
            <a:off x="896112" y="2423160"/>
            <a:ext cx="5029200" cy="155448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Classifier f(xᵢ) → ŷᵢ for every instance.</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Bag score = max / mean of instance scores.</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Interpretable per-patch, but noisy and unstable under weak labels.</a:t>
            </a:r>
            <a:endParaRPr lang="en-US" sz="1750" dirty="0"/>
          </a:p>
        </p:txBody>
      </p:sp>
      <p:sp>
        <p:nvSpPr>
          <p:cNvPr id="10" name="Shape 8"/>
          <p:cNvSpPr/>
          <p:nvPr/>
        </p:nvSpPr>
        <p:spPr>
          <a:xfrm>
            <a:off x="822960" y="4160520"/>
            <a:ext cx="5120640" cy="91440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11" name="Text 9"/>
          <p:cNvSpPr/>
          <p:nvPr/>
        </p:nvSpPr>
        <p:spPr>
          <a:xfrm>
            <a:off x="1005840" y="4251960"/>
            <a:ext cx="4754880" cy="73152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Ŷ = max_i  f(xᵢ)</a:t>
            </a:r>
            <a:endParaRPr lang="en-US" sz="1900" dirty="0"/>
          </a:p>
        </p:txBody>
      </p:sp>
      <p:sp>
        <p:nvSpPr>
          <p:cNvPr id="12" name="Text 10"/>
          <p:cNvSpPr/>
          <p:nvPr/>
        </p:nvSpPr>
        <p:spPr>
          <a:xfrm>
            <a:off x="822960" y="5166360"/>
            <a:ext cx="5120640" cy="365760"/>
          </a:xfrm>
          <a:prstGeom prst="rect">
            <a:avLst/>
          </a:prstGeom>
          <a:noFill/>
          <a:ln/>
        </p:spPr>
        <p:txBody>
          <a:bodyPr wrap="square" lIns="0" tIns="0" rIns="0" bIns="0" rtlCol="0" anchor="ctr"/>
          <a:lstStyle/>
          <a:p>
            <a:pPr marL="0" indent="0" algn="ctr">
              <a:buNone/>
            </a:pPr>
            <a:r>
              <a:rPr lang="en-US" sz="1350" i="1" dirty="0">
                <a:solidFill>
                  <a:srgbClr val="8A7F99"/>
                </a:solidFill>
                <a:latin typeface="Calibri" pitchFamily="34" charset="0"/>
                <a:ea typeface="Calibri" pitchFamily="34" charset="-122"/>
                <a:cs typeface="Calibri" pitchFamily="34" charset="-120"/>
              </a:rPr>
              <a:t>Classic deep-MIL (e.g. max-pooling baselines)</a:t>
            </a:r>
            <a:endParaRPr lang="en-US" sz="1350" dirty="0"/>
          </a:p>
        </p:txBody>
      </p:sp>
      <p:sp>
        <p:nvSpPr>
          <p:cNvPr id="13" name="Shape 11"/>
          <p:cNvSpPr/>
          <p:nvPr/>
        </p:nvSpPr>
        <p:spPr>
          <a:xfrm>
            <a:off x="6355080" y="1508760"/>
            <a:ext cx="5440680" cy="4572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6355080" y="1508760"/>
            <a:ext cx="82296" cy="4572000"/>
          </a:xfrm>
          <a:prstGeom prst="rect">
            <a:avLst/>
          </a:prstGeom>
          <a:solidFill>
            <a:srgbClr val="1C8C8C"/>
          </a:solidFill>
          <a:ln/>
        </p:spPr>
        <p:txBody>
          <a:bodyPr/>
          <a:lstStyle/>
          <a:p>
            <a:endParaRPr lang="en-US"/>
          </a:p>
        </p:txBody>
      </p:sp>
      <p:sp>
        <p:nvSpPr>
          <p:cNvPr id="15" name="Text 13"/>
          <p:cNvSpPr/>
          <p:nvPr/>
        </p:nvSpPr>
        <p:spPr>
          <a:xfrm>
            <a:off x="6611112" y="1664208"/>
            <a:ext cx="4572000" cy="365760"/>
          </a:xfrm>
          <a:prstGeom prst="rect">
            <a:avLst/>
          </a:prstGeom>
          <a:noFill/>
          <a:ln/>
        </p:spPr>
        <p:txBody>
          <a:bodyPr wrap="square" lIns="0" tIns="0" rIns="0" bIns="0" rtlCol="0" anchor="ctr"/>
          <a:lstStyle/>
          <a:p>
            <a:pPr marL="0" indent="0">
              <a:buNone/>
            </a:pPr>
            <a:r>
              <a:rPr lang="en-US" sz="1900" b="1" dirty="0">
                <a:solidFill>
                  <a:srgbClr val="1C8C8C"/>
                </a:solidFill>
                <a:latin typeface="Calibri" pitchFamily="34" charset="0"/>
                <a:ea typeface="Calibri" pitchFamily="34" charset="-122"/>
                <a:cs typeface="Calibri" pitchFamily="34" charset="-120"/>
              </a:rPr>
              <a:t>Embedding-level  ★</a:t>
            </a:r>
            <a:endParaRPr lang="en-US" sz="1900" dirty="0"/>
          </a:p>
        </p:txBody>
      </p:sp>
      <p:sp>
        <p:nvSpPr>
          <p:cNvPr id="16" name="Text 14"/>
          <p:cNvSpPr/>
          <p:nvPr/>
        </p:nvSpPr>
        <p:spPr>
          <a:xfrm>
            <a:off x="6611112" y="2029968"/>
            <a:ext cx="4937760" cy="274320"/>
          </a:xfrm>
          <a:prstGeom prst="rect">
            <a:avLst/>
          </a:prstGeom>
          <a:noFill/>
          <a:ln/>
        </p:spPr>
        <p:txBody>
          <a:bodyPr wrap="square" lIns="0" tIns="0" rIns="0" bIns="0" rtlCol="0" anchor="ctr"/>
          <a:lstStyle/>
          <a:p>
            <a:pPr marL="0" indent="0">
              <a:buNone/>
            </a:pPr>
            <a:r>
              <a:rPr lang="en-US" sz="1450" i="1" dirty="0">
                <a:solidFill>
                  <a:srgbClr val="8A7F99"/>
                </a:solidFill>
                <a:latin typeface="Calibri" pitchFamily="34" charset="0"/>
                <a:ea typeface="Calibri" pitchFamily="34" charset="-122"/>
                <a:cs typeface="Calibri" pitchFamily="34" charset="-120"/>
              </a:rPr>
              <a:t>Pool features first, classify once</a:t>
            </a:r>
            <a:endParaRPr lang="en-US" sz="1450" dirty="0"/>
          </a:p>
        </p:txBody>
      </p:sp>
      <p:sp>
        <p:nvSpPr>
          <p:cNvPr id="17" name="Text 15"/>
          <p:cNvSpPr/>
          <p:nvPr/>
        </p:nvSpPr>
        <p:spPr>
          <a:xfrm>
            <a:off x="6611112" y="2423160"/>
            <a:ext cx="4937760" cy="155448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Encode each patch → embedding hᵢ ∈ ℝᵈ.</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Pool embeddings → one bag vector z.</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One classifier g(z) → Ŷ. More stable, SOTA approach.</a:t>
            </a:r>
            <a:endParaRPr lang="en-US" sz="1750" dirty="0"/>
          </a:p>
        </p:txBody>
      </p:sp>
      <p:sp>
        <p:nvSpPr>
          <p:cNvPr id="18" name="Shape 16"/>
          <p:cNvSpPr/>
          <p:nvPr/>
        </p:nvSpPr>
        <p:spPr>
          <a:xfrm>
            <a:off x="6537960" y="4160520"/>
            <a:ext cx="5074920" cy="91440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19" name="Text 17"/>
          <p:cNvSpPr/>
          <p:nvPr/>
        </p:nvSpPr>
        <p:spPr>
          <a:xfrm>
            <a:off x="6720840" y="4251960"/>
            <a:ext cx="4709160" cy="73152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z = Σ_i aᵢ hᵢ ;  Ŷ = g(z)</a:t>
            </a:r>
            <a:endParaRPr lang="en-US" sz="1900" dirty="0"/>
          </a:p>
        </p:txBody>
      </p:sp>
      <p:sp>
        <p:nvSpPr>
          <p:cNvPr id="20" name="Text 18"/>
          <p:cNvSpPr/>
          <p:nvPr/>
        </p:nvSpPr>
        <p:spPr>
          <a:xfrm>
            <a:off x="6537960" y="5166360"/>
            <a:ext cx="5074920" cy="365760"/>
          </a:xfrm>
          <a:prstGeom prst="rect">
            <a:avLst/>
          </a:prstGeom>
          <a:noFill/>
          <a:ln/>
        </p:spPr>
        <p:txBody>
          <a:bodyPr wrap="square" lIns="0" tIns="0" rIns="0" bIns="0" rtlCol="0" anchor="ctr"/>
          <a:lstStyle/>
          <a:p>
            <a:pPr marL="0" indent="0" algn="ctr">
              <a:buNone/>
            </a:pPr>
            <a:r>
              <a:rPr lang="en-US" sz="1350" i="1" dirty="0">
                <a:solidFill>
                  <a:srgbClr val="1C8C8C"/>
                </a:solidFill>
                <a:latin typeface="Calibri" pitchFamily="34" charset="0"/>
                <a:ea typeface="Calibri" pitchFamily="34" charset="-122"/>
                <a:cs typeface="Calibri" pitchFamily="34" charset="-120"/>
              </a:rPr>
              <a:t>ABMIL / CLAM / TransMIL all live here</a:t>
            </a:r>
            <a:endParaRPr lang="en-US" sz="1350" dirty="0"/>
          </a:p>
        </p:txBody>
      </p:sp>
      <p:sp>
        <p:nvSpPr>
          <p:cNvPr id="21" name="Text 19"/>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2" name="Text 20"/>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11</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MIL · THE CORE ABSTRACTION</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Every MIL model is three boxes</a:t>
            </a:r>
            <a:endParaRPr lang="en-US" sz="2900" dirty="0"/>
          </a:p>
        </p:txBody>
      </p:sp>
      <p:sp>
        <p:nvSpPr>
          <p:cNvPr id="5" name="Shape 3"/>
          <p:cNvSpPr/>
          <p:nvPr/>
        </p:nvSpPr>
        <p:spPr>
          <a:xfrm>
            <a:off x="868680" y="1600200"/>
            <a:ext cx="3017520" cy="1554480"/>
          </a:xfrm>
          <a:prstGeom prst="roundRect">
            <a:avLst>
              <a:gd name="adj" fmla="val 4706"/>
            </a:avLst>
          </a:prstGeom>
          <a:solidFill>
            <a:srgbClr val="4A2C6D"/>
          </a:solidFill>
          <a:ln/>
          <a:effectLst>
            <a:outerShdw blurRad="88900" dist="38100" dir="8100000" algn="bl" rotWithShape="0">
              <a:srgbClr val="000000">
                <a:alpha val="13000"/>
              </a:srgbClr>
            </a:outerShdw>
          </a:effectLst>
        </p:spPr>
        <p:txBody>
          <a:bodyPr/>
          <a:lstStyle/>
          <a:p>
            <a:endParaRPr lang="en-US"/>
          </a:p>
        </p:txBody>
      </p:sp>
      <p:sp>
        <p:nvSpPr>
          <p:cNvPr id="6" name="Text 4"/>
          <p:cNvSpPr/>
          <p:nvPr/>
        </p:nvSpPr>
        <p:spPr>
          <a:xfrm>
            <a:off x="868680" y="1783080"/>
            <a:ext cx="301752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Encoder</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f( · )</a:t>
            </a:r>
            <a:endParaRPr lang="en-US" sz="2000" dirty="0"/>
          </a:p>
        </p:txBody>
      </p:sp>
      <p:sp>
        <p:nvSpPr>
          <p:cNvPr id="7" name="Text 5"/>
          <p:cNvSpPr/>
          <p:nvPr/>
        </p:nvSpPr>
        <p:spPr>
          <a:xfrm>
            <a:off x="960120" y="2468880"/>
            <a:ext cx="2834640" cy="594360"/>
          </a:xfrm>
          <a:prstGeom prst="rect">
            <a:avLst/>
          </a:prstGeom>
          <a:noFill/>
          <a:ln/>
        </p:spPr>
        <p:txBody>
          <a:bodyPr wrap="square" lIns="0" tIns="0" rIns="0" bIns="0" rtlCol="0" anchor="ctr"/>
          <a:lstStyle/>
          <a:p>
            <a:pPr marL="0" indent="0" algn="ctr">
              <a:buNone/>
            </a:pPr>
            <a:r>
              <a:rPr lang="en-US" sz="1400" dirty="0">
                <a:solidFill>
                  <a:srgbClr val="F0E8F8"/>
                </a:solidFill>
                <a:latin typeface="Calibri" pitchFamily="34" charset="0"/>
                <a:ea typeface="Calibri" pitchFamily="34" charset="-122"/>
                <a:cs typeface="Calibri" pitchFamily="34" charset="-120"/>
              </a:rPr>
              <a:t>each patch xᵢ →</a:t>
            </a:r>
            <a:endParaRPr lang="en-US" sz="1400" dirty="0"/>
          </a:p>
          <a:p>
            <a:pPr marL="0" indent="0" algn="ctr">
              <a:buNone/>
            </a:pPr>
            <a:r>
              <a:rPr lang="en-US" sz="1400" dirty="0">
                <a:solidFill>
                  <a:srgbClr val="F0E8F8"/>
                </a:solidFill>
                <a:latin typeface="Calibri" pitchFamily="34" charset="0"/>
                <a:ea typeface="Calibri" pitchFamily="34" charset="-122"/>
                <a:cs typeface="Calibri" pitchFamily="34" charset="-120"/>
              </a:rPr>
              <a:t>embedding hᵢ ∈ ℝᵈ</a:t>
            </a:r>
            <a:endParaRPr lang="en-US" sz="1400" dirty="0"/>
          </a:p>
        </p:txBody>
      </p:sp>
      <p:sp>
        <p:nvSpPr>
          <p:cNvPr id="8" name="Shape 6"/>
          <p:cNvSpPr/>
          <p:nvPr/>
        </p:nvSpPr>
        <p:spPr>
          <a:xfrm>
            <a:off x="3995928" y="2377440"/>
            <a:ext cx="694944" cy="0"/>
          </a:xfrm>
          <a:prstGeom prst="line">
            <a:avLst/>
          </a:prstGeom>
          <a:noFill/>
          <a:ln w="31750">
            <a:solidFill>
              <a:srgbClr val="8A7F99"/>
            </a:solidFill>
            <a:prstDash val="solid"/>
            <a:tailEnd type="triangle"/>
          </a:ln>
        </p:spPr>
        <p:txBody>
          <a:bodyPr/>
          <a:lstStyle/>
          <a:p>
            <a:endParaRPr lang="en-US"/>
          </a:p>
        </p:txBody>
      </p:sp>
      <p:sp>
        <p:nvSpPr>
          <p:cNvPr id="9" name="Shape 7"/>
          <p:cNvSpPr/>
          <p:nvPr/>
        </p:nvSpPr>
        <p:spPr>
          <a:xfrm>
            <a:off x="4800600" y="1600200"/>
            <a:ext cx="3017520" cy="1554480"/>
          </a:xfrm>
          <a:prstGeom prst="roundRect">
            <a:avLst>
              <a:gd name="adj" fmla="val 4706"/>
            </a:avLst>
          </a:prstGeom>
          <a:solidFill>
            <a:srgbClr val="D6336C"/>
          </a:solidFill>
          <a:ln/>
          <a:effectLst>
            <a:outerShdw blurRad="88900" dist="38100" dir="8100000" algn="bl" rotWithShape="0">
              <a:srgbClr val="000000">
                <a:alpha val="13000"/>
              </a:srgbClr>
            </a:outerShdw>
          </a:effectLst>
        </p:spPr>
        <p:txBody>
          <a:bodyPr/>
          <a:lstStyle/>
          <a:p>
            <a:endParaRPr lang="en-US"/>
          </a:p>
        </p:txBody>
      </p:sp>
      <p:sp>
        <p:nvSpPr>
          <p:cNvPr id="10" name="Text 8"/>
          <p:cNvSpPr/>
          <p:nvPr/>
        </p:nvSpPr>
        <p:spPr>
          <a:xfrm>
            <a:off x="4800600" y="1783080"/>
            <a:ext cx="301752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Pooling</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σ( · )</a:t>
            </a:r>
            <a:endParaRPr lang="en-US" sz="2000" dirty="0"/>
          </a:p>
        </p:txBody>
      </p:sp>
      <p:sp>
        <p:nvSpPr>
          <p:cNvPr id="11" name="Text 9"/>
          <p:cNvSpPr/>
          <p:nvPr/>
        </p:nvSpPr>
        <p:spPr>
          <a:xfrm>
            <a:off x="4892040" y="2468880"/>
            <a:ext cx="2834640" cy="594360"/>
          </a:xfrm>
          <a:prstGeom prst="rect">
            <a:avLst/>
          </a:prstGeom>
          <a:noFill/>
          <a:ln/>
        </p:spPr>
        <p:txBody>
          <a:bodyPr wrap="square" lIns="0" tIns="0" rIns="0" bIns="0" rtlCol="0" anchor="ctr"/>
          <a:lstStyle/>
          <a:p>
            <a:pPr marL="0" indent="0" algn="ctr">
              <a:buNone/>
            </a:pPr>
            <a:r>
              <a:rPr lang="en-US" sz="1400" dirty="0">
                <a:solidFill>
                  <a:srgbClr val="F0E8F8"/>
                </a:solidFill>
                <a:latin typeface="Calibri" pitchFamily="34" charset="0"/>
                <a:ea typeface="Calibri" pitchFamily="34" charset="-122"/>
                <a:cs typeface="Calibri" pitchFamily="34" charset="-120"/>
              </a:rPr>
              <a:t>permutation-invariant</a:t>
            </a:r>
            <a:endParaRPr lang="en-US" sz="1400" dirty="0"/>
          </a:p>
          <a:p>
            <a:pPr marL="0" indent="0" algn="ctr">
              <a:buNone/>
            </a:pPr>
            <a:r>
              <a:rPr lang="en-US" sz="1400" dirty="0">
                <a:solidFill>
                  <a:srgbClr val="F0E8F8"/>
                </a:solidFill>
                <a:latin typeface="Calibri" pitchFamily="34" charset="0"/>
                <a:ea typeface="Calibri" pitchFamily="34" charset="-122"/>
                <a:cs typeface="Calibri" pitchFamily="34" charset="-120"/>
              </a:rPr>
              <a:t>aggregate → z ∈ ℝᵈ</a:t>
            </a:r>
            <a:endParaRPr lang="en-US" sz="1400" dirty="0"/>
          </a:p>
        </p:txBody>
      </p:sp>
      <p:sp>
        <p:nvSpPr>
          <p:cNvPr id="12" name="Shape 10"/>
          <p:cNvSpPr/>
          <p:nvPr/>
        </p:nvSpPr>
        <p:spPr>
          <a:xfrm>
            <a:off x="7927848" y="2377440"/>
            <a:ext cx="694944" cy="0"/>
          </a:xfrm>
          <a:prstGeom prst="line">
            <a:avLst/>
          </a:prstGeom>
          <a:noFill/>
          <a:ln w="31750">
            <a:solidFill>
              <a:srgbClr val="8A7F99"/>
            </a:solidFill>
            <a:prstDash val="solid"/>
            <a:tailEnd type="triangle"/>
          </a:ln>
        </p:spPr>
        <p:txBody>
          <a:bodyPr/>
          <a:lstStyle/>
          <a:p>
            <a:endParaRPr lang="en-US"/>
          </a:p>
        </p:txBody>
      </p:sp>
      <p:sp>
        <p:nvSpPr>
          <p:cNvPr id="13" name="Shape 11"/>
          <p:cNvSpPr/>
          <p:nvPr/>
        </p:nvSpPr>
        <p:spPr>
          <a:xfrm>
            <a:off x="8732520" y="1600200"/>
            <a:ext cx="3017520" cy="1554480"/>
          </a:xfrm>
          <a:prstGeom prst="roundRect">
            <a:avLst>
              <a:gd name="adj" fmla="val 4706"/>
            </a:avLst>
          </a:prstGeom>
          <a:solidFill>
            <a:srgbClr val="1C8C8C"/>
          </a:solidFill>
          <a:ln/>
          <a:effectLst>
            <a:outerShdw blurRad="88900" dist="38100" dir="8100000" algn="bl" rotWithShape="0">
              <a:srgbClr val="000000">
                <a:alpha val="13000"/>
              </a:srgbClr>
            </a:outerShdw>
          </a:effectLst>
        </p:spPr>
        <p:txBody>
          <a:bodyPr/>
          <a:lstStyle/>
          <a:p>
            <a:endParaRPr lang="en-US"/>
          </a:p>
        </p:txBody>
      </p:sp>
      <p:sp>
        <p:nvSpPr>
          <p:cNvPr id="14" name="Text 12"/>
          <p:cNvSpPr/>
          <p:nvPr/>
        </p:nvSpPr>
        <p:spPr>
          <a:xfrm>
            <a:off x="8732520" y="1783080"/>
            <a:ext cx="301752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Classifier</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g( · )</a:t>
            </a:r>
            <a:endParaRPr lang="en-US" sz="2000" dirty="0"/>
          </a:p>
        </p:txBody>
      </p:sp>
      <p:sp>
        <p:nvSpPr>
          <p:cNvPr id="15" name="Text 13"/>
          <p:cNvSpPr/>
          <p:nvPr/>
        </p:nvSpPr>
        <p:spPr>
          <a:xfrm>
            <a:off x="8823960" y="2468880"/>
            <a:ext cx="2834640" cy="594360"/>
          </a:xfrm>
          <a:prstGeom prst="rect">
            <a:avLst/>
          </a:prstGeom>
          <a:noFill/>
          <a:ln/>
        </p:spPr>
        <p:txBody>
          <a:bodyPr wrap="square" lIns="0" tIns="0" rIns="0" bIns="0" rtlCol="0" anchor="ctr"/>
          <a:lstStyle/>
          <a:p>
            <a:pPr marL="0" indent="0" algn="ctr">
              <a:buNone/>
            </a:pPr>
            <a:r>
              <a:rPr lang="en-US" sz="1400" dirty="0">
                <a:solidFill>
                  <a:srgbClr val="F0E8F8"/>
                </a:solidFill>
                <a:latin typeface="Calibri" pitchFamily="34" charset="0"/>
                <a:ea typeface="Calibri" pitchFamily="34" charset="-122"/>
                <a:cs typeface="Calibri" pitchFamily="34" charset="-120"/>
              </a:rPr>
              <a:t>z → slide prediction Ŷ</a:t>
            </a:r>
            <a:endParaRPr lang="en-US" sz="1400" dirty="0"/>
          </a:p>
        </p:txBody>
      </p:sp>
      <p:sp>
        <p:nvSpPr>
          <p:cNvPr id="16" name="Shape 14"/>
          <p:cNvSpPr/>
          <p:nvPr/>
        </p:nvSpPr>
        <p:spPr>
          <a:xfrm>
            <a:off x="868680" y="3611880"/>
            <a:ext cx="10469880" cy="114300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17" name="Text 15"/>
          <p:cNvSpPr/>
          <p:nvPr/>
        </p:nvSpPr>
        <p:spPr>
          <a:xfrm>
            <a:off x="1051560" y="3703320"/>
            <a:ext cx="10104120" cy="68580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Ŷ = g( σ( { f(x₁), f(x₂), …, f(x_N) } ) )</a:t>
            </a:r>
            <a:endParaRPr lang="en-US" sz="1900" dirty="0"/>
          </a:p>
        </p:txBody>
      </p:sp>
      <p:sp>
        <p:nvSpPr>
          <p:cNvPr id="18" name="Text 16"/>
          <p:cNvSpPr/>
          <p:nvPr/>
        </p:nvSpPr>
        <p:spPr>
          <a:xfrm>
            <a:off x="1051560" y="4370832"/>
            <a:ext cx="10104120" cy="292608"/>
          </a:xfrm>
          <a:prstGeom prst="rect">
            <a:avLst/>
          </a:prstGeom>
          <a:noFill/>
          <a:ln/>
        </p:spPr>
        <p:txBody>
          <a:bodyPr wrap="square" lIns="0" tIns="0" rIns="0" bIns="0" rtlCol="0" anchor="ctr"/>
          <a:lstStyle/>
          <a:p>
            <a:pPr marL="0" indent="0" algn="ctr">
              <a:buNone/>
            </a:pPr>
            <a:r>
              <a:rPr lang="en-US" sz="1300" i="1" dirty="0">
                <a:solidFill>
                  <a:srgbClr val="8A7F99"/>
                </a:solidFill>
                <a:latin typeface="Calibri" pitchFamily="34" charset="0"/>
                <a:ea typeface="Calibri" pitchFamily="34" charset="-122"/>
                <a:cs typeface="Calibri" pitchFamily="34" charset="-120"/>
              </a:rPr>
              <a:t>σ must be permutation-invariant: the slide has no natural ordering of patches</a:t>
            </a:r>
            <a:endParaRPr lang="en-US" sz="1300" dirty="0"/>
          </a:p>
        </p:txBody>
      </p:sp>
      <p:sp>
        <p:nvSpPr>
          <p:cNvPr id="19" name="Shape 17"/>
          <p:cNvSpPr/>
          <p:nvPr/>
        </p:nvSpPr>
        <p:spPr>
          <a:xfrm>
            <a:off x="868680" y="4983480"/>
            <a:ext cx="10469880" cy="1234440"/>
          </a:xfrm>
          <a:prstGeom prst="rect">
            <a:avLst/>
          </a:prstGeom>
          <a:solidFill>
            <a:srgbClr val="FBF1F5"/>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0" name="Shape 18"/>
          <p:cNvSpPr/>
          <p:nvPr/>
        </p:nvSpPr>
        <p:spPr>
          <a:xfrm>
            <a:off x="868680" y="4983480"/>
            <a:ext cx="82296" cy="1234440"/>
          </a:xfrm>
          <a:prstGeom prst="rect">
            <a:avLst/>
          </a:prstGeom>
          <a:solidFill>
            <a:srgbClr val="D6336C"/>
          </a:solidFill>
          <a:ln/>
        </p:spPr>
        <p:txBody>
          <a:bodyPr/>
          <a:lstStyle/>
          <a:p>
            <a:endParaRPr lang="en-US"/>
          </a:p>
        </p:txBody>
      </p:sp>
      <p:sp>
        <p:nvSpPr>
          <p:cNvPr id="21" name="Text 19"/>
          <p:cNvSpPr/>
          <p:nvPr/>
        </p:nvSpPr>
        <p:spPr>
          <a:xfrm>
            <a:off x="1097280" y="5138928"/>
            <a:ext cx="10058400" cy="960120"/>
          </a:xfrm>
          <a:prstGeom prst="rect">
            <a:avLst/>
          </a:prstGeom>
          <a:noFill/>
          <a:ln/>
        </p:spPr>
        <p:txBody>
          <a:bodyPr wrap="square" lIns="0" tIns="0" rIns="0" bIns="0" rtlCol="0" anchor="t"/>
          <a:lstStyle/>
          <a:p>
            <a:pPr marL="0" indent="0">
              <a:lnSpc>
                <a:spcPct val="112000"/>
              </a:lnSpc>
              <a:buNone/>
            </a:pPr>
            <a:r>
              <a:rPr lang="en-US" sz="1600" b="1" dirty="0">
                <a:solidFill>
                  <a:srgbClr val="D6336C"/>
                </a:solidFill>
                <a:latin typeface="Calibri" pitchFamily="34" charset="0"/>
                <a:ea typeface="Calibri" pitchFamily="34" charset="-122"/>
                <a:cs typeface="Calibri" pitchFamily="34" charset="-120"/>
              </a:rPr>
              <a:t>Why permutation invariance? </a:t>
            </a:r>
            <a:r>
              <a:rPr lang="en-US" sz="1600" dirty="0">
                <a:solidFill>
                  <a:srgbClr val="2A2233"/>
                </a:solidFill>
                <a:latin typeface="Calibri" pitchFamily="34" charset="0"/>
                <a:ea typeface="Calibri" pitchFamily="34" charset="-122"/>
                <a:cs typeface="Calibri" pitchFamily="34" charset="-120"/>
              </a:rPr>
              <a:t>Patches are a set, not a sequence — shuffle them and the prediction must not change. Mean, max, and attention-weighted sums all satisfy this. </a:t>
            </a:r>
            <a:r>
              <a:rPr lang="en-US" sz="1600" b="1" dirty="0">
                <a:solidFill>
                  <a:srgbClr val="4A2C6D"/>
                </a:solidFill>
                <a:latin typeface="Calibri" pitchFamily="34" charset="0"/>
                <a:ea typeface="Calibri" pitchFamily="34" charset="-122"/>
                <a:cs typeface="Calibri" pitchFamily="34" charset="-120"/>
              </a:rPr>
              <a:t>The entire design space of MIL is: how do we build a smart, learnable σ?</a:t>
            </a:r>
            <a:endParaRPr lang="en-US" sz="1600" dirty="0"/>
          </a:p>
        </p:txBody>
      </p:sp>
      <p:sp>
        <p:nvSpPr>
          <p:cNvPr id="22" name="Text 20"/>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3" name="Text 21"/>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12</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3</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Data Preparation</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From raw whole-slide images to feature bags</a:t>
            </a:r>
            <a:endParaRPr lang="en-US" sz="1800" dirty="0"/>
          </a:p>
        </p:txBody>
      </p:sp>
      <p:sp>
        <p:nvSpPr>
          <p:cNvPr id="8" name="Shape 6"/>
          <p:cNvSpPr/>
          <p:nvPr/>
        </p:nvSpPr>
        <p:spPr>
          <a:xfrm>
            <a:off x="2697480" y="4572000"/>
            <a:ext cx="3383280" cy="457200"/>
          </a:xfrm>
          <a:prstGeom prst="roundRect">
            <a:avLst>
              <a:gd name="adj" fmla="val 16000"/>
            </a:avLst>
          </a:prstGeom>
          <a:solidFill>
            <a:srgbClr val="1C8C8C"/>
          </a:solidFill>
          <a:ln/>
        </p:spPr>
        <p:txBody>
          <a:bodyPr/>
          <a:lstStyle/>
          <a:p>
            <a:endParaRPr lang="en-US"/>
          </a:p>
        </p:txBody>
      </p:sp>
      <p:sp>
        <p:nvSpPr>
          <p:cNvPr id="9" name="Text 7"/>
          <p:cNvSpPr/>
          <p:nvPr/>
        </p:nvSpPr>
        <p:spPr>
          <a:xfrm>
            <a:off x="2697480" y="4572000"/>
            <a:ext cx="338328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  Hands-on notebook included</a:t>
            </a:r>
            <a:endParaRPr lang="en-US" sz="145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11" name="Text 9"/>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13</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DATA PREP · THE WSI</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Whole-slide images are tiled pyramids</a:t>
            </a:r>
            <a:endParaRPr lang="en-US" sz="2900" dirty="0"/>
          </a:p>
        </p:txBody>
      </p:sp>
      <p:sp>
        <p:nvSpPr>
          <p:cNvPr id="5" name="Text 3"/>
          <p:cNvSpPr/>
          <p:nvPr/>
        </p:nvSpPr>
        <p:spPr>
          <a:xfrm>
            <a:off x="640080" y="1554480"/>
            <a:ext cx="5486400" cy="3657600"/>
          </a:xfrm>
          <a:prstGeom prst="rect">
            <a:avLst/>
          </a:prstGeom>
          <a:noFill/>
          <a:ln/>
        </p:spPr>
        <p:txBody>
          <a:bodyPr wrap="square" lIns="0" tIns="0" rIns="0" bIns="0" rtlCol="0" anchor="t"/>
          <a:lstStyle/>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Formats: .svs (Aperio), .ndpi (Hamamatsu), .mrxs, .tiff — all read by OpenSlide.</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Stored as a multi-resolution pyramid: level 0 = full 40×/20× resolution, each level downsampled ~4×.</a:t>
            </a:r>
            <a:endParaRPr lang="en-US" sz="1800" dirty="0"/>
          </a:p>
          <a:p>
            <a:pPr marL="203200" indent="-203200">
              <a:spcAft>
                <a:spcPts val="600"/>
              </a:spcAft>
              <a:buSzPct val="100000"/>
              <a:buChar char="•"/>
            </a:pPr>
            <a:r>
              <a:rPr lang="en-US" sz="1800" dirty="0">
                <a:solidFill>
                  <a:srgbClr val="2A2233"/>
                </a:solidFill>
                <a:latin typeface="Calibri" pitchFamily="34" charset="0"/>
                <a:ea typeface="Calibri" pitchFamily="34" charset="-122"/>
                <a:cs typeface="Calibri" pitchFamily="34" charset="-120"/>
              </a:rPr>
              <a:t>Magnification ↔ microns-per-pixel (mpp): 20× ≈ 0.5 mpp, 40× ≈ 0.25 mpp.</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Internally tiled (e.g. 256×256 JPEG tiles) so you can random-access regions without loading the whole slide.</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Always check the slide's true mpp — scanners differ; never assume the nominal magnification.</a:t>
            </a:r>
            <a:endParaRPr lang="en-US" sz="1800" dirty="0"/>
          </a:p>
        </p:txBody>
      </p:sp>
      <p:sp>
        <p:nvSpPr>
          <p:cNvPr id="6" name="Shape 4"/>
          <p:cNvSpPr/>
          <p:nvPr/>
        </p:nvSpPr>
        <p:spPr>
          <a:xfrm>
            <a:off x="6400800" y="1508760"/>
            <a:ext cx="5394960" cy="46634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7" name="Text 5"/>
          <p:cNvSpPr/>
          <p:nvPr/>
        </p:nvSpPr>
        <p:spPr>
          <a:xfrm>
            <a:off x="658368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Resolution pyramid (random-access tiles)</a:t>
            </a:r>
            <a:endParaRPr lang="en-US" sz="1400" dirty="0"/>
          </a:p>
        </p:txBody>
      </p:sp>
      <p:sp>
        <p:nvSpPr>
          <p:cNvPr id="8" name="Shape 6"/>
          <p:cNvSpPr/>
          <p:nvPr/>
        </p:nvSpPr>
        <p:spPr>
          <a:xfrm>
            <a:off x="8412480" y="2286000"/>
            <a:ext cx="3200400" cy="914400"/>
          </a:xfrm>
          <a:prstGeom prst="rect">
            <a:avLst/>
          </a:prstGeom>
          <a:solidFill>
            <a:srgbClr val="4A2C6D"/>
          </a:solidFill>
          <a:ln w="12700">
            <a:solidFill>
              <a:srgbClr val="FFFFFF"/>
            </a:solidFill>
            <a:prstDash val="solid"/>
          </a:ln>
        </p:spPr>
        <p:txBody>
          <a:bodyPr/>
          <a:lstStyle/>
          <a:p>
            <a:endParaRPr lang="en-US"/>
          </a:p>
        </p:txBody>
      </p:sp>
      <p:sp>
        <p:nvSpPr>
          <p:cNvPr id="9" name="Shape 7"/>
          <p:cNvSpPr/>
          <p:nvPr/>
        </p:nvSpPr>
        <p:spPr>
          <a:xfrm>
            <a:off x="8812530" y="2286000"/>
            <a:ext cx="0" cy="914400"/>
          </a:xfrm>
          <a:prstGeom prst="line">
            <a:avLst/>
          </a:prstGeom>
          <a:noFill/>
          <a:ln w="6350">
            <a:solidFill>
              <a:srgbClr val="FFFFFF"/>
            </a:solidFill>
            <a:prstDash val="solid"/>
          </a:ln>
        </p:spPr>
        <p:txBody>
          <a:bodyPr/>
          <a:lstStyle/>
          <a:p>
            <a:endParaRPr lang="en-US"/>
          </a:p>
        </p:txBody>
      </p:sp>
      <p:sp>
        <p:nvSpPr>
          <p:cNvPr id="10" name="Shape 8"/>
          <p:cNvSpPr/>
          <p:nvPr/>
        </p:nvSpPr>
        <p:spPr>
          <a:xfrm>
            <a:off x="9212580" y="2286000"/>
            <a:ext cx="0" cy="914400"/>
          </a:xfrm>
          <a:prstGeom prst="line">
            <a:avLst/>
          </a:prstGeom>
          <a:noFill/>
          <a:ln w="6350">
            <a:solidFill>
              <a:srgbClr val="FFFFFF"/>
            </a:solidFill>
            <a:prstDash val="solid"/>
          </a:ln>
        </p:spPr>
        <p:txBody>
          <a:bodyPr/>
          <a:lstStyle/>
          <a:p>
            <a:endParaRPr lang="en-US"/>
          </a:p>
        </p:txBody>
      </p:sp>
      <p:sp>
        <p:nvSpPr>
          <p:cNvPr id="11" name="Shape 9"/>
          <p:cNvSpPr/>
          <p:nvPr/>
        </p:nvSpPr>
        <p:spPr>
          <a:xfrm>
            <a:off x="9612630" y="2286000"/>
            <a:ext cx="0" cy="914400"/>
          </a:xfrm>
          <a:prstGeom prst="line">
            <a:avLst/>
          </a:prstGeom>
          <a:noFill/>
          <a:ln w="6350">
            <a:solidFill>
              <a:srgbClr val="FFFFFF"/>
            </a:solidFill>
            <a:prstDash val="solid"/>
          </a:ln>
        </p:spPr>
        <p:txBody>
          <a:bodyPr/>
          <a:lstStyle/>
          <a:p>
            <a:endParaRPr lang="en-US"/>
          </a:p>
        </p:txBody>
      </p:sp>
      <p:sp>
        <p:nvSpPr>
          <p:cNvPr id="12" name="Shape 10"/>
          <p:cNvSpPr/>
          <p:nvPr/>
        </p:nvSpPr>
        <p:spPr>
          <a:xfrm>
            <a:off x="10012680" y="2286000"/>
            <a:ext cx="0" cy="914400"/>
          </a:xfrm>
          <a:prstGeom prst="line">
            <a:avLst/>
          </a:prstGeom>
          <a:noFill/>
          <a:ln w="6350">
            <a:solidFill>
              <a:srgbClr val="FFFFFF"/>
            </a:solidFill>
            <a:prstDash val="solid"/>
          </a:ln>
        </p:spPr>
        <p:txBody>
          <a:bodyPr/>
          <a:lstStyle/>
          <a:p>
            <a:endParaRPr lang="en-US"/>
          </a:p>
        </p:txBody>
      </p:sp>
      <p:sp>
        <p:nvSpPr>
          <p:cNvPr id="13" name="Shape 11"/>
          <p:cNvSpPr/>
          <p:nvPr/>
        </p:nvSpPr>
        <p:spPr>
          <a:xfrm>
            <a:off x="10412730" y="2286000"/>
            <a:ext cx="0" cy="914400"/>
          </a:xfrm>
          <a:prstGeom prst="line">
            <a:avLst/>
          </a:prstGeom>
          <a:noFill/>
          <a:ln w="6350">
            <a:solidFill>
              <a:srgbClr val="FFFFFF"/>
            </a:solidFill>
            <a:prstDash val="solid"/>
          </a:ln>
        </p:spPr>
        <p:txBody>
          <a:bodyPr/>
          <a:lstStyle/>
          <a:p>
            <a:endParaRPr lang="en-US"/>
          </a:p>
        </p:txBody>
      </p:sp>
      <p:sp>
        <p:nvSpPr>
          <p:cNvPr id="14" name="Shape 12"/>
          <p:cNvSpPr/>
          <p:nvPr/>
        </p:nvSpPr>
        <p:spPr>
          <a:xfrm>
            <a:off x="10812780" y="2286000"/>
            <a:ext cx="0" cy="914400"/>
          </a:xfrm>
          <a:prstGeom prst="line">
            <a:avLst/>
          </a:prstGeom>
          <a:noFill/>
          <a:ln w="6350">
            <a:solidFill>
              <a:srgbClr val="FFFFFF"/>
            </a:solidFill>
            <a:prstDash val="solid"/>
          </a:ln>
        </p:spPr>
        <p:txBody>
          <a:bodyPr/>
          <a:lstStyle/>
          <a:p>
            <a:endParaRPr lang="en-US"/>
          </a:p>
        </p:txBody>
      </p:sp>
      <p:sp>
        <p:nvSpPr>
          <p:cNvPr id="15" name="Shape 13"/>
          <p:cNvSpPr/>
          <p:nvPr/>
        </p:nvSpPr>
        <p:spPr>
          <a:xfrm>
            <a:off x="11212830" y="2286000"/>
            <a:ext cx="0" cy="914400"/>
          </a:xfrm>
          <a:prstGeom prst="line">
            <a:avLst/>
          </a:prstGeom>
          <a:noFill/>
          <a:ln w="6350">
            <a:solidFill>
              <a:srgbClr val="FFFFFF"/>
            </a:solidFill>
            <a:prstDash val="solid"/>
          </a:ln>
        </p:spPr>
        <p:txBody>
          <a:bodyPr/>
          <a:lstStyle/>
          <a:p>
            <a:endParaRPr lang="en-US"/>
          </a:p>
        </p:txBody>
      </p:sp>
      <p:sp>
        <p:nvSpPr>
          <p:cNvPr id="16" name="Text 14"/>
          <p:cNvSpPr/>
          <p:nvPr/>
        </p:nvSpPr>
        <p:spPr>
          <a:xfrm>
            <a:off x="6629400" y="2286000"/>
            <a:ext cx="1645920" cy="914400"/>
          </a:xfrm>
          <a:prstGeom prst="rect">
            <a:avLst/>
          </a:prstGeom>
          <a:noFill/>
          <a:ln/>
        </p:spPr>
        <p:txBody>
          <a:bodyPr wrap="square" lIns="0" tIns="0" rIns="0" bIns="0" rtlCol="0" anchor="ctr"/>
          <a:lstStyle/>
          <a:p>
            <a:pPr marL="0" indent="0" algn="r">
              <a:buNone/>
            </a:pPr>
            <a:r>
              <a:rPr lang="en-US" sz="1300" b="1" dirty="0">
                <a:solidFill>
                  <a:srgbClr val="2A2233"/>
                </a:solidFill>
                <a:latin typeface="Calibri" pitchFamily="34" charset="0"/>
                <a:ea typeface="Calibri" pitchFamily="34" charset="-122"/>
                <a:cs typeface="Calibri" pitchFamily="34" charset="-120"/>
              </a:rPr>
              <a:t>L0 · 40× · 0.25 mpp</a:t>
            </a:r>
            <a:endParaRPr lang="en-US" sz="1300" dirty="0"/>
          </a:p>
        </p:txBody>
      </p:sp>
      <p:sp>
        <p:nvSpPr>
          <p:cNvPr id="17" name="Shape 15"/>
          <p:cNvSpPr/>
          <p:nvPr/>
        </p:nvSpPr>
        <p:spPr>
          <a:xfrm>
            <a:off x="8412480" y="3383280"/>
            <a:ext cx="2112264" cy="685800"/>
          </a:xfrm>
          <a:prstGeom prst="rect">
            <a:avLst/>
          </a:prstGeom>
          <a:solidFill>
            <a:srgbClr val="6B4E8F"/>
          </a:solidFill>
          <a:ln w="12700">
            <a:solidFill>
              <a:srgbClr val="FFFFFF"/>
            </a:solidFill>
            <a:prstDash val="solid"/>
          </a:ln>
        </p:spPr>
        <p:txBody>
          <a:bodyPr/>
          <a:lstStyle/>
          <a:p>
            <a:endParaRPr lang="en-US"/>
          </a:p>
        </p:txBody>
      </p:sp>
      <p:sp>
        <p:nvSpPr>
          <p:cNvPr id="18" name="Text 16"/>
          <p:cNvSpPr/>
          <p:nvPr/>
        </p:nvSpPr>
        <p:spPr>
          <a:xfrm>
            <a:off x="6629400" y="3383280"/>
            <a:ext cx="1645920" cy="685800"/>
          </a:xfrm>
          <a:prstGeom prst="rect">
            <a:avLst/>
          </a:prstGeom>
          <a:noFill/>
          <a:ln/>
        </p:spPr>
        <p:txBody>
          <a:bodyPr wrap="square" lIns="0" tIns="0" rIns="0" bIns="0" rtlCol="0" anchor="ctr"/>
          <a:lstStyle/>
          <a:p>
            <a:pPr marL="0" indent="0" algn="r">
              <a:buNone/>
            </a:pPr>
            <a:r>
              <a:rPr lang="en-US" sz="1300" b="1" dirty="0">
                <a:solidFill>
                  <a:srgbClr val="2A2233"/>
                </a:solidFill>
                <a:latin typeface="Calibri" pitchFamily="34" charset="0"/>
                <a:ea typeface="Calibri" pitchFamily="34" charset="-122"/>
                <a:cs typeface="Calibri" pitchFamily="34" charset="-120"/>
              </a:rPr>
              <a:t>L1 · 20×</a:t>
            </a:r>
            <a:endParaRPr lang="en-US" sz="1300" dirty="0"/>
          </a:p>
        </p:txBody>
      </p:sp>
      <p:sp>
        <p:nvSpPr>
          <p:cNvPr id="19" name="Shape 17"/>
          <p:cNvSpPr/>
          <p:nvPr/>
        </p:nvSpPr>
        <p:spPr>
          <a:xfrm>
            <a:off x="8412480" y="4251960"/>
            <a:ext cx="1344168" cy="502920"/>
          </a:xfrm>
          <a:prstGeom prst="rect">
            <a:avLst/>
          </a:prstGeom>
          <a:solidFill>
            <a:srgbClr val="D6336C"/>
          </a:solidFill>
          <a:ln w="12700">
            <a:solidFill>
              <a:srgbClr val="FFFFFF"/>
            </a:solidFill>
            <a:prstDash val="solid"/>
          </a:ln>
        </p:spPr>
        <p:txBody>
          <a:bodyPr/>
          <a:lstStyle/>
          <a:p>
            <a:endParaRPr lang="en-US"/>
          </a:p>
        </p:txBody>
      </p:sp>
      <p:sp>
        <p:nvSpPr>
          <p:cNvPr id="20" name="Text 18"/>
          <p:cNvSpPr/>
          <p:nvPr/>
        </p:nvSpPr>
        <p:spPr>
          <a:xfrm>
            <a:off x="6629400" y="4251960"/>
            <a:ext cx="1645920" cy="502920"/>
          </a:xfrm>
          <a:prstGeom prst="rect">
            <a:avLst/>
          </a:prstGeom>
          <a:noFill/>
          <a:ln/>
        </p:spPr>
        <p:txBody>
          <a:bodyPr wrap="square" lIns="0" tIns="0" rIns="0" bIns="0" rtlCol="0" anchor="ctr"/>
          <a:lstStyle/>
          <a:p>
            <a:pPr marL="0" indent="0" algn="r">
              <a:buNone/>
            </a:pPr>
            <a:r>
              <a:rPr lang="en-US" sz="1300" b="1" dirty="0">
                <a:solidFill>
                  <a:srgbClr val="2A2233"/>
                </a:solidFill>
                <a:latin typeface="Calibri" pitchFamily="34" charset="0"/>
                <a:ea typeface="Calibri" pitchFamily="34" charset="-122"/>
                <a:cs typeface="Calibri" pitchFamily="34" charset="-120"/>
              </a:rPr>
              <a:t>L2 · 10×</a:t>
            </a:r>
            <a:endParaRPr lang="en-US" sz="1300" dirty="0"/>
          </a:p>
        </p:txBody>
      </p:sp>
      <p:sp>
        <p:nvSpPr>
          <p:cNvPr id="21" name="Shape 19"/>
          <p:cNvSpPr/>
          <p:nvPr/>
        </p:nvSpPr>
        <p:spPr>
          <a:xfrm>
            <a:off x="8412480" y="4937760"/>
            <a:ext cx="864108" cy="365760"/>
          </a:xfrm>
          <a:prstGeom prst="rect">
            <a:avLst/>
          </a:prstGeom>
          <a:solidFill>
            <a:srgbClr val="F2A9C4"/>
          </a:solidFill>
          <a:ln w="12700">
            <a:solidFill>
              <a:srgbClr val="FFFFFF"/>
            </a:solidFill>
            <a:prstDash val="solid"/>
          </a:ln>
        </p:spPr>
        <p:txBody>
          <a:bodyPr/>
          <a:lstStyle/>
          <a:p>
            <a:endParaRPr lang="en-US"/>
          </a:p>
        </p:txBody>
      </p:sp>
      <p:sp>
        <p:nvSpPr>
          <p:cNvPr id="22" name="Text 20"/>
          <p:cNvSpPr/>
          <p:nvPr/>
        </p:nvSpPr>
        <p:spPr>
          <a:xfrm>
            <a:off x="6629400" y="4937760"/>
            <a:ext cx="1645920" cy="365760"/>
          </a:xfrm>
          <a:prstGeom prst="rect">
            <a:avLst/>
          </a:prstGeom>
          <a:noFill/>
          <a:ln/>
        </p:spPr>
        <p:txBody>
          <a:bodyPr wrap="square" lIns="0" tIns="0" rIns="0" bIns="0" rtlCol="0" anchor="ctr"/>
          <a:lstStyle/>
          <a:p>
            <a:pPr marL="0" indent="0" algn="r">
              <a:buNone/>
            </a:pPr>
            <a:r>
              <a:rPr lang="en-US" sz="1300" b="1" dirty="0">
                <a:solidFill>
                  <a:srgbClr val="2A2233"/>
                </a:solidFill>
                <a:latin typeface="Calibri" pitchFamily="34" charset="0"/>
                <a:ea typeface="Calibri" pitchFamily="34" charset="-122"/>
                <a:cs typeface="Calibri" pitchFamily="34" charset="-120"/>
              </a:rPr>
              <a:t>L3 · 5× thumbnail</a:t>
            </a:r>
            <a:endParaRPr lang="en-US" sz="1300" dirty="0"/>
          </a:p>
        </p:txBody>
      </p:sp>
      <p:sp>
        <p:nvSpPr>
          <p:cNvPr id="23" name="Text 21"/>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4" name="Text 22"/>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14</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DATA PREP · STEP 1</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Tissue segmentation — skip the glass</a:t>
            </a:r>
            <a:endParaRPr lang="en-US" sz="2900" dirty="0"/>
          </a:p>
        </p:txBody>
      </p:sp>
      <p:sp>
        <p:nvSpPr>
          <p:cNvPr id="5" name="Text 3"/>
          <p:cNvSpPr/>
          <p:nvPr/>
        </p:nvSpPr>
        <p:spPr>
          <a:xfrm>
            <a:off x="640080" y="1554480"/>
            <a:ext cx="5486400" cy="3200400"/>
          </a:xfrm>
          <a:prstGeom prst="rect">
            <a:avLst/>
          </a:prstGeom>
          <a:noFill/>
          <a:ln/>
        </p:spPr>
        <p:txBody>
          <a:bodyPr wrap="square" lIns="0" tIns="0" rIns="0" bIns="0" rtlCol="0" anchor="t"/>
          <a:lstStyle/>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Most of a slide is empty background glass; encoding it wastes compute and adds noise.</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Classic recipe (CLAM): downsample to a low level, convert to HSV, Otsu-threshold the saturation channel.</a:t>
            </a:r>
            <a:endParaRPr lang="en-US" sz="1800" dirty="0"/>
          </a:p>
          <a:p>
            <a:pPr marL="203200" indent="-203200">
              <a:spcAft>
                <a:spcPts val="600"/>
              </a:spcAft>
              <a:buSzPct val="100000"/>
              <a:buChar char="•"/>
            </a:pPr>
            <a:r>
              <a:rPr lang="en-US" sz="1800" dirty="0">
                <a:solidFill>
                  <a:srgbClr val="2A2233"/>
                </a:solidFill>
                <a:latin typeface="Calibri" pitchFamily="34" charset="0"/>
                <a:ea typeface="Calibri" pitchFamily="34" charset="-122"/>
                <a:cs typeface="Calibri" pitchFamily="34" charset="-120"/>
              </a:rPr>
              <a:t>Median blur + morphological closing clean the mask; filter tiny tissue specks and holes.</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Output: tissue contours (polygons) used to constrain where patches are sampled.</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Modern option: learned segmenters (e.g. GrandQC) for artifact/pen-mark removal.</a:t>
            </a:r>
            <a:endParaRPr lang="en-US" sz="1800" dirty="0"/>
          </a:p>
        </p:txBody>
      </p:sp>
      <p:sp>
        <p:nvSpPr>
          <p:cNvPr id="6" name="Shape 4"/>
          <p:cNvSpPr/>
          <p:nvPr/>
        </p:nvSpPr>
        <p:spPr>
          <a:xfrm>
            <a:off x="640080" y="4846320"/>
            <a:ext cx="5486400" cy="1280160"/>
          </a:xfrm>
          <a:prstGeom prst="rect">
            <a:avLst/>
          </a:prstGeom>
          <a:solidFill>
            <a:srgbClr val="2B2138"/>
          </a:solidFill>
          <a:ln w="12700">
            <a:solidFill>
              <a:srgbClr val="6B4E8F"/>
            </a:solidFill>
            <a:prstDash val="solid"/>
          </a:ln>
        </p:spPr>
        <p:txBody>
          <a:bodyPr/>
          <a:lstStyle/>
          <a:p>
            <a:endParaRPr lang="en-US"/>
          </a:p>
        </p:txBody>
      </p:sp>
      <p:sp>
        <p:nvSpPr>
          <p:cNvPr id="7" name="Text 5"/>
          <p:cNvSpPr/>
          <p:nvPr/>
        </p:nvSpPr>
        <p:spPr>
          <a:xfrm>
            <a:off x="804672" y="4956048"/>
            <a:ext cx="5175504" cy="1060704"/>
          </a:xfrm>
          <a:prstGeom prst="rect">
            <a:avLst/>
          </a:prstGeom>
          <a:noFill/>
          <a:ln/>
        </p:spPr>
        <p:txBody>
          <a:bodyPr wrap="square" lIns="0" tIns="0" rIns="0" bIns="0" rtlCol="0" anchor="t"/>
          <a:lstStyle/>
          <a:p>
            <a:pPr marL="0" indent="0">
              <a:spcAft>
                <a:spcPts val="200"/>
              </a:spcAft>
              <a:buNone/>
            </a:pPr>
            <a:r>
              <a:rPr lang="en-US" sz="1350" dirty="0">
                <a:solidFill>
                  <a:srgbClr val="9A8CB0"/>
                </a:solidFill>
                <a:latin typeface="Courier New" pitchFamily="34" charset="0"/>
                <a:ea typeface="Courier New" pitchFamily="34" charset="-122"/>
                <a:cs typeface="Courier New" pitchFamily="34" charset="-120"/>
              </a:rPr>
              <a:t># CLAM-style tissue mask</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hsv = cv2.cvtColor(img, BGR2HSV)</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sat = medianBlur(hsv[...,1], mthresh)</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_, mask = threshold(sat, 0, 255, OTSU)</a:t>
            </a:r>
            <a:endParaRPr lang="en-US" sz="1350" dirty="0"/>
          </a:p>
        </p:txBody>
      </p:sp>
      <p:sp>
        <p:nvSpPr>
          <p:cNvPr id="8" name="Shape 6"/>
          <p:cNvSpPr/>
          <p:nvPr/>
        </p:nvSpPr>
        <p:spPr>
          <a:xfrm>
            <a:off x="6400800" y="1508760"/>
            <a:ext cx="539496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9" name="Text 7"/>
          <p:cNvSpPr/>
          <p:nvPr/>
        </p:nvSpPr>
        <p:spPr>
          <a:xfrm>
            <a:off x="658368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Raw slide → tissue mask → contours</a:t>
            </a:r>
            <a:endParaRPr lang="en-US" sz="1400" dirty="0"/>
          </a:p>
        </p:txBody>
      </p:sp>
      <p:sp>
        <p:nvSpPr>
          <p:cNvPr id="10" name="Shape 8"/>
          <p:cNvSpPr/>
          <p:nvPr/>
        </p:nvSpPr>
        <p:spPr>
          <a:xfrm>
            <a:off x="6766560" y="2103120"/>
            <a:ext cx="2331720" cy="1737360"/>
          </a:xfrm>
          <a:prstGeom prst="roundRect">
            <a:avLst>
              <a:gd name="adj" fmla="val 2105"/>
            </a:avLst>
          </a:prstGeom>
          <a:solidFill>
            <a:srgbClr val="F2EAF7"/>
          </a:solidFill>
          <a:ln w="12700">
            <a:solidFill>
              <a:srgbClr val="E4DCEC"/>
            </a:solidFill>
            <a:prstDash val="solid"/>
          </a:ln>
        </p:spPr>
        <p:txBody>
          <a:bodyPr/>
          <a:lstStyle/>
          <a:p>
            <a:endParaRPr lang="en-US"/>
          </a:p>
        </p:txBody>
      </p:sp>
      <p:sp>
        <p:nvSpPr>
          <p:cNvPr id="11" name="Shape 9"/>
          <p:cNvSpPr/>
          <p:nvPr/>
        </p:nvSpPr>
        <p:spPr>
          <a:xfrm>
            <a:off x="7406640" y="2468880"/>
            <a:ext cx="822960" cy="640080"/>
          </a:xfrm>
          <a:prstGeom prst="ellipse">
            <a:avLst/>
          </a:prstGeom>
          <a:solidFill>
            <a:srgbClr val="F2A9C4">
              <a:alpha val="85000"/>
            </a:srgbClr>
          </a:solidFill>
          <a:ln/>
        </p:spPr>
        <p:txBody>
          <a:bodyPr/>
          <a:lstStyle/>
          <a:p>
            <a:endParaRPr lang="en-US"/>
          </a:p>
        </p:txBody>
      </p:sp>
      <p:sp>
        <p:nvSpPr>
          <p:cNvPr id="12" name="Shape 10"/>
          <p:cNvSpPr/>
          <p:nvPr/>
        </p:nvSpPr>
        <p:spPr>
          <a:xfrm>
            <a:off x="7955280" y="3017520"/>
            <a:ext cx="640080" cy="548640"/>
          </a:xfrm>
          <a:prstGeom prst="ellipse">
            <a:avLst/>
          </a:prstGeom>
          <a:solidFill>
            <a:srgbClr val="6B4E8F">
              <a:alpha val="85000"/>
            </a:srgbClr>
          </a:solidFill>
          <a:ln/>
        </p:spPr>
        <p:txBody>
          <a:bodyPr/>
          <a:lstStyle/>
          <a:p>
            <a:endParaRPr lang="en-US"/>
          </a:p>
        </p:txBody>
      </p:sp>
      <p:sp>
        <p:nvSpPr>
          <p:cNvPr id="13" name="Shape 11"/>
          <p:cNvSpPr/>
          <p:nvPr/>
        </p:nvSpPr>
        <p:spPr>
          <a:xfrm>
            <a:off x="7040880" y="3200400"/>
            <a:ext cx="502920" cy="457200"/>
          </a:xfrm>
          <a:prstGeom prst="ellipse">
            <a:avLst/>
          </a:prstGeom>
          <a:solidFill>
            <a:srgbClr val="D6336C">
              <a:alpha val="85000"/>
            </a:srgbClr>
          </a:solidFill>
          <a:ln/>
        </p:spPr>
        <p:txBody>
          <a:bodyPr/>
          <a:lstStyle/>
          <a:p>
            <a:endParaRPr lang="en-US"/>
          </a:p>
        </p:txBody>
      </p:sp>
      <p:sp>
        <p:nvSpPr>
          <p:cNvPr id="14" name="Text 12"/>
          <p:cNvSpPr/>
          <p:nvPr/>
        </p:nvSpPr>
        <p:spPr>
          <a:xfrm>
            <a:off x="6766560" y="3877056"/>
            <a:ext cx="2331720" cy="228600"/>
          </a:xfrm>
          <a:prstGeom prst="rect">
            <a:avLst/>
          </a:prstGeom>
          <a:noFill/>
          <a:ln/>
        </p:spPr>
        <p:txBody>
          <a:bodyPr wrap="square" lIns="0" tIns="0" rIns="0" bIns="0" rtlCol="0" anchor="ctr"/>
          <a:lstStyle/>
          <a:p>
            <a:pPr marL="0" indent="0" algn="ctr">
              <a:buNone/>
            </a:pPr>
            <a:r>
              <a:rPr lang="en-US" sz="1250" dirty="0">
                <a:solidFill>
                  <a:srgbClr val="8A7F99"/>
                </a:solidFill>
                <a:latin typeface="Calibri" pitchFamily="34" charset="0"/>
                <a:ea typeface="Calibri" pitchFamily="34" charset="-122"/>
                <a:cs typeface="Calibri" pitchFamily="34" charset="-120"/>
              </a:rPr>
              <a:t>raw H&amp;E</a:t>
            </a:r>
            <a:endParaRPr lang="en-US" sz="1250" dirty="0"/>
          </a:p>
        </p:txBody>
      </p:sp>
      <p:sp>
        <p:nvSpPr>
          <p:cNvPr id="15" name="Shape 13"/>
          <p:cNvSpPr/>
          <p:nvPr/>
        </p:nvSpPr>
        <p:spPr>
          <a:xfrm>
            <a:off x="9144000" y="2926080"/>
            <a:ext cx="320040" cy="0"/>
          </a:xfrm>
          <a:prstGeom prst="line">
            <a:avLst/>
          </a:prstGeom>
          <a:noFill/>
          <a:ln w="25400">
            <a:solidFill>
              <a:srgbClr val="8A7F99"/>
            </a:solidFill>
            <a:prstDash val="solid"/>
            <a:tailEnd type="triangle"/>
          </a:ln>
        </p:spPr>
        <p:txBody>
          <a:bodyPr/>
          <a:lstStyle/>
          <a:p>
            <a:endParaRPr lang="en-US"/>
          </a:p>
        </p:txBody>
      </p:sp>
      <p:sp>
        <p:nvSpPr>
          <p:cNvPr id="16" name="Shape 14"/>
          <p:cNvSpPr/>
          <p:nvPr/>
        </p:nvSpPr>
        <p:spPr>
          <a:xfrm>
            <a:off x="9464040" y="2103120"/>
            <a:ext cx="2194560" cy="1737360"/>
          </a:xfrm>
          <a:prstGeom prst="roundRect">
            <a:avLst>
              <a:gd name="adj" fmla="val 2105"/>
            </a:avLst>
          </a:prstGeom>
          <a:solidFill>
            <a:srgbClr val="1A1326"/>
          </a:solidFill>
          <a:ln/>
        </p:spPr>
        <p:txBody>
          <a:bodyPr/>
          <a:lstStyle/>
          <a:p>
            <a:endParaRPr lang="en-US"/>
          </a:p>
        </p:txBody>
      </p:sp>
      <p:sp>
        <p:nvSpPr>
          <p:cNvPr id="17" name="Shape 15"/>
          <p:cNvSpPr/>
          <p:nvPr/>
        </p:nvSpPr>
        <p:spPr>
          <a:xfrm>
            <a:off x="10058400" y="2468880"/>
            <a:ext cx="822960" cy="640080"/>
          </a:xfrm>
          <a:prstGeom prst="ellipse">
            <a:avLst/>
          </a:prstGeom>
          <a:solidFill>
            <a:srgbClr val="FFFFFF"/>
          </a:solidFill>
          <a:ln/>
        </p:spPr>
        <p:txBody>
          <a:bodyPr/>
          <a:lstStyle/>
          <a:p>
            <a:endParaRPr lang="en-US"/>
          </a:p>
        </p:txBody>
      </p:sp>
      <p:sp>
        <p:nvSpPr>
          <p:cNvPr id="18" name="Shape 16"/>
          <p:cNvSpPr/>
          <p:nvPr/>
        </p:nvSpPr>
        <p:spPr>
          <a:xfrm>
            <a:off x="10607040" y="3017520"/>
            <a:ext cx="640080" cy="548640"/>
          </a:xfrm>
          <a:prstGeom prst="ellipse">
            <a:avLst/>
          </a:prstGeom>
          <a:solidFill>
            <a:srgbClr val="FFFFFF"/>
          </a:solidFill>
          <a:ln/>
        </p:spPr>
        <p:txBody>
          <a:bodyPr/>
          <a:lstStyle/>
          <a:p>
            <a:endParaRPr lang="en-US"/>
          </a:p>
        </p:txBody>
      </p:sp>
      <p:sp>
        <p:nvSpPr>
          <p:cNvPr id="19" name="Shape 17"/>
          <p:cNvSpPr/>
          <p:nvPr/>
        </p:nvSpPr>
        <p:spPr>
          <a:xfrm>
            <a:off x="9692640" y="3200400"/>
            <a:ext cx="502920" cy="457200"/>
          </a:xfrm>
          <a:prstGeom prst="ellipse">
            <a:avLst/>
          </a:prstGeom>
          <a:solidFill>
            <a:srgbClr val="FFFFFF"/>
          </a:solidFill>
          <a:ln/>
        </p:spPr>
        <p:txBody>
          <a:bodyPr/>
          <a:lstStyle/>
          <a:p>
            <a:endParaRPr lang="en-US"/>
          </a:p>
        </p:txBody>
      </p:sp>
      <p:sp>
        <p:nvSpPr>
          <p:cNvPr id="20" name="Text 18"/>
          <p:cNvSpPr/>
          <p:nvPr/>
        </p:nvSpPr>
        <p:spPr>
          <a:xfrm>
            <a:off x="9464040" y="3877056"/>
            <a:ext cx="2194560" cy="228600"/>
          </a:xfrm>
          <a:prstGeom prst="rect">
            <a:avLst/>
          </a:prstGeom>
          <a:noFill/>
          <a:ln/>
        </p:spPr>
        <p:txBody>
          <a:bodyPr wrap="square" lIns="0" tIns="0" rIns="0" bIns="0" rtlCol="0" anchor="ctr"/>
          <a:lstStyle/>
          <a:p>
            <a:pPr marL="0" indent="0" algn="ctr">
              <a:buNone/>
            </a:pPr>
            <a:r>
              <a:rPr lang="en-US" sz="1250" dirty="0">
                <a:solidFill>
                  <a:srgbClr val="8A7F99"/>
                </a:solidFill>
                <a:latin typeface="Calibri" pitchFamily="34" charset="0"/>
                <a:ea typeface="Calibri" pitchFamily="34" charset="-122"/>
                <a:cs typeface="Calibri" pitchFamily="34" charset="-120"/>
              </a:rPr>
              <a:t>binary mask</a:t>
            </a:r>
            <a:endParaRPr lang="en-US" sz="1250" dirty="0"/>
          </a:p>
        </p:txBody>
      </p:sp>
      <p:sp>
        <p:nvSpPr>
          <p:cNvPr id="21" name="Shape 19"/>
          <p:cNvSpPr/>
          <p:nvPr/>
        </p:nvSpPr>
        <p:spPr>
          <a:xfrm>
            <a:off x="8046720" y="4160520"/>
            <a:ext cx="2926080" cy="1783080"/>
          </a:xfrm>
          <a:prstGeom prst="roundRect">
            <a:avLst>
              <a:gd name="adj" fmla="val 2051"/>
            </a:avLst>
          </a:prstGeom>
          <a:solidFill>
            <a:srgbClr val="F2EAF7"/>
          </a:solidFill>
          <a:ln w="12700">
            <a:solidFill>
              <a:srgbClr val="E4DCEC"/>
            </a:solidFill>
            <a:prstDash val="solid"/>
          </a:ln>
        </p:spPr>
        <p:txBody>
          <a:bodyPr/>
          <a:lstStyle/>
          <a:p>
            <a:endParaRPr lang="en-US"/>
          </a:p>
        </p:txBody>
      </p:sp>
      <p:sp>
        <p:nvSpPr>
          <p:cNvPr id="22" name="Shape 20"/>
          <p:cNvSpPr/>
          <p:nvPr/>
        </p:nvSpPr>
        <p:spPr>
          <a:xfrm>
            <a:off x="8686800" y="4480560"/>
            <a:ext cx="822960" cy="640080"/>
          </a:xfrm>
          <a:prstGeom prst="ellipse">
            <a:avLst/>
          </a:prstGeom>
          <a:solidFill>
            <a:srgbClr val="F2A9C4">
              <a:alpha val="70000"/>
            </a:srgbClr>
          </a:solidFill>
          <a:ln w="31750">
            <a:solidFill>
              <a:srgbClr val="1C8C8C"/>
            </a:solidFill>
            <a:prstDash val="solid"/>
          </a:ln>
        </p:spPr>
        <p:txBody>
          <a:bodyPr/>
          <a:lstStyle/>
          <a:p>
            <a:endParaRPr lang="en-US"/>
          </a:p>
        </p:txBody>
      </p:sp>
      <p:sp>
        <p:nvSpPr>
          <p:cNvPr id="23" name="Shape 21"/>
          <p:cNvSpPr/>
          <p:nvPr/>
        </p:nvSpPr>
        <p:spPr>
          <a:xfrm>
            <a:off x="9235440" y="5029200"/>
            <a:ext cx="640080" cy="548640"/>
          </a:xfrm>
          <a:prstGeom prst="ellipse">
            <a:avLst/>
          </a:prstGeom>
          <a:solidFill>
            <a:srgbClr val="F2A9C4">
              <a:alpha val="70000"/>
            </a:srgbClr>
          </a:solidFill>
          <a:ln w="31750">
            <a:solidFill>
              <a:srgbClr val="1C8C8C"/>
            </a:solidFill>
            <a:prstDash val="solid"/>
          </a:ln>
        </p:spPr>
        <p:txBody>
          <a:bodyPr/>
          <a:lstStyle/>
          <a:p>
            <a:endParaRPr lang="en-US"/>
          </a:p>
        </p:txBody>
      </p:sp>
      <p:sp>
        <p:nvSpPr>
          <p:cNvPr id="24" name="Shape 22"/>
          <p:cNvSpPr/>
          <p:nvPr/>
        </p:nvSpPr>
        <p:spPr>
          <a:xfrm>
            <a:off x="8321040" y="5212080"/>
            <a:ext cx="502920" cy="457200"/>
          </a:xfrm>
          <a:prstGeom prst="ellipse">
            <a:avLst/>
          </a:prstGeom>
          <a:solidFill>
            <a:srgbClr val="F2A9C4">
              <a:alpha val="70000"/>
            </a:srgbClr>
          </a:solidFill>
          <a:ln w="31750">
            <a:solidFill>
              <a:srgbClr val="1C8C8C"/>
            </a:solidFill>
            <a:prstDash val="solid"/>
          </a:ln>
        </p:spPr>
        <p:txBody>
          <a:bodyPr/>
          <a:lstStyle/>
          <a:p>
            <a:endParaRPr lang="en-US"/>
          </a:p>
        </p:txBody>
      </p:sp>
      <p:sp>
        <p:nvSpPr>
          <p:cNvPr id="25" name="Text 23"/>
          <p:cNvSpPr/>
          <p:nvPr/>
        </p:nvSpPr>
        <p:spPr>
          <a:xfrm>
            <a:off x="8046720" y="5779008"/>
            <a:ext cx="2926080" cy="228600"/>
          </a:xfrm>
          <a:prstGeom prst="rect">
            <a:avLst/>
          </a:prstGeom>
          <a:noFill/>
          <a:ln/>
        </p:spPr>
        <p:txBody>
          <a:bodyPr wrap="square" lIns="0" tIns="0" rIns="0" bIns="0" rtlCol="0" anchor="ctr"/>
          <a:lstStyle/>
          <a:p>
            <a:pPr marL="0" indent="0" algn="ctr">
              <a:buNone/>
            </a:pPr>
            <a:r>
              <a:rPr lang="en-US" sz="1200" dirty="0">
                <a:solidFill>
                  <a:srgbClr val="8A7F99"/>
                </a:solidFill>
                <a:latin typeface="Calibri" pitchFamily="34" charset="0"/>
                <a:ea typeface="Calibri" pitchFamily="34" charset="-122"/>
                <a:cs typeface="Calibri" pitchFamily="34" charset="-120"/>
              </a:rPr>
              <a:t>tissue contours (green) constrain patching</a:t>
            </a:r>
            <a:endParaRPr lang="en-US" sz="1200" dirty="0"/>
          </a:p>
        </p:txBody>
      </p:sp>
      <p:sp>
        <p:nvSpPr>
          <p:cNvPr id="26" name="Text 2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7" name="Text 25"/>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15</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DATA PREP · STEP 2</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Patching — tile the tissue into instances</a:t>
            </a:r>
            <a:endParaRPr lang="en-US" sz="2900" dirty="0"/>
          </a:p>
        </p:txBody>
      </p:sp>
      <p:sp>
        <p:nvSpPr>
          <p:cNvPr id="5" name="Text 3"/>
          <p:cNvSpPr/>
          <p:nvPr/>
        </p:nvSpPr>
        <p:spPr>
          <a:xfrm>
            <a:off x="640080" y="1554480"/>
            <a:ext cx="5486400" cy="3291840"/>
          </a:xfrm>
          <a:prstGeom prst="rect">
            <a:avLst/>
          </a:prstGeom>
          <a:noFill/>
          <a:ln/>
        </p:spPr>
        <p:txBody>
          <a:bodyPr wrap="square" lIns="0" tIns="0" rIns="0" bIns="0" rtlCol="0" anchor="t"/>
          <a:lstStyle/>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Tile tissue into a grid of fixed-size patches: 256×256 px is the de-facto standard.</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Choose the magnification deliberately: 20× captures cellular detail; 10× captures more context per patch.</a:t>
            </a:r>
            <a:endParaRPr lang="en-US" sz="1800" dirty="0"/>
          </a:p>
          <a:p>
            <a:pPr marL="203200" indent="-203200">
              <a:spcAft>
                <a:spcPts val="600"/>
              </a:spcAft>
              <a:buSzPct val="100000"/>
              <a:buChar char="•"/>
            </a:pPr>
            <a:r>
              <a:rPr lang="en-US" sz="1800" dirty="0">
                <a:solidFill>
                  <a:srgbClr val="2A2233"/>
                </a:solidFill>
                <a:latin typeface="Calibri" pitchFamily="34" charset="0"/>
                <a:ea typeface="Calibri" pitchFamily="34" charset="-122"/>
                <a:cs typeface="Calibri" pitchFamily="34" charset="-120"/>
              </a:rPr>
              <a:t>Non-overlapping grid for efficiency; overlap only if you need denser spatial coverage.</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Store coordinates, not pixels — CLAM saves an .h5 of (x,y) coords and lazy-loads pixels at encode time.</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Typical yield: 5k–50k patches per slide depending on tissue area.</a:t>
            </a:r>
            <a:endParaRPr lang="en-US" sz="1800" dirty="0"/>
          </a:p>
        </p:txBody>
      </p:sp>
      <p:sp>
        <p:nvSpPr>
          <p:cNvPr id="6" name="Shape 4"/>
          <p:cNvSpPr/>
          <p:nvPr/>
        </p:nvSpPr>
        <p:spPr>
          <a:xfrm>
            <a:off x="640080" y="4937760"/>
            <a:ext cx="5486400" cy="1188720"/>
          </a:xfrm>
          <a:prstGeom prst="rect">
            <a:avLst/>
          </a:prstGeom>
          <a:solidFill>
            <a:srgbClr val="2B2138"/>
          </a:solidFill>
          <a:ln w="12700">
            <a:solidFill>
              <a:srgbClr val="6B4E8F"/>
            </a:solidFill>
            <a:prstDash val="solid"/>
          </a:ln>
        </p:spPr>
        <p:txBody>
          <a:bodyPr/>
          <a:lstStyle/>
          <a:p>
            <a:endParaRPr lang="en-US"/>
          </a:p>
        </p:txBody>
      </p:sp>
      <p:sp>
        <p:nvSpPr>
          <p:cNvPr id="7" name="Text 5"/>
          <p:cNvSpPr/>
          <p:nvPr/>
        </p:nvSpPr>
        <p:spPr>
          <a:xfrm>
            <a:off x="804672" y="5047488"/>
            <a:ext cx="5175504" cy="969264"/>
          </a:xfrm>
          <a:prstGeom prst="rect">
            <a:avLst/>
          </a:prstGeom>
          <a:noFill/>
          <a:ln/>
        </p:spPr>
        <p:txBody>
          <a:bodyPr wrap="square" lIns="0" tIns="0" rIns="0" bIns="0" rtlCol="0" anchor="t"/>
          <a:lstStyle/>
          <a:p>
            <a:pPr marL="0" indent="0">
              <a:spcAft>
                <a:spcPts val="200"/>
              </a:spcAft>
              <a:buNone/>
            </a:pPr>
            <a:r>
              <a:rPr lang="en-US" sz="1350" dirty="0">
                <a:solidFill>
                  <a:srgbClr val="9A8CB0"/>
                </a:solidFill>
                <a:latin typeface="Courier New" pitchFamily="34" charset="0"/>
                <a:ea typeface="Courier New" pitchFamily="34" charset="-122"/>
                <a:cs typeface="Courier New" pitchFamily="34" charset="-120"/>
              </a:rPr>
              <a:t># coords-first patching</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coords = grid_within(contours, size=256, step=256)</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h5.create_dataset('coords', data=coords)  # (N,2)</a:t>
            </a:r>
            <a:endParaRPr lang="en-US" sz="1350" dirty="0"/>
          </a:p>
        </p:txBody>
      </p:sp>
      <p:sp>
        <p:nvSpPr>
          <p:cNvPr id="8" name="Shape 6"/>
          <p:cNvSpPr/>
          <p:nvPr/>
        </p:nvSpPr>
        <p:spPr>
          <a:xfrm>
            <a:off x="6400800" y="1508760"/>
            <a:ext cx="539496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9" name="Text 7"/>
          <p:cNvSpPr/>
          <p:nvPr/>
        </p:nvSpPr>
        <p:spPr>
          <a:xfrm>
            <a:off x="658368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256-px grid clipped to tissue contour</a:t>
            </a:r>
            <a:endParaRPr lang="en-US" sz="1400" dirty="0"/>
          </a:p>
        </p:txBody>
      </p:sp>
      <p:sp>
        <p:nvSpPr>
          <p:cNvPr id="10" name="Shape 8"/>
          <p:cNvSpPr/>
          <p:nvPr/>
        </p:nvSpPr>
        <p:spPr>
          <a:xfrm>
            <a:off x="7132320" y="2194560"/>
            <a:ext cx="4023360" cy="3566160"/>
          </a:xfrm>
          <a:prstGeom prst="ellipse">
            <a:avLst/>
          </a:prstGeom>
          <a:solidFill>
            <a:srgbClr val="F2D9E6"/>
          </a:solidFill>
          <a:ln w="31750">
            <a:solidFill>
              <a:srgbClr val="1C8C8C"/>
            </a:solidFill>
            <a:prstDash val="solid"/>
          </a:ln>
        </p:spPr>
        <p:txBody>
          <a:bodyPr/>
          <a:lstStyle/>
          <a:p>
            <a:endParaRPr lang="en-US"/>
          </a:p>
        </p:txBody>
      </p:sp>
      <p:sp>
        <p:nvSpPr>
          <p:cNvPr id="11" name="Shape 9"/>
          <p:cNvSpPr/>
          <p:nvPr/>
        </p:nvSpPr>
        <p:spPr>
          <a:xfrm>
            <a:off x="8275320" y="2148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12" name="Shape 10"/>
          <p:cNvSpPr/>
          <p:nvPr/>
        </p:nvSpPr>
        <p:spPr>
          <a:xfrm>
            <a:off x="8732520" y="2148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13" name="Shape 11"/>
          <p:cNvSpPr/>
          <p:nvPr/>
        </p:nvSpPr>
        <p:spPr>
          <a:xfrm>
            <a:off x="9189720" y="2148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14" name="Shape 12"/>
          <p:cNvSpPr/>
          <p:nvPr/>
        </p:nvSpPr>
        <p:spPr>
          <a:xfrm>
            <a:off x="9646920" y="2148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15" name="Shape 13"/>
          <p:cNvSpPr/>
          <p:nvPr/>
        </p:nvSpPr>
        <p:spPr>
          <a:xfrm>
            <a:off x="7818120" y="2606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16" name="Shape 14"/>
          <p:cNvSpPr/>
          <p:nvPr/>
        </p:nvSpPr>
        <p:spPr>
          <a:xfrm>
            <a:off x="8275320" y="2606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17" name="Shape 15"/>
          <p:cNvSpPr/>
          <p:nvPr/>
        </p:nvSpPr>
        <p:spPr>
          <a:xfrm>
            <a:off x="8732520" y="2606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18" name="Shape 16"/>
          <p:cNvSpPr/>
          <p:nvPr/>
        </p:nvSpPr>
        <p:spPr>
          <a:xfrm>
            <a:off x="9189720" y="2606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19" name="Shape 17"/>
          <p:cNvSpPr/>
          <p:nvPr/>
        </p:nvSpPr>
        <p:spPr>
          <a:xfrm>
            <a:off x="9646920" y="2606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0" name="Shape 18"/>
          <p:cNvSpPr/>
          <p:nvPr/>
        </p:nvSpPr>
        <p:spPr>
          <a:xfrm>
            <a:off x="10104120" y="2606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1" name="Shape 19"/>
          <p:cNvSpPr/>
          <p:nvPr/>
        </p:nvSpPr>
        <p:spPr>
          <a:xfrm>
            <a:off x="7360920" y="3063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2" name="Shape 20"/>
          <p:cNvSpPr/>
          <p:nvPr/>
        </p:nvSpPr>
        <p:spPr>
          <a:xfrm>
            <a:off x="7818120" y="3063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3" name="Shape 21"/>
          <p:cNvSpPr/>
          <p:nvPr/>
        </p:nvSpPr>
        <p:spPr>
          <a:xfrm>
            <a:off x="8275320" y="3063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4" name="Shape 22"/>
          <p:cNvSpPr/>
          <p:nvPr/>
        </p:nvSpPr>
        <p:spPr>
          <a:xfrm>
            <a:off x="8732520" y="3063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5" name="Shape 23"/>
          <p:cNvSpPr/>
          <p:nvPr/>
        </p:nvSpPr>
        <p:spPr>
          <a:xfrm>
            <a:off x="9189720" y="3063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6" name="Shape 24"/>
          <p:cNvSpPr/>
          <p:nvPr/>
        </p:nvSpPr>
        <p:spPr>
          <a:xfrm>
            <a:off x="9646920" y="3063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7" name="Shape 25"/>
          <p:cNvSpPr/>
          <p:nvPr/>
        </p:nvSpPr>
        <p:spPr>
          <a:xfrm>
            <a:off x="10104120" y="3063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8" name="Shape 26"/>
          <p:cNvSpPr/>
          <p:nvPr/>
        </p:nvSpPr>
        <p:spPr>
          <a:xfrm>
            <a:off x="10561320" y="3063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29" name="Shape 27"/>
          <p:cNvSpPr/>
          <p:nvPr/>
        </p:nvSpPr>
        <p:spPr>
          <a:xfrm>
            <a:off x="7360920" y="35204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0" name="Shape 28"/>
          <p:cNvSpPr/>
          <p:nvPr/>
        </p:nvSpPr>
        <p:spPr>
          <a:xfrm>
            <a:off x="7818120" y="35204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1" name="Shape 29"/>
          <p:cNvSpPr/>
          <p:nvPr/>
        </p:nvSpPr>
        <p:spPr>
          <a:xfrm>
            <a:off x="8275320" y="35204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2" name="Shape 30"/>
          <p:cNvSpPr/>
          <p:nvPr/>
        </p:nvSpPr>
        <p:spPr>
          <a:xfrm>
            <a:off x="8732520" y="35204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3" name="Shape 31"/>
          <p:cNvSpPr/>
          <p:nvPr/>
        </p:nvSpPr>
        <p:spPr>
          <a:xfrm>
            <a:off x="9189720" y="35204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4" name="Shape 32"/>
          <p:cNvSpPr/>
          <p:nvPr/>
        </p:nvSpPr>
        <p:spPr>
          <a:xfrm>
            <a:off x="9646920" y="35204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5" name="Shape 33"/>
          <p:cNvSpPr/>
          <p:nvPr/>
        </p:nvSpPr>
        <p:spPr>
          <a:xfrm>
            <a:off x="10104120" y="35204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6" name="Shape 34"/>
          <p:cNvSpPr/>
          <p:nvPr/>
        </p:nvSpPr>
        <p:spPr>
          <a:xfrm>
            <a:off x="10561320" y="35204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7" name="Shape 35"/>
          <p:cNvSpPr/>
          <p:nvPr/>
        </p:nvSpPr>
        <p:spPr>
          <a:xfrm>
            <a:off x="7360920" y="39776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8" name="Shape 36"/>
          <p:cNvSpPr/>
          <p:nvPr/>
        </p:nvSpPr>
        <p:spPr>
          <a:xfrm>
            <a:off x="7818120" y="39776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39" name="Shape 37"/>
          <p:cNvSpPr/>
          <p:nvPr/>
        </p:nvSpPr>
        <p:spPr>
          <a:xfrm>
            <a:off x="8275320" y="39776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0" name="Shape 38"/>
          <p:cNvSpPr/>
          <p:nvPr/>
        </p:nvSpPr>
        <p:spPr>
          <a:xfrm>
            <a:off x="8732520" y="39776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1" name="Shape 39"/>
          <p:cNvSpPr/>
          <p:nvPr/>
        </p:nvSpPr>
        <p:spPr>
          <a:xfrm>
            <a:off x="9189720" y="39776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2" name="Shape 40"/>
          <p:cNvSpPr/>
          <p:nvPr/>
        </p:nvSpPr>
        <p:spPr>
          <a:xfrm>
            <a:off x="9646920" y="39776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3" name="Shape 41"/>
          <p:cNvSpPr/>
          <p:nvPr/>
        </p:nvSpPr>
        <p:spPr>
          <a:xfrm>
            <a:off x="10104120" y="39776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4" name="Shape 42"/>
          <p:cNvSpPr/>
          <p:nvPr/>
        </p:nvSpPr>
        <p:spPr>
          <a:xfrm>
            <a:off x="10561320" y="39776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5" name="Shape 43"/>
          <p:cNvSpPr/>
          <p:nvPr/>
        </p:nvSpPr>
        <p:spPr>
          <a:xfrm>
            <a:off x="7360920" y="4434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6" name="Shape 44"/>
          <p:cNvSpPr/>
          <p:nvPr/>
        </p:nvSpPr>
        <p:spPr>
          <a:xfrm>
            <a:off x="7818120" y="4434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7" name="Shape 45"/>
          <p:cNvSpPr/>
          <p:nvPr/>
        </p:nvSpPr>
        <p:spPr>
          <a:xfrm>
            <a:off x="8275320" y="4434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8" name="Shape 46"/>
          <p:cNvSpPr/>
          <p:nvPr/>
        </p:nvSpPr>
        <p:spPr>
          <a:xfrm>
            <a:off x="8732520" y="4434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49" name="Shape 47"/>
          <p:cNvSpPr/>
          <p:nvPr/>
        </p:nvSpPr>
        <p:spPr>
          <a:xfrm>
            <a:off x="9189720" y="4434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0" name="Shape 48"/>
          <p:cNvSpPr/>
          <p:nvPr/>
        </p:nvSpPr>
        <p:spPr>
          <a:xfrm>
            <a:off x="9646920" y="4434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1" name="Shape 49"/>
          <p:cNvSpPr/>
          <p:nvPr/>
        </p:nvSpPr>
        <p:spPr>
          <a:xfrm>
            <a:off x="10104120" y="4434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2" name="Shape 50"/>
          <p:cNvSpPr/>
          <p:nvPr/>
        </p:nvSpPr>
        <p:spPr>
          <a:xfrm>
            <a:off x="10561320" y="44348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3" name="Shape 51"/>
          <p:cNvSpPr/>
          <p:nvPr/>
        </p:nvSpPr>
        <p:spPr>
          <a:xfrm>
            <a:off x="7818120" y="4892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4" name="Shape 52"/>
          <p:cNvSpPr/>
          <p:nvPr/>
        </p:nvSpPr>
        <p:spPr>
          <a:xfrm>
            <a:off x="8275320" y="4892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5" name="Shape 53"/>
          <p:cNvSpPr/>
          <p:nvPr/>
        </p:nvSpPr>
        <p:spPr>
          <a:xfrm>
            <a:off x="8732520" y="4892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6" name="Shape 54"/>
          <p:cNvSpPr/>
          <p:nvPr/>
        </p:nvSpPr>
        <p:spPr>
          <a:xfrm>
            <a:off x="9189720" y="4892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7" name="Shape 55"/>
          <p:cNvSpPr/>
          <p:nvPr/>
        </p:nvSpPr>
        <p:spPr>
          <a:xfrm>
            <a:off x="9646920" y="4892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8" name="Shape 56"/>
          <p:cNvSpPr/>
          <p:nvPr/>
        </p:nvSpPr>
        <p:spPr>
          <a:xfrm>
            <a:off x="10104120" y="48920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59" name="Shape 57"/>
          <p:cNvSpPr/>
          <p:nvPr/>
        </p:nvSpPr>
        <p:spPr>
          <a:xfrm>
            <a:off x="8275320" y="5349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60" name="Shape 58"/>
          <p:cNvSpPr/>
          <p:nvPr/>
        </p:nvSpPr>
        <p:spPr>
          <a:xfrm>
            <a:off x="8732520" y="5349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61" name="Shape 59"/>
          <p:cNvSpPr/>
          <p:nvPr/>
        </p:nvSpPr>
        <p:spPr>
          <a:xfrm>
            <a:off x="9189720" y="5349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62" name="Shape 60"/>
          <p:cNvSpPr/>
          <p:nvPr/>
        </p:nvSpPr>
        <p:spPr>
          <a:xfrm>
            <a:off x="9646920" y="5349240"/>
            <a:ext cx="402336" cy="402336"/>
          </a:xfrm>
          <a:prstGeom prst="rect">
            <a:avLst/>
          </a:prstGeom>
          <a:solidFill>
            <a:srgbClr val="6B4E8F">
              <a:alpha val="45000"/>
            </a:srgbClr>
          </a:solidFill>
          <a:ln w="9525">
            <a:solidFill>
              <a:srgbClr val="4A2C6D"/>
            </a:solidFill>
            <a:prstDash val="solid"/>
          </a:ln>
        </p:spPr>
        <p:txBody>
          <a:bodyPr/>
          <a:lstStyle/>
          <a:p>
            <a:endParaRPr lang="en-US"/>
          </a:p>
        </p:txBody>
      </p:sp>
      <p:sp>
        <p:nvSpPr>
          <p:cNvPr id="63" name="Text 61"/>
          <p:cNvSpPr/>
          <p:nvPr/>
        </p:nvSpPr>
        <p:spPr>
          <a:xfrm>
            <a:off x="6766560" y="5806440"/>
            <a:ext cx="4937760" cy="274320"/>
          </a:xfrm>
          <a:prstGeom prst="rect">
            <a:avLst/>
          </a:prstGeom>
          <a:noFill/>
          <a:ln/>
        </p:spPr>
        <p:txBody>
          <a:bodyPr wrap="square" lIns="0" tIns="0" rIns="0" bIns="0" rtlCol="0" anchor="ctr"/>
          <a:lstStyle/>
          <a:p>
            <a:pPr marL="0" indent="0" algn="ctr">
              <a:buNone/>
            </a:pPr>
            <a:r>
              <a:rPr lang="en-US" sz="1300" dirty="0">
                <a:solidFill>
                  <a:srgbClr val="8A7F99"/>
                </a:solidFill>
                <a:latin typeface="Calibri" pitchFamily="34" charset="0"/>
                <a:ea typeface="Calibri" pitchFamily="34" charset="-122"/>
                <a:cs typeface="Calibri" pitchFamily="34" charset="-120"/>
              </a:rPr>
              <a:t>each in-tissue cell = one instance xᵢ</a:t>
            </a:r>
            <a:endParaRPr lang="en-US" sz="1300" dirty="0"/>
          </a:p>
        </p:txBody>
      </p:sp>
      <p:sp>
        <p:nvSpPr>
          <p:cNvPr id="64" name="Text 62"/>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65" name="Text 63"/>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16</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DATA PREP · STEP 3</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Feature extraction — patches → embeddings</a:t>
            </a:r>
            <a:endParaRPr lang="en-US" sz="2900" dirty="0"/>
          </a:p>
        </p:txBody>
      </p:sp>
      <p:sp>
        <p:nvSpPr>
          <p:cNvPr id="5" name="Text 3"/>
          <p:cNvSpPr/>
          <p:nvPr/>
        </p:nvSpPr>
        <p:spPr>
          <a:xfrm>
            <a:off x="640080" y="1554480"/>
            <a:ext cx="5486400" cy="3383280"/>
          </a:xfrm>
          <a:prstGeom prst="rect">
            <a:avLst/>
          </a:prstGeom>
          <a:noFill/>
          <a:ln/>
        </p:spPr>
        <p:txBody>
          <a:bodyPr wrap="square" lIns="0" tIns="0" rIns="0" bIns="0" rtlCol="0" anchor="t"/>
          <a:lstStyle/>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Run each patch through a frozen foundation encoder → fixed-length embedding hᵢ ∈ ℝᵈ.</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Embedding dims: UNI = 1024, UNI2 = 1536, Virchow2 = 2560, GigaPath/CONCHv1.5 = 1536/768.</a:t>
            </a:r>
            <a:endParaRPr lang="en-US" sz="1800" dirty="0"/>
          </a:p>
          <a:p>
            <a:pPr marL="203200" indent="-203200">
              <a:spcAft>
                <a:spcPts val="600"/>
              </a:spcAft>
              <a:buSzPct val="100000"/>
              <a:buChar char="•"/>
            </a:pPr>
            <a:r>
              <a:rPr lang="en-US" sz="1800" dirty="0">
                <a:solidFill>
                  <a:srgbClr val="2A2233"/>
                </a:solidFill>
                <a:latin typeface="Calibri" pitchFamily="34" charset="0"/>
                <a:ea typeface="Calibri" pitchFamily="34" charset="-122"/>
                <a:cs typeface="Calibri" pitchFamily="34" charset="-120"/>
              </a:rPr>
              <a:t>This is the expensive, one-time, GPU-bound step — batch patches, use AMP/fp16.</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Output per slide: a tensor (N × d) saved as .pt / .h5 — this IS the bag the MIL model trains on.</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Because features are precomputed, MIL training itself is cheap (CPU-feasible, minutes).</a:t>
            </a:r>
            <a:endParaRPr lang="en-US" sz="1800" dirty="0"/>
          </a:p>
        </p:txBody>
      </p:sp>
      <p:sp>
        <p:nvSpPr>
          <p:cNvPr id="6" name="Shape 4"/>
          <p:cNvSpPr/>
          <p:nvPr/>
        </p:nvSpPr>
        <p:spPr>
          <a:xfrm>
            <a:off x="640080" y="4937760"/>
            <a:ext cx="5486400" cy="1188720"/>
          </a:xfrm>
          <a:prstGeom prst="rect">
            <a:avLst/>
          </a:prstGeom>
          <a:solidFill>
            <a:srgbClr val="2B2138"/>
          </a:solidFill>
          <a:ln w="12700">
            <a:solidFill>
              <a:srgbClr val="6B4E8F"/>
            </a:solidFill>
            <a:prstDash val="solid"/>
          </a:ln>
        </p:spPr>
        <p:txBody>
          <a:bodyPr/>
          <a:lstStyle/>
          <a:p>
            <a:endParaRPr lang="en-US"/>
          </a:p>
        </p:txBody>
      </p:sp>
      <p:sp>
        <p:nvSpPr>
          <p:cNvPr id="7" name="Text 5"/>
          <p:cNvSpPr/>
          <p:nvPr/>
        </p:nvSpPr>
        <p:spPr>
          <a:xfrm>
            <a:off x="804672" y="5047488"/>
            <a:ext cx="5175504" cy="969264"/>
          </a:xfrm>
          <a:prstGeom prst="rect">
            <a:avLst/>
          </a:prstGeom>
          <a:noFill/>
          <a:ln/>
        </p:spPr>
        <p:txBody>
          <a:bodyPr wrap="square" lIns="0" tIns="0" rIns="0" bIns="0" rtlCol="0" anchor="t"/>
          <a:lstStyle/>
          <a:p>
            <a:pPr marL="0" indent="0">
              <a:spcAft>
                <a:spcPts val="200"/>
              </a:spcAft>
              <a:buNone/>
            </a:pPr>
            <a:r>
              <a:rPr lang="en-US" sz="1350" dirty="0">
                <a:solidFill>
                  <a:srgbClr val="9A8CB0"/>
                </a:solidFill>
                <a:latin typeface="Courier New" pitchFamily="34" charset="0"/>
                <a:ea typeface="Courier New" pitchFamily="34" charset="-122"/>
                <a:cs typeface="Courier New" pitchFamily="34" charset="-120"/>
              </a:rPr>
              <a:t># precompute once, reuse forever</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feats = encoder(patches.cuda())   # (B, d)</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torch.save(bag_feats, f'{slide_id}.pt')  # (N, d)</a:t>
            </a:r>
            <a:endParaRPr lang="en-US" sz="1350" dirty="0"/>
          </a:p>
        </p:txBody>
      </p:sp>
      <p:sp>
        <p:nvSpPr>
          <p:cNvPr id="8" name="Shape 6"/>
          <p:cNvSpPr/>
          <p:nvPr/>
        </p:nvSpPr>
        <p:spPr>
          <a:xfrm>
            <a:off x="6400800" y="1508760"/>
            <a:ext cx="539496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9" name="Text 7"/>
          <p:cNvSpPr/>
          <p:nvPr/>
        </p:nvSpPr>
        <p:spPr>
          <a:xfrm>
            <a:off x="658368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The encode-once bottleneck</a:t>
            </a:r>
            <a:endParaRPr lang="en-US" sz="1400" dirty="0"/>
          </a:p>
        </p:txBody>
      </p:sp>
      <p:sp>
        <p:nvSpPr>
          <p:cNvPr id="10" name="Shape 8"/>
          <p:cNvSpPr/>
          <p:nvPr/>
        </p:nvSpPr>
        <p:spPr>
          <a:xfrm>
            <a:off x="6766560" y="2286000"/>
            <a:ext cx="502920" cy="502920"/>
          </a:xfrm>
          <a:prstGeom prst="rect">
            <a:avLst/>
          </a:prstGeom>
          <a:solidFill>
            <a:srgbClr val="6B4E8F"/>
          </a:solidFill>
          <a:ln w="12700">
            <a:solidFill>
              <a:srgbClr val="FFFFFF"/>
            </a:solidFill>
            <a:prstDash val="solid"/>
          </a:ln>
        </p:spPr>
        <p:txBody>
          <a:bodyPr/>
          <a:lstStyle/>
          <a:p>
            <a:endParaRPr lang="en-US"/>
          </a:p>
        </p:txBody>
      </p:sp>
      <p:sp>
        <p:nvSpPr>
          <p:cNvPr id="11" name="Shape 9"/>
          <p:cNvSpPr/>
          <p:nvPr/>
        </p:nvSpPr>
        <p:spPr>
          <a:xfrm>
            <a:off x="6766560" y="2852928"/>
            <a:ext cx="502920" cy="502920"/>
          </a:xfrm>
          <a:prstGeom prst="rect">
            <a:avLst/>
          </a:prstGeom>
          <a:solidFill>
            <a:srgbClr val="D6336C"/>
          </a:solidFill>
          <a:ln w="12700">
            <a:solidFill>
              <a:srgbClr val="FFFFFF"/>
            </a:solidFill>
            <a:prstDash val="solid"/>
          </a:ln>
        </p:spPr>
        <p:txBody>
          <a:bodyPr/>
          <a:lstStyle/>
          <a:p>
            <a:endParaRPr lang="en-US"/>
          </a:p>
        </p:txBody>
      </p:sp>
      <p:sp>
        <p:nvSpPr>
          <p:cNvPr id="12" name="Shape 10"/>
          <p:cNvSpPr/>
          <p:nvPr/>
        </p:nvSpPr>
        <p:spPr>
          <a:xfrm>
            <a:off x="6766560" y="3419856"/>
            <a:ext cx="502920" cy="502920"/>
          </a:xfrm>
          <a:prstGeom prst="rect">
            <a:avLst/>
          </a:prstGeom>
          <a:solidFill>
            <a:srgbClr val="6B4E8F"/>
          </a:solidFill>
          <a:ln w="12700">
            <a:solidFill>
              <a:srgbClr val="FFFFFF"/>
            </a:solidFill>
            <a:prstDash val="solid"/>
          </a:ln>
        </p:spPr>
        <p:txBody>
          <a:bodyPr/>
          <a:lstStyle/>
          <a:p>
            <a:endParaRPr lang="en-US"/>
          </a:p>
        </p:txBody>
      </p:sp>
      <p:sp>
        <p:nvSpPr>
          <p:cNvPr id="13" name="Shape 11"/>
          <p:cNvSpPr/>
          <p:nvPr/>
        </p:nvSpPr>
        <p:spPr>
          <a:xfrm>
            <a:off x="6766560" y="3986784"/>
            <a:ext cx="502920" cy="502920"/>
          </a:xfrm>
          <a:prstGeom prst="rect">
            <a:avLst/>
          </a:prstGeom>
          <a:solidFill>
            <a:srgbClr val="6B4E8F"/>
          </a:solidFill>
          <a:ln w="12700">
            <a:solidFill>
              <a:srgbClr val="FFFFFF"/>
            </a:solidFill>
            <a:prstDash val="solid"/>
          </a:ln>
        </p:spPr>
        <p:txBody>
          <a:bodyPr/>
          <a:lstStyle/>
          <a:p>
            <a:endParaRPr lang="en-US"/>
          </a:p>
        </p:txBody>
      </p:sp>
      <p:sp>
        <p:nvSpPr>
          <p:cNvPr id="14" name="Text 12"/>
          <p:cNvSpPr/>
          <p:nvPr/>
        </p:nvSpPr>
        <p:spPr>
          <a:xfrm>
            <a:off x="6675120" y="4572000"/>
            <a:ext cx="731520" cy="274320"/>
          </a:xfrm>
          <a:prstGeom prst="rect">
            <a:avLst/>
          </a:prstGeom>
          <a:noFill/>
          <a:ln/>
        </p:spPr>
        <p:txBody>
          <a:bodyPr wrap="square" lIns="0" tIns="0" rIns="0" bIns="0" rtlCol="0" anchor="ctr"/>
          <a:lstStyle/>
          <a:p>
            <a:pPr marL="0" indent="0" algn="ctr">
              <a:buNone/>
            </a:pPr>
            <a:r>
              <a:rPr lang="en-US" sz="1200" dirty="0">
                <a:solidFill>
                  <a:srgbClr val="8A7F99"/>
                </a:solidFill>
                <a:latin typeface="Calibri" pitchFamily="34" charset="0"/>
                <a:ea typeface="Calibri" pitchFamily="34" charset="-122"/>
                <a:cs typeface="Calibri" pitchFamily="34" charset="-120"/>
              </a:rPr>
              <a:t>patches</a:t>
            </a:r>
            <a:endParaRPr lang="en-US" sz="1200" dirty="0"/>
          </a:p>
        </p:txBody>
      </p:sp>
      <p:sp>
        <p:nvSpPr>
          <p:cNvPr id="15" name="Shape 13"/>
          <p:cNvSpPr/>
          <p:nvPr/>
        </p:nvSpPr>
        <p:spPr>
          <a:xfrm>
            <a:off x="7360920" y="3154680"/>
            <a:ext cx="457200" cy="0"/>
          </a:xfrm>
          <a:prstGeom prst="line">
            <a:avLst/>
          </a:prstGeom>
          <a:noFill/>
          <a:ln w="25400">
            <a:solidFill>
              <a:srgbClr val="8A7F99"/>
            </a:solidFill>
            <a:prstDash val="solid"/>
            <a:tailEnd type="triangle"/>
          </a:ln>
        </p:spPr>
        <p:txBody>
          <a:bodyPr/>
          <a:lstStyle/>
          <a:p>
            <a:endParaRPr lang="en-US"/>
          </a:p>
        </p:txBody>
      </p:sp>
      <p:sp>
        <p:nvSpPr>
          <p:cNvPr id="16" name="Shape 14"/>
          <p:cNvSpPr/>
          <p:nvPr/>
        </p:nvSpPr>
        <p:spPr>
          <a:xfrm>
            <a:off x="7863840" y="2606040"/>
            <a:ext cx="1828800" cy="1143000"/>
          </a:xfrm>
          <a:prstGeom prst="roundRect">
            <a:avLst>
              <a:gd name="adj" fmla="val 6400"/>
            </a:avLst>
          </a:prstGeom>
          <a:solidFill>
            <a:srgbClr val="4A2C6D"/>
          </a:solidFill>
          <a:ln/>
        </p:spPr>
        <p:txBody>
          <a:bodyPr/>
          <a:lstStyle/>
          <a:p>
            <a:endParaRPr lang="en-US"/>
          </a:p>
        </p:txBody>
      </p:sp>
      <p:sp>
        <p:nvSpPr>
          <p:cNvPr id="17" name="Text 15"/>
          <p:cNvSpPr/>
          <p:nvPr/>
        </p:nvSpPr>
        <p:spPr>
          <a:xfrm>
            <a:off x="7863840" y="2606040"/>
            <a:ext cx="1828800" cy="11430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Frozen</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foundation</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encoder f</a:t>
            </a:r>
            <a:endParaRPr lang="en-US" sz="1450" dirty="0"/>
          </a:p>
        </p:txBody>
      </p:sp>
      <p:sp>
        <p:nvSpPr>
          <p:cNvPr id="18" name="Text 16"/>
          <p:cNvSpPr/>
          <p:nvPr/>
        </p:nvSpPr>
        <p:spPr>
          <a:xfrm>
            <a:off x="7909560" y="2651760"/>
            <a:ext cx="274320" cy="274320"/>
          </a:xfrm>
          <a:prstGeom prst="rect">
            <a:avLst/>
          </a:prstGeom>
          <a:noFill/>
          <a:ln/>
        </p:spPr>
        <p:txBody>
          <a:bodyPr wrap="square" lIns="0" tIns="0" rIns="0" bIns="0" rtlCol="0" anchor="ctr"/>
          <a:lstStyle/>
          <a:p>
            <a:pPr marL="0" indent="0">
              <a:buNone/>
            </a:pPr>
            <a:r>
              <a:rPr lang="en-US" sz="1450" dirty="0">
                <a:solidFill>
                  <a:srgbClr val="CFE8FF"/>
                </a:solidFill>
                <a:latin typeface="Calibri" pitchFamily="34" charset="0"/>
                <a:ea typeface="Calibri" pitchFamily="34" charset="-122"/>
                <a:cs typeface="Calibri" pitchFamily="34" charset="-120"/>
              </a:rPr>
              <a:t>❄</a:t>
            </a:r>
            <a:endParaRPr lang="en-US" sz="1450" dirty="0"/>
          </a:p>
        </p:txBody>
      </p:sp>
      <p:sp>
        <p:nvSpPr>
          <p:cNvPr id="19" name="Shape 17"/>
          <p:cNvSpPr/>
          <p:nvPr/>
        </p:nvSpPr>
        <p:spPr>
          <a:xfrm>
            <a:off x="9784080" y="3154680"/>
            <a:ext cx="457200" cy="0"/>
          </a:xfrm>
          <a:prstGeom prst="line">
            <a:avLst/>
          </a:prstGeom>
          <a:noFill/>
          <a:ln w="25400">
            <a:solidFill>
              <a:srgbClr val="8A7F99"/>
            </a:solidFill>
            <a:prstDash val="solid"/>
            <a:tailEnd type="triangle"/>
          </a:ln>
        </p:spPr>
        <p:txBody>
          <a:bodyPr/>
          <a:lstStyle/>
          <a:p>
            <a:endParaRPr lang="en-US"/>
          </a:p>
        </p:txBody>
      </p:sp>
      <p:sp>
        <p:nvSpPr>
          <p:cNvPr id="20" name="Shape 18"/>
          <p:cNvSpPr/>
          <p:nvPr/>
        </p:nvSpPr>
        <p:spPr>
          <a:xfrm>
            <a:off x="10332720" y="2423160"/>
            <a:ext cx="411480" cy="1463040"/>
          </a:xfrm>
          <a:prstGeom prst="rect">
            <a:avLst/>
          </a:prstGeom>
          <a:solidFill>
            <a:srgbClr val="1C8C8C"/>
          </a:solidFill>
          <a:ln w="12700">
            <a:solidFill>
              <a:srgbClr val="FFFFFF"/>
            </a:solidFill>
            <a:prstDash val="solid"/>
          </a:ln>
        </p:spPr>
        <p:txBody>
          <a:bodyPr/>
          <a:lstStyle/>
          <a:p>
            <a:endParaRPr lang="en-US"/>
          </a:p>
        </p:txBody>
      </p:sp>
      <p:sp>
        <p:nvSpPr>
          <p:cNvPr id="21" name="Shape 19"/>
          <p:cNvSpPr/>
          <p:nvPr/>
        </p:nvSpPr>
        <p:spPr>
          <a:xfrm>
            <a:off x="10332720" y="2665476"/>
            <a:ext cx="411480" cy="0"/>
          </a:xfrm>
          <a:prstGeom prst="line">
            <a:avLst/>
          </a:prstGeom>
          <a:noFill/>
          <a:ln w="9525">
            <a:solidFill>
              <a:srgbClr val="FFFFFF"/>
            </a:solidFill>
            <a:prstDash val="solid"/>
          </a:ln>
        </p:spPr>
        <p:txBody>
          <a:bodyPr/>
          <a:lstStyle/>
          <a:p>
            <a:endParaRPr lang="en-US"/>
          </a:p>
        </p:txBody>
      </p:sp>
      <p:sp>
        <p:nvSpPr>
          <p:cNvPr id="22" name="Shape 20"/>
          <p:cNvSpPr/>
          <p:nvPr/>
        </p:nvSpPr>
        <p:spPr>
          <a:xfrm>
            <a:off x="10332720" y="2907792"/>
            <a:ext cx="411480" cy="0"/>
          </a:xfrm>
          <a:prstGeom prst="line">
            <a:avLst/>
          </a:prstGeom>
          <a:noFill/>
          <a:ln w="9525">
            <a:solidFill>
              <a:srgbClr val="FFFFFF"/>
            </a:solidFill>
            <a:prstDash val="solid"/>
          </a:ln>
        </p:spPr>
        <p:txBody>
          <a:bodyPr/>
          <a:lstStyle/>
          <a:p>
            <a:endParaRPr lang="en-US"/>
          </a:p>
        </p:txBody>
      </p:sp>
      <p:sp>
        <p:nvSpPr>
          <p:cNvPr id="23" name="Shape 21"/>
          <p:cNvSpPr/>
          <p:nvPr/>
        </p:nvSpPr>
        <p:spPr>
          <a:xfrm>
            <a:off x="10332720" y="3150108"/>
            <a:ext cx="411480" cy="0"/>
          </a:xfrm>
          <a:prstGeom prst="line">
            <a:avLst/>
          </a:prstGeom>
          <a:noFill/>
          <a:ln w="9525">
            <a:solidFill>
              <a:srgbClr val="FFFFFF"/>
            </a:solidFill>
            <a:prstDash val="solid"/>
          </a:ln>
        </p:spPr>
        <p:txBody>
          <a:bodyPr/>
          <a:lstStyle/>
          <a:p>
            <a:endParaRPr lang="en-US"/>
          </a:p>
        </p:txBody>
      </p:sp>
      <p:sp>
        <p:nvSpPr>
          <p:cNvPr id="24" name="Shape 22"/>
          <p:cNvSpPr/>
          <p:nvPr/>
        </p:nvSpPr>
        <p:spPr>
          <a:xfrm>
            <a:off x="10332720" y="3392424"/>
            <a:ext cx="411480" cy="0"/>
          </a:xfrm>
          <a:prstGeom prst="line">
            <a:avLst/>
          </a:prstGeom>
          <a:noFill/>
          <a:ln w="9525">
            <a:solidFill>
              <a:srgbClr val="FFFFFF"/>
            </a:solidFill>
            <a:prstDash val="solid"/>
          </a:ln>
        </p:spPr>
        <p:txBody>
          <a:bodyPr/>
          <a:lstStyle/>
          <a:p>
            <a:endParaRPr lang="en-US"/>
          </a:p>
        </p:txBody>
      </p:sp>
      <p:sp>
        <p:nvSpPr>
          <p:cNvPr id="25" name="Shape 23"/>
          <p:cNvSpPr/>
          <p:nvPr/>
        </p:nvSpPr>
        <p:spPr>
          <a:xfrm>
            <a:off x="10332720" y="3634740"/>
            <a:ext cx="411480" cy="0"/>
          </a:xfrm>
          <a:prstGeom prst="line">
            <a:avLst/>
          </a:prstGeom>
          <a:noFill/>
          <a:ln w="9525">
            <a:solidFill>
              <a:srgbClr val="FFFFFF"/>
            </a:solidFill>
            <a:prstDash val="solid"/>
          </a:ln>
        </p:spPr>
        <p:txBody>
          <a:bodyPr/>
          <a:lstStyle/>
          <a:p>
            <a:endParaRPr lang="en-US"/>
          </a:p>
        </p:txBody>
      </p:sp>
      <p:sp>
        <p:nvSpPr>
          <p:cNvPr id="26" name="Text 24"/>
          <p:cNvSpPr/>
          <p:nvPr/>
        </p:nvSpPr>
        <p:spPr>
          <a:xfrm>
            <a:off x="10149840" y="3950208"/>
            <a:ext cx="868680" cy="274320"/>
          </a:xfrm>
          <a:prstGeom prst="rect">
            <a:avLst/>
          </a:prstGeom>
          <a:noFill/>
          <a:ln/>
        </p:spPr>
        <p:txBody>
          <a:bodyPr wrap="square" lIns="0" tIns="0" rIns="0" bIns="0" rtlCol="0" anchor="ctr"/>
          <a:lstStyle/>
          <a:p>
            <a:pPr marL="0" indent="0" algn="ctr">
              <a:buNone/>
            </a:pPr>
            <a:r>
              <a:rPr lang="en-US" sz="1300" dirty="0">
                <a:solidFill>
                  <a:srgbClr val="8A7F99"/>
                </a:solidFill>
                <a:latin typeface="Courier New" pitchFamily="34" charset="0"/>
                <a:ea typeface="Courier New" pitchFamily="34" charset="-122"/>
                <a:cs typeface="Courier New" pitchFamily="34" charset="-120"/>
              </a:rPr>
              <a:t>hᵢ ∈ ℝᵈ</a:t>
            </a:r>
            <a:endParaRPr lang="en-US" sz="1300" dirty="0"/>
          </a:p>
        </p:txBody>
      </p:sp>
      <p:sp>
        <p:nvSpPr>
          <p:cNvPr id="27" name="Shape 25"/>
          <p:cNvSpPr/>
          <p:nvPr/>
        </p:nvSpPr>
        <p:spPr>
          <a:xfrm>
            <a:off x="7315200" y="4617720"/>
            <a:ext cx="3017520" cy="1143000"/>
          </a:xfrm>
          <a:prstGeom prst="rect">
            <a:avLst/>
          </a:prstGeom>
          <a:solidFill>
            <a:srgbClr val="F2EAF7"/>
          </a:solidFill>
          <a:ln w="19050">
            <a:solidFill>
              <a:srgbClr val="D6336C"/>
            </a:solidFill>
            <a:prstDash val="solid"/>
          </a:ln>
        </p:spPr>
        <p:txBody>
          <a:bodyPr/>
          <a:lstStyle/>
          <a:p>
            <a:endParaRPr lang="en-US"/>
          </a:p>
        </p:txBody>
      </p:sp>
      <p:sp>
        <p:nvSpPr>
          <p:cNvPr id="28" name="Text 26"/>
          <p:cNvSpPr/>
          <p:nvPr/>
        </p:nvSpPr>
        <p:spPr>
          <a:xfrm>
            <a:off x="7315200" y="4617720"/>
            <a:ext cx="3017520" cy="1143000"/>
          </a:xfrm>
          <a:prstGeom prst="rect">
            <a:avLst/>
          </a:prstGeom>
          <a:noFill/>
          <a:ln/>
        </p:spPr>
        <p:txBody>
          <a:bodyPr wrap="square" lIns="0" tIns="0" rIns="0" bIns="0" rtlCol="0" anchor="ctr"/>
          <a:lstStyle/>
          <a:p>
            <a:pPr marL="0" indent="0" algn="ctr">
              <a:buNone/>
            </a:pPr>
            <a:r>
              <a:rPr lang="en-US" sz="1450" b="1" dirty="0">
                <a:solidFill>
                  <a:srgbClr val="4A2C6D"/>
                </a:solidFill>
                <a:latin typeface="Calibri" pitchFamily="34" charset="0"/>
                <a:ea typeface="Calibri" pitchFamily="34" charset="-122"/>
                <a:cs typeface="Calibri" pitchFamily="34" charset="-120"/>
              </a:rPr>
              <a:t>Bag tensor  (N × d)</a:t>
            </a:r>
            <a:endParaRPr lang="en-US" sz="1450" dirty="0"/>
          </a:p>
          <a:p>
            <a:pPr marL="0" indent="0" algn="ctr">
              <a:buNone/>
            </a:pPr>
            <a:r>
              <a:rPr lang="en-US" sz="1450" b="1" dirty="0">
                <a:solidFill>
                  <a:srgbClr val="4A2C6D"/>
                </a:solidFill>
                <a:latin typeface="Calibri" pitchFamily="34" charset="0"/>
                <a:ea typeface="Calibri" pitchFamily="34" charset="-122"/>
                <a:cs typeface="Calibri" pitchFamily="34" charset="-120"/>
              </a:rPr>
              <a:t>saved to disk · trains the MIL model</a:t>
            </a:r>
            <a:endParaRPr lang="en-US" sz="1450" dirty="0"/>
          </a:p>
        </p:txBody>
      </p:sp>
      <p:sp>
        <p:nvSpPr>
          <p:cNvPr id="29" name="Text 2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0" name="Text 28"/>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17</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DATA PREP · NOTEBOOK 01</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Hands-on: build a feature bag end-to-end</a:t>
            </a:r>
            <a:endParaRPr lang="en-US" sz="2900" dirty="0"/>
          </a:p>
        </p:txBody>
      </p:sp>
      <p:sp>
        <p:nvSpPr>
          <p:cNvPr id="5" name="Shape 3"/>
          <p:cNvSpPr/>
          <p:nvPr/>
        </p:nvSpPr>
        <p:spPr>
          <a:xfrm>
            <a:off x="640080" y="1645920"/>
            <a:ext cx="2057400" cy="1005840"/>
          </a:xfrm>
          <a:prstGeom prst="roundRect">
            <a:avLst>
              <a:gd name="adj" fmla="val 5455"/>
            </a:avLst>
          </a:prstGeom>
          <a:solidFill>
            <a:srgbClr val="4A2C6D"/>
          </a:solidFill>
          <a:ln/>
          <a:effectLst>
            <a:outerShdw blurRad="88900" dist="38100" dir="8100000" algn="bl" rotWithShape="0">
              <a:srgbClr val="000000">
                <a:alpha val="13000"/>
              </a:srgbClr>
            </a:outerShdw>
          </a:effectLst>
        </p:spPr>
        <p:txBody>
          <a:bodyPr/>
          <a:lstStyle/>
          <a:p>
            <a:endParaRPr lang="en-US"/>
          </a:p>
        </p:txBody>
      </p:sp>
      <p:sp>
        <p:nvSpPr>
          <p:cNvPr id="6" name="Text 4"/>
          <p:cNvSpPr/>
          <p:nvPr/>
        </p:nvSpPr>
        <p:spPr>
          <a:xfrm>
            <a:off x="640080" y="1645920"/>
            <a:ext cx="2057400"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Open WSI</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(OpenSlide)</a:t>
            </a:r>
            <a:endParaRPr lang="en-US" sz="1500" dirty="0"/>
          </a:p>
        </p:txBody>
      </p:sp>
      <p:sp>
        <p:nvSpPr>
          <p:cNvPr id="7" name="Shape 5"/>
          <p:cNvSpPr/>
          <p:nvPr/>
        </p:nvSpPr>
        <p:spPr>
          <a:xfrm>
            <a:off x="2706624" y="2148840"/>
            <a:ext cx="146304" cy="0"/>
          </a:xfrm>
          <a:prstGeom prst="line">
            <a:avLst/>
          </a:prstGeom>
          <a:noFill/>
          <a:ln w="25400">
            <a:solidFill>
              <a:srgbClr val="8A7F99"/>
            </a:solidFill>
            <a:prstDash val="solid"/>
            <a:tailEnd type="triangle"/>
          </a:ln>
        </p:spPr>
        <p:txBody>
          <a:bodyPr/>
          <a:lstStyle/>
          <a:p>
            <a:endParaRPr lang="en-US"/>
          </a:p>
        </p:txBody>
      </p:sp>
      <p:sp>
        <p:nvSpPr>
          <p:cNvPr id="8" name="Shape 6"/>
          <p:cNvSpPr/>
          <p:nvPr/>
        </p:nvSpPr>
        <p:spPr>
          <a:xfrm>
            <a:off x="2862072" y="1645920"/>
            <a:ext cx="2057400" cy="1005840"/>
          </a:xfrm>
          <a:prstGeom prst="roundRect">
            <a:avLst>
              <a:gd name="adj" fmla="val 5455"/>
            </a:avLst>
          </a:prstGeom>
          <a:solidFill>
            <a:srgbClr val="4A2C6D"/>
          </a:solidFill>
          <a:ln/>
          <a:effectLst>
            <a:outerShdw blurRad="88900" dist="38100" dir="8100000" algn="bl" rotWithShape="0">
              <a:srgbClr val="000000">
                <a:alpha val="13000"/>
              </a:srgbClr>
            </a:outerShdw>
          </a:effectLst>
        </p:spPr>
        <p:txBody>
          <a:bodyPr/>
          <a:lstStyle/>
          <a:p>
            <a:endParaRPr lang="en-US"/>
          </a:p>
        </p:txBody>
      </p:sp>
      <p:sp>
        <p:nvSpPr>
          <p:cNvPr id="9" name="Text 7"/>
          <p:cNvSpPr/>
          <p:nvPr/>
        </p:nvSpPr>
        <p:spPr>
          <a:xfrm>
            <a:off x="2862072" y="1645920"/>
            <a:ext cx="2057400"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Segment</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tissue</a:t>
            </a:r>
            <a:endParaRPr lang="en-US" sz="1500" dirty="0"/>
          </a:p>
        </p:txBody>
      </p:sp>
      <p:sp>
        <p:nvSpPr>
          <p:cNvPr id="10" name="Shape 8"/>
          <p:cNvSpPr/>
          <p:nvPr/>
        </p:nvSpPr>
        <p:spPr>
          <a:xfrm>
            <a:off x="4928616" y="2148840"/>
            <a:ext cx="146304" cy="0"/>
          </a:xfrm>
          <a:prstGeom prst="line">
            <a:avLst/>
          </a:prstGeom>
          <a:noFill/>
          <a:ln w="25400">
            <a:solidFill>
              <a:srgbClr val="8A7F99"/>
            </a:solidFill>
            <a:prstDash val="solid"/>
            <a:tailEnd type="triangle"/>
          </a:ln>
        </p:spPr>
        <p:txBody>
          <a:bodyPr/>
          <a:lstStyle/>
          <a:p>
            <a:endParaRPr lang="en-US"/>
          </a:p>
        </p:txBody>
      </p:sp>
      <p:sp>
        <p:nvSpPr>
          <p:cNvPr id="11" name="Shape 9"/>
          <p:cNvSpPr/>
          <p:nvPr/>
        </p:nvSpPr>
        <p:spPr>
          <a:xfrm>
            <a:off x="5084064" y="1645920"/>
            <a:ext cx="2057400" cy="1005840"/>
          </a:xfrm>
          <a:prstGeom prst="roundRect">
            <a:avLst>
              <a:gd name="adj" fmla="val 5455"/>
            </a:avLst>
          </a:prstGeom>
          <a:solidFill>
            <a:srgbClr val="4A2C6D"/>
          </a:solidFill>
          <a:ln/>
          <a:effectLst>
            <a:outerShdw blurRad="88900" dist="38100" dir="8100000" algn="bl" rotWithShape="0">
              <a:srgbClr val="000000">
                <a:alpha val="13000"/>
              </a:srgbClr>
            </a:outerShdw>
          </a:effectLst>
        </p:spPr>
        <p:txBody>
          <a:bodyPr/>
          <a:lstStyle/>
          <a:p>
            <a:endParaRPr lang="en-US"/>
          </a:p>
        </p:txBody>
      </p:sp>
      <p:sp>
        <p:nvSpPr>
          <p:cNvPr id="12" name="Text 10"/>
          <p:cNvSpPr/>
          <p:nvPr/>
        </p:nvSpPr>
        <p:spPr>
          <a:xfrm>
            <a:off x="5084064" y="1645920"/>
            <a:ext cx="2057400"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Patch</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256px</a:t>
            </a:r>
            <a:endParaRPr lang="en-US" sz="1500" dirty="0"/>
          </a:p>
        </p:txBody>
      </p:sp>
      <p:sp>
        <p:nvSpPr>
          <p:cNvPr id="13" name="Shape 11"/>
          <p:cNvSpPr/>
          <p:nvPr/>
        </p:nvSpPr>
        <p:spPr>
          <a:xfrm>
            <a:off x="7150608" y="2148840"/>
            <a:ext cx="146304" cy="0"/>
          </a:xfrm>
          <a:prstGeom prst="line">
            <a:avLst/>
          </a:prstGeom>
          <a:noFill/>
          <a:ln w="25400">
            <a:solidFill>
              <a:srgbClr val="8A7F99"/>
            </a:solidFill>
            <a:prstDash val="solid"/>
            <a:tailEnd type="triangle"/>
          </a:ln>
        </p:spPr>
        <p:txBody>
          <a:bodyPr/>
          <a:lstStyle/>
          <a:p>
            <a:endParaRPr lang="en-US"/>
          </a:p>
        </p:txBody>
      </p:sp>
      <p:sp>
        <p:nvSpPr>
          <p:cNvPr id="14" name="Shape 12"/>
          <p:cNvSpPr/>
          <p:nvPr/>
        </p:nvSpPr>
        <p:spPr>
          <a:xfrm>
            <a:off x="7306056" y="1645920"/>
            <a:ext cx="2057400" cy="1005840"/>
          </a:xfrm>
          <a:prstGeom prst="roundRect">
            <a:avLst>
              <a:gd name="adj" fmla="val 5455"/>
            </a:avLst>
          </a:prstGeom>
          <a:solidFill>
            <a:srgbClr val="4A2C6D"/>
          </a:solidFill>
          <a:ln/>
          <a:effectLst>
            <a:outerShdw blurRad="88900" dist="38100" dir="8100000" algn="bl" rotWithShape="0">
              <a:srgbClr val="000000">
                <a:alpha val="13000"/>
              </a:srgbClr>
            </a:outerShdw>
          </a:effectLst>
        </p:spPr>
        <p:txBody>
          <a:bodyPr/>
          <a:lstStyle/>
          <a:p>
            <a:endParaRPr lang="en-US"/>
          </a:p>
        </p:txBody>
      </p:sp>
      <p:sp>
        <p:nvSpPr>
          <p:cNvPr id="15" name="Text 13"/>
          <p:cNvSpPr/>
          <p:nvPr/>
        </p:nvSpPr>
        <p:spPr>
          <a:xfrm>
            <a:off x="7306056" y="1645920"/>
            <a:ext cx="2057400"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Encode</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(UNI/CONCH)</a:t>
            </a:r>
            <a:endParaRPr lang="en-US" sz="1500" dirty="0"/>
          </a:p>
        </p:txBody>
      </p:sp>
      <p:sp>
        <p:nvSpPr>
          <p:cNvPr id="16" name="Shape 14"/>
          <p:cNvSpPr/>
          <p:nvPr/>
        </p:nvSpPr>
        <p:spPr>
          <a:xfrm>
            <a:off x="9372600" y="2148840"/>
            <a:ext cx="146304" cy="0"/>
          </a:xfrm>
          <a:prstGeom prst="line">
            <a:avLst/>
          </a:prstGeom>
          <a:noFill/>
          <a:ln w="25400">
            <a:solidFill>
              <a:srgbClr val="8A7F99"/>
            </a:solidFill>
            <a:prstDash val="solid"/>
            <a:tailEnd type="triangle"/>
          </a:ln>
        </p:spPr>
        <p:txBody>
          <a:bodyPr/>
          <a:lstStyle/>
          <a:p>
            <a:endParaRPr lang="en-US"/>
          </a:p>
        </p:txBody>
      </p:sp>
      <p:sp>
        <p:nvSpPr>
          <p:cNvPr id="17" name="Shape 15"/>
          <p:cNvSpPr/>
          <p:nvPr/>
        </p:nvSpPr>
        <p:spPr>
          <a:xfrm>
            <a:off x="9528048" y="1645920"/>
            <a:ext cx="2057400" cy="1005840"/>
          </a:xfrm>
          <a:prstGeom prst="roundRect">
            <a:avLst>
              <a:gd name="adj" fmla="val 5455"/>
            </a:avLst>
          </a:prstGeom>
          <a:solidFill>
            <a:srgbClr val="D6336C"/>
          </a:solidFill>
          <a:ln/>
          <a:effectLst>
            <a:outerShdw blurRad="88900" dist="38100" dir="8100000" algn="bl" rotWithShape="0">
              <a:srgbClr val="000000">
                <a:alpha val="13000"/>
              </a:srgbClr>
            </a:outerShdw>
          </a:effectLst>
        </p:spPr>
        <p:txBody>
          <a:bodyPr/>
          <a:lstStyle/>
          <a:p>
            <a:endParaRPr lang="en-US"/>
          </a:p>
        </p:txBody>
      </p:sp>
      <p:sp>
        <p:nvSpPr>
          <p:cNvPr id="18" name="Text 16"/>
          <p:cNvSpPr/>
          <p:nvPr/>
        </p:nvSpPr>
        <p:spPr>
          <a:xfrm>
            <a:off x="9528048" y="1645920"/>
            <a:ext cx="2057400"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Save bag</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(N × d)</a:t>
            </a:r>
            <a:endParaRPr lang="en-US" sz="1500" dirty="0"/>
          </a:p>
        </p:txBody>
      </p:sp>
      <p:sp>
        <p:nvSpPr>
          <p:cNvPr id="19" name="Shape 17"/>
          <p:cNvSpPr/>
          <p:nvPr/>
        </p:nvSpPr>
        <p:spPr>
          <a:xfrm>
            <a:off x="640080" y="3063240"/>
            <a:ext cx="6766560" cy="30632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0" name="Shape 18"/>
          <p:cNvSpPr/>
          <p:nvPr/>
        </p:nvSpPr>
        <p:spPr>
          <a:xfrm>
            <a:off x="640080" y="3063240"/>
            <a:ext cx="82296" cy="3063240"/>
          </a:xfrm>
          <a:prstGeom prst="rect">
            <a:avLst/>
          </a:prstGeom>
          <a:solidFill>
            <a:srgbClr val="1C8C8C"/>
          </a:solidFill>
          <a:ln/>
        </p:spPr>
        <p:txBody>
          <a:bodyPr/>
          <a:lstStyle/>
          <a:p>
            <a:endParaRPr lang="en-US"/>
          </a:p>
        </p:txBody>
      </p:sp>
      <p:sp>
        <p:nvSpPr>
          <p:cNvPr id="21" name="Text 19"/>
          <p:cNvSpPr/>
          <p:nvPr/>
        </p:nvSpPr>
        <p:spPr>
          <a:xfrm>
            <a:off x="896112" y="3200400"/>
            <a:ext cx="6217920" cy="365760"/>
          </a:xfrm>
          <a:prstGeom prst="rect">
            <a:avLst/>
          </a:prstGeom>
          <a:noFill/>
          <a:ln/>
        </p:spPr>
        <p:txBody>
          <a:bodyPr wrap="square" lIns="0" tIns="0" rIns="0" bIns="0" rtlCol="0" anchor="ctr"/>
          <a:lstStyle/>
          <a:p>
            <a:pPr marL="0" indent="0">
              <a:buNone/>
            </a:pPr>
            <a:r>
              <a:rPr lang="en-US" sz="1700" b="1" dirty="0">
                <a:solidFill>
                  <a:srgbClr val="1C8C8C"/>
                </a:solidFill>
                <a:latin typeface="Calibri" pitchFamily="34" charset="0"/>
                <a:ea typeface="Calibri" pitchFamily="34" charset="-122"/>
                <a:cs typeface="Calibri" pitchFamily="34" charset="-120"/>
              </a:rPr>
              <a:t>What notebook 01 covers</a:t>
            </a:r>
            <a:endParaRPr lang="en-US" sz="1700" dirty="0"/>
          </a:p>
        </p:txBody>
      </p:sp>
      <p:sp>
        <p:nvSpPr>
          <p:cNvPr id="22" name="Text 20"/>
          <p:cNvSpPr/>
          <p:nvPr/>
        </p:nvSpPr>
        <p:spPr>
          <a:xfrm>
            <a:off x="896112" y="3639312"/>
            <a:ext cx="6355080" cy="237744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2A2233"/>
                </a:solidFill>
                <a:latin typeface="Calibri" pitchFamily="34" charset="0"/>
                <a:ea typeface="Calibri" pitchFamily="34" charset="-122"/>
                <a:cs typeface="Calibri" pitchFamily="34" charset="-120"/>
              </a:rPr>
              <a:t>Load a TCGA .svs slide with OpenSlide; read mpp &amp; pyramid levels.</a:t>
            </a:r>
            <a:endParaRPr lang="en-US" sz="1700" dirty="0"/>
          </a:p>
          <a:p>
            <a:pPr marL="203200" indent="-203200">
              <a:spcAft>
                <a:spcPts val="700"/>
              </a:spcAft>
              <a:buSzPct val="100000"/>
              <a:buChar char="•"/>
            </a:pPr>
            <a:r>
              <a:rPr lang="en-US" sz="1700" dirty="0">
                <a:solidFill>
                  <a:srgbClr val="2A2233"/>
                </a:solidFill>
                <a:latin typeface="Calibri" pitchFamily="34" charset="0"/>
                <a:ea typeface="Calibri" pitchFamily="34" charset="-122"/>
                <a:cs typeface="Calibri" pitchFamily="34" charset="-120"/>
              </a:rPr>
              <a:t>Otsu tissue segmentation and contour extraction.</a:t>
            </a:r>
            <a:endParaRPr lang="en-US" sz="1700" dirty="0"/>
          </a:p>
          <a:p>
            <a:pPr marL="203200" indent="-203200">
              <a:spcAft>
                <a:spcPts val="700"/>
              </a:spcAft>
              <a:buSzPct val="100000"/>
              <a:buChar char="•"/>
            </a:pPr>
            <a:r>
              <a:rPr lang="en-US" sz="1700" dirty="0">
                <a:solidFill>
                  <a:srgbClr val="2A2233"/>
                </a:solidFill>
                <a:latin typeface="Calibri" pitchFamily="34" charset="0"/>
                <a:ea typeface="Calibri" pitchFamily="34" charset="-122"/>
                <a:cs typeface="Calibri" pitchFamily="34" charset="-120"/>
              </a:rPr>
              <a:t>Grid patching at 20×; visualize the patch map over the slide.</a:t>
            </a:r>
            <a:endParaRPr lang="en-US" sz="1700" dirty="0"/>
          </a:p>
          <a:p>
            <a:pPr marL="203200" indent="-203200">
              <a:spcAft>
                <a:spcPts val="700"/>
              </a:spcAft>
              <a:buSzPct val="100000"/>
              <a:buChar char="•"/>
            </a:pPr>
            <a:r>
              <a:rPr lang="en-US" sz="1700" dirty="0">
                <a:solidFill>
                  <a:srgbClr val="2A2233"/>
                </a:solidFill>
                <a:latin typeface="Calibri" pitchFamily="34" charset="0"/>
                <a:ea typeface="Calibri" pitchFamily="34" charset="-122"/>
                <a:cs typeface="Calibri" pitchFamily="34" charset="-120"/>
              </a:rPr>
              <a:t>Load UNI/CONCH from HuggingFace; extract &amp; cache patch features.</a:t>
            </a:r>
            <a:endParaRPr lang="en-US" sz="1700" dirty="0"/>
          </a:p>
          <a:p>
            <a:pPr marL="203200" indent="-203200">
              <a:spcAft>
                <a:spcPts val="700"/>
              </a:spcAft>
              <a:buSzPct val="100000"/>
              <a:buChar char="•"/>
            </a:pPr>
            <a:r>
              <a:rPr lang="en-US" sz="1700" dirty="0">
                <a:solidFill>
                  <a:srgbClr val="2A2233"/>
                </a:solidFill>
                <a:latin typeface="Calibri" pitchFamily="34" charset="0"/>
                <a:ea typeface="Calibri" pitchFamily="34" charset="-122"/>
                <a:cs typeface="Calibri" pitchFamily="34" charset="-120"/>
              </a:rPr>
              <a:t>Save the (N×d) bag tensor + a manifest CSV for training.</a:t>
            </a:r>
            <a:endParaRPr lang="en-US" sz="1700" dirty="0"/>
          </a:p>
        </p:txBody>
      </p:sp>
      <p:sp>
        <p:nvSpPr>
          <p:cNvPr id="23" name="Shape 21"/>
          <p:cNvSpPr/>
          <p:nvPr/>
        </p:nvSpPr>
        <p:spPr>
          <a:xfrm>
            <a:off x="7543800" y="3063240"/>
            <a:ext cx="4251960" cy="3063240"/>
          </a:xfrm>
          <a:prstGeom prst="rect">
            <a:avLst/>
          </a:prstGeom>
          <a:solidFill>
            <a:srgbClr val="2B2138"/>
          </a:solidFill>
          <a:ln w="12700">
            <a:solidFill>
              <a:srgbClr val="6B4E8F"/>
            </a:solidFill>
            <a:prstDash val="solid"/>
          </a:ln>
        </p:spPr>
        <p:txBody>
          <a:bodyPr/>
          <a:lstStyle/>
          <a:p>
            <a:endParaRPr lang="en-US"/>
          </a:p>
        </p:txBody>
      </p:sp>
      <p:sp>
        <p:nvSpPr>
          <p:cNvPr id="24" name="Text 22"/>
          <p:cNvSpPr/>
          <p:nvPr/>
        </p:nvSpPr>
        <p:spPr>
          <a:xfrm>
            <a:off x="7708392" y="3172968"/>
            <a:ext cx="3941064" cy="2843784"/>
          </a:xfrm>
          <a:prstGeom prst="rect">
            <a:avLst/>
          </a:prstGeom>
          <a:noFill/>
          <a:ln/>
        </p:spPr>
        <p:txBody>
          <a:bodyPr wrap="square" lIns="0" tIns="0" rIns="0" bIns="0" rtlCol="0" anchor="t"/>
          <a:lstStyle/>
          <a:p>
            <a:pPr marL="0" indent="0">
              <a:spcAft>
                <a:spcPts val="200"/>
              </a:spcAft>
              <a:buNone/>
            </a:pPr>
            <a:r>
              <a:rPr lang="en-US" sz="1350" dirty="0">
                <a:solidFill>
                  <a:srgbClr val="9A8CB0"/>
                </a:solidFill>
                <a:latin typeface="Courier New" pitchFamily="34" charset="0"/>
                <a:ea typeface="Courier New" pitchFamily="34" charset="-122"/>
                <a:cs typeface="Courier New" pitchFamily="34" charset="-120"/>
              </a:rPr>
              <a:t># notebook 01 — data prep</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import openslide, torch</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from transformers import AutoModel</a:t>
            </a:r>
            <a:endParaRPr lang="en-US" sz="1350" dirty="0"/>
          </a:p>
          <a:p>
            <a:pPr marL="0" indent="0">
              <a:spcAft>
                <a:spcPts val="200"/>
              </a:spcAft>
              <a:buNone/>
            </a:pP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wsi = openslide.OpenSlide(path)</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mask = segment_tissue(wsi)</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coords = grid_patches(mask, 256)</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enc = AutoModel.from_pretrained(</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        'MahmoodLab/UNI2-h')</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bag = encode(enc, wsi, coords)</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torch.save(bag, 'TCGA-XX.pt')</a:t>
            </a:r>
            <a:endParaRPr lang="en-US" sz="1350" dirty="0"/>
          </a:p>
        </p:txBody>
      </p:sp>
      <p:sp>
        <p:nvSpPr>
          <p:cNvPr id="25" name="Text 2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6" name="Text 24"/>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18</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4</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Foundation Encoders</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The frozen feature extractors that power modern MIL</a:t>
            </a:r>
            <a:endParaRPr lang="en-US" sz="18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9" name="Text 7"/>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19</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ENCODERS · WHY</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ImageNet → pathology foundation models</a:t>
            </a:r>
            <a:endParaRPr lang="en-US" sz="2900" dirty="0"/>
          </a:p>
        </p:txBody>
      </p:sp>
      <p:sp>
        <p:nvSpPr>
          <p:cNvPr id="5" name="Shape 3"/>
          <p:cNvSpPr/>
          <p:nvPr/>
        </p:nvSpPr>
        <p:spPr>
          <a:xfrm>
            <a:off x="640080" y="1554480"/>
            <a:ext cx="3611880" cy="2286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54480"/>
            <a:ext cx="82296" cy="2286000"/>
          </a:xfrm>
          <a:prstGeom prst="rect">
            <a:avLst/>
          </a:prstGeom>
          <a:solidFill>
            <a:srgbClr val="8A7F99"/>
          </a:solidFill>
          <a:ln/>
        </p:spPr>
        <p:txBody>
          <a:bodyPr/>
          <a:lstStyle/>
          <a:p>
            <a:endParaRPr lang="en-US"/>
          </a:p>
        </p:txBody>
      </p:sp>
      <p:sp>
        <p:nvSpPr>
          <p:cNvPr id="7" name="Text 5"/>
          <p:cNvSpPr/>
          <p:nvPr/>
        </p:nvSpPr>
        <p:spPr>
          <a:xfrm>
            <a:off x="896112" y="1719072"/>
            <a:ext cx="3154680" cy="320040"/>
          </a:xfrm>
          <a:prstGeom prst="rect">
            <a:avLst/>
          </a:prstGeom>
          <a:noFill/>
          <a:ln/>
        </p:spPr>
        <p:txBody>
          <a:bodyPr wrap="square" lIns="0" tIns="0" rIns="0" bIns="0" rtlCol="0" anchor="ctr"/>
          <a:lstStyle/>
          <a:p>
            <a:pPr marL="0" indent="0">
              <a:buNone/>
            </a:pPr>
            <a:r>
              <a:rPr lang="en-US" sz="1550" b="1" dirty="0">
                <a:solidFill>
                  <a:srgbClr val="8A7F99"/>
                </a:solidFill>
                <a:latin typeface="Calibri" pitchFamily="34" charset="0"/>
                <a:ea typeface="Calibri" pitchFamily="34" charset="-122"/>
                <a:cs typeface="Calibri" pitchFamily="34" charset="-120"/>
              </a:rPr>
              <a:t>2019–21</a:t>
            </a:r>
            <a:endParaRPr lang="en-US" sz="1550" dirty="0"/>
          </a:p>
        </p:txBody>
      </p:sp>
      <p:sp>
        <p:nvSpPr>
          <p:cNvPr id="8" name="Text 6"/>
          <p:cNvSpPr/>
          <p:nvPr/>
        </p:nvSpPr>
        <p:spPr>
          <a:xfrm>
            <a:off x="896112" y="2057400"/>
            <a:ext cx="3154680" cy="411480"/>
          </a:xfrm>
          <a:prstGeom prst="rect">
            <a:avLst/>
          </a:prstGeom>
          <a:noFill/>
          <a:ln/>
        </p:spPr>
        <p:txBody>
          <a:bodyPr wrap="square" lIns="0" tIns="0" rIns="0" bIns="0" rtlCol="0" anchor="ctr"/>
          <a:lstStyle/>
          <a:p>
            <a:pPr marL="0" indent="0">
              <a:buNone/>
            </a:pPr>
            <a:r>
              <a:rPr lang="en-US" sz="1800" b="1" dirty="0">
                <a:solidFill>
                  <a:srgbClr val="4A2C6D"/>
                </a:solidFill>
                <a:latin typeface="Calibri" pitchFamily="34" charset="0"/>
                <a:ea typeface="Calibri" pitchFamily="34" charset="-122"/>
                <a:cs typeface="Calibri" pitchFamily="34" charset="-120"/>
              </a:rPr>
              <a:t>ImageNet CNNs</a:t>
            </a:r>
            <a:endParaRPr lang="en-US" sz="1800" dirty="0"/>
          </a:p>
        </p:txBody>
      </p:sp>
      <p:sp>
        <p:nvSpPr>
          <p:cNvPr id="9" name="Text 7"/>
          <p:cNvSpPr/>
          <p:nvPr/>
        </p:nvSpPr>
        <p:spPr>
          <a:xfrm>
            <a:off x="896112" y="2514600"/>
            <a:ext cx="3154680" cy="1188720"/>
          </a:xfrm>
          <a:prstGeom prst="rect">
            <a:avLst/>
          </a:prstGeom>
          <a:noFill/>
          <a:ln/>
        </p:spPr>
        <p:txBody>
          <a:bodyPr wrap="square" lIns="0" tIns="0" rIns="0" bIns="0" rtlCol="0" anchor="t"/>
          <a:lstStyle/>
          <a:p>
            <a:pPr marL="0" indent="0">
              <a:buNone/>
            </a:pPr>
            <a:r>
              <a:rPr lang="en-US" sz="1500" dirty="0">
                <a:solidFill>
                  <a:srgbClr val="2A2233"/>
                </a:solidFill>
                <a:latin typeface="Calibri" pitchFamily="34" charset="0"/>
                <a:ea typeface="Calibri" pitchFamily="34" charset="-122"/>
                <a:cs typeface="Calibri" pitchFamily="34" charset="-120"/>
              </a:rPr>
              <a:t>ResNet-50 features. Domain gap: natural images ≠ H&amp;E. Weak.</a:t>
            </a:r>
            <a:endParaRPr lang="en-US" sz="1500" dirty="0"/>
          </a:p>
        </p:txBody>
      </p:sp>
      <p:sp>
        <p:nvSpPr>
          <p:cNvPr id="10" name="Shape 8"/>
          <p:cNvSpPr/>
          <p:nvPr/>
        </p:nvSpPr>
        <p:spPr>
          <a:xfrm>
            <a:off x="4526280" y="1554480"/>
            <a:ext cx="3611880" cy="2286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1" name="Shape 9"/>
          <p:cNvSpPr/>
          <p:nvPr/>
        </p:nvSpPr>
        <p:spPr>
          <a:xfrm>
            <a:off x="4526280" y="1554480"/>
            <a:ext cx="82296" cy="2286000"/>
          </a:xfrm>
          <a:prstGeom prst="rect">
            <a:avLst/>
          </a:prstGeom>
          <a:solidFill>
            <a:srgbClr val="6B4E8F"/>
          </a:solidFill>
          <a:ln/>
        </p:spPr>
        <p:txBody>
          <a:bodyPr/>
          <a:lstStyle/>
          <a:p>
            <a:endParaRPr lang="en-US"/>
          </a:p>
        </p:txBody>
      </p:sp>
      <p:sp>
        <p:nvSpPr>
          <p:cNvPr id="12" name="Text 10"/>
          <p:cNvSpPr/>
          <p:nvPr/>
        </p:nvSpPr>
        <p:spPr>
          <a:xfrm>
            <a:off x="4782312" y="1719072"/>
            <a:ext cx="3154680" cy="320040"/>
          </a:xfrm>
          <a:prstGeom prst="rect">
            <a:avLst/>
          </a:prstGeom>
          <a:noFill/>
          <a:ln/>
        </p:spPr>
        <p:txBody>
          <a:bodyPr wrap="square" lIns="0" tIns="0" rIns="0" bIns="0" rtlCol="0" anchor="ctr"/>
          <a:lstStyle/>
          <a:p>
            <a:pPr marL="0" indent="0">
              <a:buNone/>
            </a:pPr>
            <a:r>
              <a:rPr lang="en-US" sz="1550" b="1" dirty="0">
                <a:solidFill>
                  <a:srgbClr val="6B4E8F"/>
                </a:solidFill>
                <a:latin typeface="Calibri" pitchFamily="34" charset="0"/>
                <a:ea typeface="Calibri" pitchFamily="34" charset="-122"/>
                <a:cs typeface="Calibri" pitchFamily="34" charset="-120"/>
              </a:rPr>
              <a:t>2021–22</a:t>
            </a:r>
            <a:endParaRPr lang="en-US" sz="1550" dirty="0"/>
          </a:p>
        </p:txBody>
      </p:sp>
      <p:sp>
        <p:nvSpPr>
          <p:cNvPr id="13" name="Text 11"/>
          <p:cNvSpPr/>
          <p:nvPr/>
        </p:nvSpPr>
        <p:spPr>
          <a:xfrm>
            <a:off x="4782312" y="2057400"/>
            <a:ext cx="3154680" cy="411480"/>
          </a:xfrm>
          <a:prstGeom prst="rect">
            <a:avLst/>
          </a:prstGeom>
          <a:noFill/>
          <a:ln/>
        </p:spPr>
        <p:txBody>
          <a:bodyPr wrap="square" lIns="0" tIns="0" rIns="0" bIns="0" rtlCol="0" anchor="ctr"/>
          <a:lstStyle/>
          <a:p>
            <a:pPr marL="0" indent="0">
              <a:buNone/>
            </a:pPr>
            <a:r>
              <a:rPr lang="en-US" sz="1800" b="1" dirty="0">
                <a:solidFill>
                  <a:srgbClr val="4A2C6D"/>
                </a:solidFill>
                <a:latin typeface="Calibri" pitchFamily="34" charset="0"/>
                <a:ea typeface="Calibri" pitchFamily="34" charset="-122"/>
                <a:cs typeface="Calibri" pitchFamily="34" charset="-120"/>
              </a:rPr>
              <a:t>In-domain SSL</a:t>
            </a:r>
            <a:endParaRPr lang="en-US" sz="1800" dirty="0"/>
          </a:p>
        </p:txBody>
      </p:sp>
      <p:sp>
        <p:nvSpPr>
          <p:cNvPr id="14" name="Text 12"/>
          <p:cNvSpPr/>
          <p:nvPr/>
        </p:nvSpPr>
        <p:spPr>
          <a:xfrm>
            <a:off x="4782312" y="2514600"/>
            <a:ext cx="3154680" cy="1188720"/>
          </a:xfrm>
          <a:prstGeom prst="rect">
            <a:avLst/>
          </a:prstGeom>
          <a:noFill/>
          <a:ln/>
        </p:spPr>
        <p:txBody>
          <a:bodyPr wrap="square" lIns="0" tIns="0" rIns="0" bIns="0" rtlCol="0" anchor="t"/>
          <a:lstStyle/>
          <a:p>
            <a:pPr marL="0" indent="0">
              <a:buNone/>
            </a:pPr>
            <a:r>
              <a:rPr lang="en-US" sz="1500" dirty="0">
                <a:solidFill>
                  <a:srgbClr val="2A2233"/>
                </a:solidFill>
                <a:latin typeface="Calibri" pitchFamily="34" charset="0"/>
                <a:ea typeface="Calibri" pitchFamily="34" charset="-122"/>
                <a:cs typeface="Calibri" pitchFamily="34" charset="-120"/>
              </a:rPr>
              <a:t>CTransPath, RetCCL: contrastive SSL on histology. Better.</a:t>
            </a:r>
            <a:endParaRPr lang="en-US" sz="1500" dirty="0"/>
          </a:p>
        </p:txBody>
      </p:sp>
      <p:sp>
        <p:nvSpPr>
          <p:cNvPr id="15" name="Shape 13"/>
          <p:cNvSpPr/>
          <p:nvPr/>
        </p:nvSpPr>
        <p:spPr>
          <a:xfrm>
            <a:off x="8412480" y="1554480"/>
            <a:ext cx="3611880" cy="2286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6" name="Shape 14"/>
          <p:cNvSpPr/>
          <p:nvPr/>
        </p:nvSpPr>
        <p:spPr>
          <a:xfrm>
            <a:off x="8412480" y="1554480"/>
            <a:ext cx="82296" cy="2286000"/>
          </a:xfrm>
          <a:prstGeom prst="rect">
            <a:avLst/>
          </a:prstGeom>
          <a:solidFill>
            <a:srgbClr val="D6336C"/>
          </a:solidFill>
          <a:ln/>
        </p:spPr>
        <p:txBody>
          <a:bodyPr/>
          <a:lstStyle/>
          <a:p>
            <a:endParaRPr lang="en-US"/>
          </a:p>
        </p:txBody>
      </p:sp>
      <p:sp>
        <p:nvSpPr>
          <p:cNvPr id="17" name="Text 15"/>
          <p:cNvSpPr/>
          <p:nvPr/>
        </p:nvSpPr>
        <p:spPr>
          <a:xfrm>
            <a:off x="8668512" y="1719072"/>
            <a:ext cx="3154680" cy="320040"/>
          </a:xfrm>
          <a:prstGeom prst="rect">
            <a:avLst/>
          </a:prstGeom>
          <a:noFill/>
          <a:ln/>
        </p:spPr>
        <p:txBody>
          <a:bodyPr wrap="square" lIns="0" tIns="0" rIns="0" bIns="0" rtlCol="0" anchor="ctr"/>
          <a:lstStyle/>
          <a:p>
            <a:pPr marL="0" indent="0">
              <a:buNone/>
            </a:pPr>
            <a:r>
              <a:rPr lang="en-US" sz="1550" b="1" dirty="0">
                <a:solidFill>
                  <a:srgbClr val="D6336C"/>
                </a:solidFill>
                <a:latin typeface="Calibri" pitchFamily="34" charset="0"/>
                <a:ea typeface="Calibri" pitchFamily="34" charset="-122"/>
                <a:cs typeface="Calibri" pitchFamily="34" charset="-120"/>
              </a:rPr>
              <a:t>2024+</a:t>
            </a:r>
            <a:endParaRPr lang="en-US" sz="1550" dirty="0"/>
          </a:p>
        </p:txBody>
      </p:sp>
      <p:sp>
        <p:nvSpPr>
          <p:cNvPr id="18" name="Text 16"/>
          <p:cNvSpPr/>
          <p:nvPr/>
        </p:nvSpPr>
        <p:spPr>
          <a:xfrm>
            <a:off x="8668512" y="2057400"/>
            <a:ext cx="3154680" cy="411480"/>
          </a:xfrm>
          <a:prstGeom prst="rect">
            <a:avLst/>
          </a:prstGeom>
          <a:noFill/>
          <a:ln/>
        </p:spPr>
        <p:txBody>
          <a:bodyPr wrap="square" lIns="0" tIns="0" rIns="0" bIns="0" rtlCol="0" anchor="ctr"/>
          <a:lstStyle/>
          <a:p>
            <a:pPr marL="0" indent="0">
              <a:buNone/>
            </a:pPr>
            <a:r>
              <a:rPr lang="en-US" sz="1800" b="1" dirty="0">
                <a:solidFill>
                  <a:srgbClr val="4A2C6D"/>
                </a:solidFill>
                <a:latin typeface="Calibri" pitchFamily="34" charset="0"/>
                <a:ea typeface="Calibri" pitchFamily="34" charset="-122"/>
                <a:cs typeface="Calibri" pitchFamily="34" charset="-120"/>
              </a:rPr>
              <a:t>Foundation models</a:t>
            </a:r>
            <a:endParaRPr lang="en-US" sz="1800" dirty="0"/>
          </a:p>
        </p:txBody>
      </p:sp>
      <p:sp>
        <p:nvSpPr>
          <p:cNvPr id="19" name="Text 17"/>
          <p:cNvSpPr/>
          <p:nvPr/>
        </p:nvSpPr>
        <p:spPr>
          <a:xfrm>
            <a:off x="8668512" y="2514600"/>
            <a:ext cx="3154680" cy="1188720"/>
          </a:xfrm>
          <a:prstGeom prst="rect">
            <a:avLst/>
          </a:prstGeom>
          <a:noFill/>
          <a:ln/>
        </p:spPr>
        <p:txBody>
          <a:bodyPr wrap="square" lIns="0" tIns="0" rIns="0" bIns="0" rtlCol="0" anchor="t"/>
          <a:lstStyle/>
          <a:p>
            <a:pPr marL="0" indent="0">
              <a:buNone/>
            </a:pPr>
            <a:r>
              <a:rPr lang="en-US" sz="1500" dirty="0">
                <a:solidFill>
                  <a:srgbClr val="2A2233"/>
                </a:solidFill>
                <a:latin typeface="Calibri" pitchFamily="34" charset="0"/>
                <a:ea typeface="Calibri" pitchFamily="34" charset="-122"/>
                <a:cs typeface="Calibri" pitchFamily="34" charset="-120"/>
              </a:rPr>
              <a:t>ViT-H/G trained on millions of WSIs with DINOv2. Dramatic jump.</a:t>
            </a:r>
            <a:endParaRPr lang="en-US" sz="1500" dirty="0"/>
          </a:p>
        </p:txBody>
      </p:sp>
      <p:sp>
        <p:nvSpPr>
          <p:cNvPr id="20" name="Shape 18"/>
          <p:cNvSpPr/>
          <p:nvPr/>
        </p:nvSpPr>
        <p:spPr>
          <a:xfrm>
            <a:off x="640080" y="4160520"/>
            <a:ext cx="10908792" cy="1965960"/>
          </a:xfrm>
          <a:prstGeom prst="rect">
            <a:avLst/>
          </a:prstGeom>
          <a:solidFill>
            <a:srgbClr val="EEF6F6"/>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1" name="Shape 19"/>
          <p:cNvSpPr/>
          <p:nvPr/>
        </p:nvSpPr>
        <p:spPr>
          <a:xfrm>
            <a:off x="640080" y="4160520"/>
            <a:ext cx="82296" cy="1965960"/>
          </a:xfrm>
          <a:prstGeom prst="rect">
            <a:avLst/>
          </a:prstGeom>
          <a:solidFill>
            <a:srgbClr val="1C8C8C"/>
          </a:solidFill>
          <a:ln/>
        </p:spPr>
        <p:txBody>
          <a:bodyPr/>
          <a:lstStyle/>
          <a:p>
            <a:endParaRPr lang="en-US"/>
          </a:p>
        </p:txBody>
      </p:sp>
      <p:sp>
        <p:nvSpPr>
          <p:cNvPr id="22" name="Text 20"/>
          <p:cNvSpPr/>
          <p:nvPr/>
        </p:nvSpPr>
        <p:spPr>
          <a:xfrm>
            <a:off x="896112" y="4297680"/>
            <a:ext cx="10058400" cy="365760"/>
          </a:xfrm>
          <a:prstGeom prst="rect">
            <a:avLst/>
          </a:prstGeom>
          <a:noFill/>
          <a:ln/>
        </p:spPr>
        <p:txBody>
          <a:bodyPr wrap="square" lIns="0" tIns="0" rIns="0" bIns="0" rtlCol="0" anchor="ctr"/>
          <a:lstStyle/>
          <a:p>
            <a:pPr marL="0" indent="0">
              <a:buNone/>
            </a:pPr>
            <a:r>
              <a:rPr lang="en-US" sz="1700" b="1" dirty="0">
                <a:solidFill>
                  <a:srgbClr val="1C8C8C"/>
                </a:solidFill>
                <a:latin typeface="Calibri" pitchFamily="34" charset="0"/>
                <a:ea typeface="Calibri" pitchFamily="34" charset="-122"/>
                <a:cs typeface="Calibri" pitchFamily="34" charset="-120"/>
              </a:rPr>
              <a:t>Why this matters for MIL</a:t>
            </a:r>
            <a:endParaRPr lang="en-US" sz="1700" dirty="0"/>
          </a:p>
        </p:txBody>
      </p:sp>
      <p:sp>
        <p:nvSpPr>
          <p:cNvPr id="23" name="Text 21"/>
          <p:cNvSpPr/>
          <p:nvPr/>
        </p:nvSpPr>
        <p:spPr>
          <a:xfrm>
            <a:off x="896112" y="4681728"/>
            <a:ext cx="10515600" cy="1280160"/>
          </a:xfrm>
          <a:prstGeom prst="rect">
            <a:avLst/>
          </a:prstGeom>
          <a:noFill/>
          <a:ln/>
        </p:spPr>
        <p:txBody>
          <a:bodyPr wrap="square" lIns="0" tIns="0" rIns="0" bIns="0" rtlCol="0" anchor="t"/>
          <a:lstStyle/>
          <a:p>
            <a:pPr marL="0" indent="0">
              <a:lnSpc>
                <a:spcPct val="112000"/>
              </a:lnSpc>
              <a:buNone/>
            </a:pPr>
            <a:r>
              <a:rPr lang="en-US" sz="1650" dirty="0">
                <a:solidFill>
                  <a:srgbClr val="2A2233"/>
                </a:solidFill>
                <a:latin typeface="Calibri" pitchFamily="34" charset="0"/>
                <a:ea typeface="Calibri" pitchFamily="34" charset="-122"/>
                <a:cs typeface="Calibri" pitchFamily="34" charset="-120"/>
              </a:rPr>
              <a:t>Foundation-model features are so strong that even mean-pooling becomes competitive, and a tiny attention head trained on a few hundred slides reaches clinical-grade AUCs. The encoder does the heavy lifting; the MIL head learns 'which patches and how much'. This is why we freeze the encoder and only train the aggregator.</a:t>
            </a:r>
            <a:endParaRPr lang="en-US" sz="1650" dirty="0"/>
          </a:p>
        </p:txBody>
      </p:sp>
      <p:sp>
        <p:nvSpPr>
          <p:cNvPr id="24" name="Text 22"/>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5" name="Text 23"/>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20</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ENCODERS · THE ZOO (2024–2025)</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Patch encoders you can download today</a:t>
            </a:r>
            <a:endParaRPr lang="en-US" sz="2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08792"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2679192">
                  <a:extLst>
                    <a:ext uri="{9D8B030D-6E8A-4147-A177-3AD203B41FA5}">
                      <a16:colId xmlns:a16="http://schemas.microsoft.com/office/drawing/2014/main" val="20005"/>
                    </a:ext>
                  </a:extLst>
                </a:gridCol>
              </a:tblGrid>
              <a:tr h="47548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Maker</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Arch</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Train data</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Emb. dim</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Notes</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extLst>
                  <a:ext uri="{0D108BD9-81ED-4DB2-BD59-A6C34878D82A}">
                    <a16:rowId xmlns:a16="http://schemas.microsoft.com/office/drawing/2014/main" val="10000"/>
                  </a:ext>
                </a:extLst>
              </a:tr>
              <a:tr h="475488">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UNI</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Mahmood Lab</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ViT-L/16</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100M tiles · 100k WSI</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1024</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First open FM; strong baseline</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UNI2-h</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Mahmood Lab</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ViT-H/14</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200M+ tiles · 350k WSI</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1536</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SOTA-class general encoder</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extLst>
                  <a:ext uri="{0D108BD9-81ED-4DB2-BD59-A6C34878D82A}">
                    <a16:rowId xmlns:a16="http://schemas.microsoft.com/office/drawing/2014/main" val="10002"/>
                  </a:ext>
                </a:extLst>
              </a:tr>
              <a:tr h="475488">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Virchow2</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Paige</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ViT-H/14</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3.1M WSI · 2B tiles</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2560</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Mixed-magnification, register tokens</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Prov-GigaPath</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Microsoft/Providence</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ViT-G/14</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1.3B tiles · 171k WSI</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1536</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Paired slide encoder available</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extLst>
                  <a:ext uri="{0D108BD9-81ED-4DB2-BD59-A6C34878D82A}">
                    <a16:rowId xmlns:a16="http://schemas.microsoft.com/office/drawing/2014/main" val="10004"/>
                  </a:ext>
                </a:extLst>
              </a:tr>
              <a:tr h="475488">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H-optimus-0</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Bioptimus</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ViT-G/14</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500k+ WSI</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1536</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Strong open ViT-G</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CONCH v1.5</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Mahmood Lab</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ViT-B/16</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1.17M image–caption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768</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Vision-language (zero-shot capable)</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extLst>
                  <a:ext uri="{0D108BD9-81ED-4DB2-BD59-A6C34878D82A}">
                    <a16:rowId xmlns:a16="http://schemas.microsoft.com/office/drawing/2014/main" val="10006"/>
                  </a:ext>
                </a:extLst>
              </a:tr>
              <a:tr h="475488">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Phikon-v2</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Owkin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ViT-L</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multi-cohort histology</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1024</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Open, permissive-ish licensing</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640080" y="5806440"/>
            <a:ext cx="10881360" cy="45720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Benchmarks shift fast; CONCH, Virchow2 and UNI2 trade the lead across tasks. None were trained on TCGA/CAMELYON, so they're safe to benchmark on those.</a:t>
            </a:r>
            <a:endParaRPr lang="en-US" sz="1400" dirty="0"/>
          </a:p>
        </p:txBody>
      </p:sp>
      <p:sp>
        <p:nvSpPr>
          <p:cNvPr id="7" name="Text 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8" name="Text 5"/>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21</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ENCODERS · TWO LEVELS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Patch encoders vs slide encoders</a:t>
            </a:r>
            <a:endParaRPr lang="en-US" sz="2900" dirty="0"/>
          </a:p>
        </p:txBody>
      </p:sp>
      <p:sp>
        <p:nvSpPr>
          <p:cNvPr id="5" name="Shape 3"/>
          <p:cNvSpPr/>
          <p:nvPr/>
        </p:nvSpPr>
        <p:spPr>
          <a:xfrm>
            <a:off x="640080" y="1508760"/>
            <a:ext cx="5486400" cy="4572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4572000"/>
          </a:xfrm>
          <a:prstGeom prst="rect">
            <a:avLst/>
          </a:prstGeom>
          <a:solidFill>
            <a:srgbClr val="4A2C6D"/>
          </a:solidFill>
          <a:ln/>
        </p:spPr>
        <p:txBody>
          <a:bodyPr/>
          <a:lstStyle/>
          <a:p>
            <a:endParaRPr lang="en-US"/>
          </a:p>
        </p:txBody>
      </p:sp>
      <p:sp>
        <p:nvSpPr>
          <p:cNvPr id="7" name="Text 5"/>
          <p:cNvSpPr/>
          <p:nvPr/>
        </p:nvSpPr>
        <p:spPr>
          <a:xfrm>
            <a:off x="896112" y="1664208"/>
            <a:ext cx="5029200" cy="365760"/>
          </a:xfrm>
          <a:prstGeom prst="rect">
            <a:avLst/>
          </a:prstGeom>
          <a:noFill/>
          <a:ln/>
        </p:spPr>
        <p:txBody>
          <a:bodyPr wrap="square" lIns="0" tIns="0" rIns="0" bIns="0" rtlCol="0" anchor="ctr"/>
          <a:lstStyle/>
          <a:p>
            <a:pPr marL="0" indent="0">
              <a:buNone/>
            </a:pPr>
            <a:r>
              <a:rPr lang="en-US" sz="1900" b="1" dirty="0">
                <a:solidFill>
                  <a:srgbClr val="4A2C6D"/>
                </a:solidFill>
                <a:latin typeface="Calibri" pitchFamily="34" charset="0"/>
                <a:ea typeface="Calibri" pitchFamily="34" charset="-122"/>
                <a:cs typeface="Calibri" pitchFamily="34" charset="-120"/>
              </a:rPr>
              <a:t>Patch (tile) encoders</a:t>
            </a:r>
            <a:endParaRPr lang="en-US" sz="1900" dirty="0"/>
          </a:p>
        </p:txBody>
      </p:sp>
      <p:sp>
        <p:nvSpPr>
          <p:cNvPr id="8" name="Text 6"/>
          <p:cNvSpPr/>
          <p:nvPr/>
        </p:nvSpPr>
        <p:spPr>
          <a:xfrm>
            <a:off x="896112" y="2148840"/>
            <a:ext cx="5029200" cy="182880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Input: one 256-px tile → one vector.</a:t>
            </a:r>
            <a:endParaRPr lang="en-US" sz="1800" dirty="0"/>
          </a:p>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What we've discussed: UNI2, Virchow2, CONCH, GigaPath tile model.</a:t>
            </a:r>
            <a:endParaRPr lang="en-US" sz="1800" dirty="0"/>
          </a:p>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Still need a MIL aggregator on top to reach a slide prediction.</a:t>
            </a:r>
            <a:endParaRPr lang="en-US" sz="1800" dirty="0"/>
          </a:p>
        </p:txBody>
      </p:sp>
      <p:sp>
        <p:nvSpPr>
          <p:cNvPr id="9" name="Text 7"/>
          <p:cNvSpPr/>
          <p:nvPr/>
        </p:nvSpPr>
        <p:spPr>
          <a:xfrm>
            <a:off x="896112" y="4069080"/>
            <a:ext cx="5029200" cy="365760"/>
          </a:xfrm>
          <a:prstGeom prst="rect">
            <a:avLst/>
          </a:prstGeom>
          <a:noFill/>
          <a:ln/>
        </p:spPr>
        <p:txBody>
          <a:bodyPr wrap="square" lIns="0" tIns="0" rIns="0" bIns="0" rtlCol="0" anchor="ctr"/>
          <a:lstStyle/>
          <a:p>
            <a:pPr marL="0" indent="0">
              <a:buNone/>
            </a:pPr>
            <a:r>
              <a:rPr lang="en-US" sz="1450" i="1" dirty="0">
                <a:solidFill>
                  <a:srgbClr val="8A7F99"/>
                </a:solidFill>
                <a:latin typeface="Calibri" pitchFamily="34" charset="0"/>
                <a:ea typeface="Calibri" pitchFamily="34" charset="-122"/>
                <a:cs typeface="Calibri" pitchFamily="34" charset="-120"/>
              </a:rPr>
              <a:t>tile → hᵢ ∈ ℝᵈ,  then MIL pools the bag</a:t>
            </a:r>
            <a:endParaRPr lang="en-US" sz="1450" dirty="0"/>
          </a:p>
        </p:txBody>
      </p:sp>
      <p:sp>
        <p:nvSpPr>
          <p:cNvPr id="10" name="Shape 8"/>
          <p:cNvSpPr/>
          <p:nvPr/>
        </p:nvSpPr>
        <p:spPr>
          <a:xfrm>
            <a:off x="896112" y="4572000"/>
            <a:ext cx="4937760" cy="1280160"/>
          </a:xfrm>
          <a:prstGeom prst="rect">
            <a:avLst/>
          </a:prstGeom>
          <a:solidFill>
            <a:srgbClr val="F3EEF9"/>
          </a:solidFill>
          <a:ln w="12700">
            <a:solidFill>
              <a:srgbClr val="E4DCEC"/>
            </a:solidFill>
            <a:prstDash val="solid"/>
          </a:ln>
        </p:spPr>
        <p:txBody>
          <a:bodyPr/>
          <a:lstStyle/>
          <a:p>
            <a:endParaRPr lang="en-US"/>
          </a:p>
        </p:txBody>
      </p:sp>
      <p:sp>
        <p:nvSpPr>
          <p:cNvPr id="11" name="Text 9"/>
          <p:cNvSpPr/>
          <p:nvPr/>
        </p:nvSpPr>
        <p:spPr>
          <a:xfrm>
            <a:off x="1051560" y="4663440"/>
            <a:ext cx="4663440" cy="1097280"/>
          </a:xfrm>
          <a:prstGeom prst="rect">
            <a:avLst/>
          </a:prstGeom>
          <a:noFill/>
          <a:ln/>
        </p:spPr>
        <p:txBody>
          <a:bodyPr wrap="square" lIns="0" tIns="0" rIns="0" bIns="0" rtlCol="0" anchor="ctr"/>
          <a:lstStyle/>
          <a:p>
            <a:pPr marL="0" indent="0">
              <a:buNone/>
            </a:pPr>
            <a:r>
              <a:rPr lang="en-US" sz="1500" dirty="0">
                <a:solidFill>
                  <a:srgbClr val="2A2233"/>
                </a:solidFill>
                <a:latin typeface="Calibri" pitchFamily="34" charset="0"/>
                <a:ea typeface="Calibri" pitchFamily="34" charset="-122"/>
                <a:cs typeface="Calibri" pitchFamily="34" charset="-120"/>
              </a:rPr>
              <a:t>This course trains the aggregator on top of a frozen patch encoder — the most common, flexible setup.</a:t>
            </a:r>
            <a:endParaRPr lang="en-US" sz="1500" dirty="0"/>
          </a:p>
        </p:txBody>
      </p:sp>
      <p:sp>
        <p:nvSpPr>
          <p:cNvPr id="12" name="Shape 10"/>
          <p:cNvSpPr/>
          <p:nvPr/>
        </p:nvSpPr>
        <p:spPr>
          <a:xfrm>
            <a:off x="6355080" y="1508760"/>
            <a:ext cx="5440680" cy="4572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3" name="Shape 11"/>
          <p:cNvSpPr/>
          <p:nvPr/>
        </p:nvSpPr>
        <p:spPr>
          <a:xfrm>
            <a:off x="6355080" y="1508760"/>
            <a:ext cx="82296" cy="4572000"/>
          </a:xfrm>
          <a:prstGeom prst="rect">
            <a:avLst/>
          </a:prstGeom>
          <a:solidFill>
            <a:srgbClr val="D6336C"/>
          </a:solidFill>
          <a:ln/>
        </p:spPr>
        <p:txBody>
          <a:bodyPr/>
          <a:lstStyle/>
          <a:p>
            <a:endParaRPr lang="en-US"/>
          </a:p>
        </p:txBody>
      </p:sp>
      <p:sp>
        <p:nvSpPr>
          <p:cNvPr id="14" name="Text 12"/>
          <p:cNvSpPr/>
          <p:nvPr/>
        </p:nvSpPr>
        <p:spPr>
          <a:xfrm>
            <a:off x="6611112" y="1664208"/>
            <a:ext cx="5029200" cy="365760"/>
          </a:xfrm>
          <a:prstGeom prst="rect">
            <a:avLst/>
          </a:prstGeom>
          <a:noFill/>
          <a:ln/>
        </p:spPr>
        <p:txBody>
          <a:bodyPr wrap="square" lIns="0" tIns="0" rIns="0" bIns="0" rtlCol="0" anchor="ctr"/>
          <a:lstStyle/>
          <a:p>
            <a:pPr marL="0" indent="0">
              <a:buNone/>
            </a:pPr>
            <a:r>
              <a:rPr lang="en-US" sz="1900" b="1" dirty="0">
                <a:solidFill>
                  <a:srgbClr val="D6336C"/>
                </a:solidFill>
                <a:latin typeface="Calibri" pitchFamily="34" charset="0"/>
                <a:ea typeface="Calibri" pitchFamily="34" charset="-122"/>
                <a:cs typeface="Calibri" pitchFamily="34" charset="-120"/>
              </a:rPr>
              <a:t>Slide encoders</a:t>
            </a:r>
            <a:endParaRPr lang="en-US" sz="1900" dirty="0"/>
          </a:p>
        </p:txBody>
      </p:sp>
      <p:sp>
        <p:nvSpPr>
          <p:cNvPr id="15" name="Text 13"/>
          <p:cNvSpPr/>
          <p:nvPr/>
        </p:nvSpPr>
        <p:spPr>
          <a:xfrm>
            <a:off x="6611112" y="2148840"/>
            <a:ext cx="4937760" cy="210312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Input: the full bag of tile features → one slide embedding.</a:t>
            </a:r>
            <a:endParaRPr lang="en-US" sz="1800" dirty="0"/>
          </a:p>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Pretrained aggregators: GigaPath slide encoder, PRISM (Virchow), TITAN, CHIEF, Madeleine.</a:t>
            </a:r>
            <a:endParaRPr lang="en-US" sz="1800" dirty="0"/>
          </a:p>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Often a transformer over the tile grid, self-supervised at slide level.</a:t>
            </a:r>
            <a:endParaRPr lang="en-US" sz="1800" dirty="0"/>
          </a:p>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Use as a strong frozen slide embedding → linear probe, or fine-tune.</a:t>
            </a:r>
            <a:endParaRPr lang="en-US" sz="1800" dirty="0"/>
          </a:p>
        </p:txBody>
      </p:sp>
      <p:sp>
        <p:nvSpPr>
          <p:cNvPr id="16" name="Text 14"/>
          <p:cNvSpPr/>
          <p:nvPr/>
        </p:nvSpPr>
        <p:spPr>
          <a:xfrm>
            <a:off x="6611112" y="4572000"/>
            <a:ext cx="4937760" cy="365760"/>
          </a:xfrm>
          <a:prstGeom prst="rect">
            <a:avLst/>
          </a:prstGeom>
          <a:noFill/>
          <a:ln/>
        </p:spPr>
        <p:txBody>
          <a:bodyPr wrap="square" lIns="0" tIns="0" rIns="0" bIns="0" rtlCol="0" anchor="ctr"/>
          <a:lstStyle/>
          <a:p>
            <a:pPr marL="0" indent="0">
              <a:buNone/>
            </a:pPr>
            <a:r>
              <a:rPr lang="en-US" sz="1450" i="1" dirty="0">
                <a:solidFill>
                  <a:srgbClr val="8A7F99"/>
                </a:solidFill>
                <a:latin typeface="Calibri" pitchFamily="34" charset="0"/>
                <a:ea typeface="Calibri" pitchFamily="34" charset="-122"/>
                <a:cs typeface="Calibri" pitchFamily="34" charset="-120"/>
              </a:rPr>
              <a:t>bag → z_slide ∈ ℝᵈ  (aggregation is pretrained)</a:t>
            </a:r>
            <a:endParaRPr lang="en-US" sz="1450" dirty="0"/>
          </a:p>
        </p:txBody>
      </p:sp>
      <p:sp>
        <p:nvSpPr>
          <p:cNvPr id="17" name="Shape 15"/>
          <p:cNvSpPr/>
          <p:nvPr/>
        </p:nvSpPr>
        <p:spPr>
          <a:xfrm>
            <a:off x="6611112" y="5029200"/>
            <a:ext cx="4937760" cy="822960"/>
          </a:xfrm>
          <a:prstGeom prst="rect">
            <a:avLst/>
          </a:prstGeom>
          <a:solidFill>
            <a:srgbClr val="FBF1F5"/>
          </a:solidFill>
          <a:ln w="12700">
            <a:solidFill>
              <a:srgbClr val="E4DCEC"/>
            </a:solidFill>
            <a:prstDash val="solid"/>
          </a:ln>
        </p:spPr>
        <p:txBody>
          <a:bodyPr/>
          <a:lstStyle/>
          <a:p>
            <a:endParaRPr lang="en-US"/>
          </a:p>
        </p:txBody>
      </p:sp>
      <p:sp>
        <p:nvSpPr>
          <p:cNvPr id="18" name="Text 16"/>
          <p:cNvSpPr/>
          <p:nvPr/>
        </p:nvSpPr>
        <p:spPr>
          <a:xfrm>
            <a:off x="6766560" y="5102352"/>
            <a:ext cx="4663440" cy="713232"/>
          </a:xfrm>
          <a:prstGeom prst="rect">
            <a:avLst/>
          </a:prstGeom>
          <a:noFill/>
          <a:ln/>
        </p:spPr>
        <p:txBody>
          <a:bodyPr wrap="square" lIns="0" tIns="0" rIns="0" bIns="0" rtlCol="0" anchor="ctr"/>
          <a:lstStyle/>
          <a:p>
            <a:pPr marL="0" indent="0">
              <a:buNone/>
            </a:pPr>
            <a:r>
              <a:rPr lang="en-US" sz="1400" dirty="0">
                <a:solidFill>
                  <a:srgbClr val="2A2233"/>
                </a:solidFill>
                <a:latin typeface="Calibri" pitchFamily="34" charset="0"/>
                <a:ea typeface="Calibri" pitchFamily="34" charset="-122"/>
                <a:cs typeface="Calibri" pitchFamily="34" charset="-120"/>
              </a:rPr>
              <a:t>Emerging frontier: less task data needed, but heavier and newer. We mention them; the course core is patch-encoder + trainable MIL head.</a:t>
            </a:r>
            <a:endParaRPr lang="en-US" sz="1400" dirty="0"/>
          </a:p>
        </p:txBody>
      </p:sp>
      <p:sp>
        <p:nvSpPr>
          <p:cNvPr id="19" name="Text 1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0" name="Text 18"/>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22</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5</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Model Architecture</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Designing the pooling operator: Mean → ABMIL → CLAM → TransMIL</a:t>
            </a:r>
            <a:endParaRPr lang="en-US" sz="18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9" name="Text 7"/>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23</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ARCHITECTURE · ANATOMY</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Anatomy of a MIL aggregator</a:t>
            </a:r>
            <a:endParaRPr lang="en-US" sz="2900" dirty="0"/>
          </a:p>
        </p:txBody>
      </p:sp>
      <p:sp>
        <p:nvSpPr>
          <p:cNvPr id="5" name="Text 3"/>
          <p:cNvSpPr/>
          <p:nvPr/>
        </p:nvSpPr>
        <p:spPr>
          <a:xfrm>
            <a:off x="640080" y="1554480"/>
            <a:ext cx="5120640" cy="4023360"/>
          </a:xfrm>
          <a:prstGeom prst="rect">
            <a:avLst/>
          </a:prstGeom>
          <a:noFill/>
          <a:ln/>
        </p:spPr>
        <p:txBody>
          <a:bodyPr wrap="square" lIns="0" tIns="0" rIns="0" bIns="0" rtlCol="0" anchor="t"/>
          <a:lstStyle/>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Input: bag of frozen features H ∈ ℝ^{N×d}.</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(Optional) projection: compress d → d′ (e.g. 1024 → 512) with a small FC + ReLU.</a:t>
            </a:r>
            <a:endParaRPr lang="en-US" sz="1850" dirty="0"/>
          </a:p>
          <a:p>
            <a:pPr marL="203200" indent="-203200">
              <a:spcAft>
                <a:spcPts val="600"/>
              </a:spcAft>
              <a:buSzPct val="100000"/>
              <a:buChar char="•"/>
            </a:pPr>
            <a:r>
              <a:rPr lang="en-US" sz="1850" dirty="0">
                <a:solidFill>
                  <a:srgbClr val="2A2233"/>
                </a:solidFill>
                <a:latin typeface="Calibri" pitchFamily="34" charset="0"/>
                <a:ea typeface="Calibri" pitchFamily="34" charset="-122"/>
                <a:cs typeface="Calibri" pitchFamily="34" charset="-120"/>
              </a:rPr>
              <a:t>Pooling σ: collapse N instances → one vector z. THE design choice.</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Classifier g: a linear layer z → logits over classes.</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Trainable params live almost entirely in pooling + the projection — often &lt; 1M.</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Trains in minutes on cached features; iterate fast.</a:t>
            </a:r>
            <a:endParaRPr lang="en-US" sz="1850" dirty="0"/>
          </a:p>
        </p:txBody>
      </p:sp>
      <p:sp>
        <p:nvSpPr>
          <p:cNvPr id="6" name="Shape 4"/>
          <p:cNvSpPr/>
          <p:nvPr/>
        </p:nvSpPr>
        <p:spPr>
          <a:xfrm>
            <a:off x="6035040" y="1508760"/>
            <a:ext cx="576072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5"/>
          <p:cNvSpPr/>
          <p:nvPr/>
        </p:nvSpPr>
        <p:spPr>
          <a:xfrm>
            <a:off x="6766560" y="1920240"/>
            <a:ext cx="4297680" cy="777240"/>
          </a:xfrm>
          <a:prstGeom prst="roundRect">
            <a:avLst>
              <a:gd name="adj" fmla="val 7059"/>
            </a:avLst>
          </a:prstGeom>
          <a:solidFill>
            <a:srgbClr val="6B4E8F"/>
          </a:solidFill>
          <a:ln/>
          <a:effectLst>
            <a:outerShdw blurRad="88900" dist="38100" dir="8100000" algn="bl" rotWithShape="0">
              <a:srgbClr val="000000">
                <a:alpha val="13000"/>
              </a:srgbClr>
            </a:outerShdw>
          </a:effectLst>
        </p:spPr>
        <p:txBody>
          <a:bodyPr/>
          <a:lstStyle/>
          <a:p>
            <a:endParaRPr lang="en-US"/>
          </a:p>
        </p:txBody>
      </p:sp>
      <p:sp>
        <p:nvSpPr>
          <p:cNvPr id="8" name="Text 6"/>
          <p:cNvSpPr/>
          <p:nvPr/>
        </p:nvSpPr>
        <p:spPr>
          <a:xfrm>
            <a:off x="6766560" y="2011680"/>
            <a:ext cx="4297680" cy="36576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H ∈ ℝ^{N×d}</a:t>
            </a:r>
            <a:endParaRPr lang="en-US" sz="1650" dirty="0"/>
          </a:p>
        </p:txBody>
      </p:sp>
      <p:sp>
        <p:nvSpPr>
          <p:cNvPr id="9" name="Text 7"/>
          <p:cNvSpPr/>
          <p:nvPr/>
        </p:nvSpPr>
        <p:spPr>
          <a:xfrm>
            <a:off x="6766560" y="2359152"/>
            <a:ext cx="4297680" cy="292608"/>
          </a:xfrm>
          <a:prstGeom prst="rect">
            <a:avLst/>
          </a:prstGeom>
          <a:noFill/>
          <a:ln/>
        </p:spPr>
        <p:txBody>
          <a:bodyPr wrap="square" lIns="0" tIns="0" rIns="0" bIns="0" rtlCol="0" anchor="ctr"/>
          <a:lstStyle/>
          <a:p>
            <a:pPr marL="0" indent="0" algn="ctr">
              <a:buNone/>
            </a:pPr>
            <a:r>
              <a:rPr lang="en-US" sz="1300" dirty="0">
                <a:solidFill>
                  <a:srgbClr val="F0E8F8"/>
                </a:solidFill>
                <a:latin typeface="Calibri" pitchFamily="34" charset="0"/>
                <a:ea typeface="Calibri" pitchFamily="34" charset="-122"/>
                <a:cs typeface="Calibri" pitchFamily="34" charset="-120"/>
              </a:rPr>
              <a:t>frozen bag features</a:t>
            </a:r>
            <a:endParaRPr lang="en-US" sz="1300" dirty="0"/>
          </a:p>
        </p:txBody>
      </p:sp>
      <p:sp>
        <p:nvSpPr>
          <p:cNvPr id="10" name="Shape 8"/>
          <p:cNvSpPr/>
          <p:nvPr/>
        </p:nvSpPr>
        <p:spPr>
          <a:xfrm>
            <a:off x="8915400" y="2697480"/>
            <a:ext cx="0" cy="292608"/>
          </a:xfrm>
          <a:prstGeom prst="line">
            <a:avLst/>
          </a:prstGeom>
          <a:noFill/>
          <a:ln w="31750">
            <a:solidFill>
              <a:srgbClr val="8A7F99"/>
            </a:solidFill>
            <a:prstDash val="solid"/>
            <a:tailEnd type="triangle"/>
          </a:ln>
        </p:spPr>
        <p:txBody>
          <a:bodyPr/>
          <a:lstStyle/>
          <a:p>
            <a:endParaRPr lang="en-US"/>
          </a:p>
        </p:txBody>
      </p:sp>
      <p:sp>
        <p:nvSpPr>
          <p:cNvPr id="11" name="Shape 9"/>
          <p:cNvSpPr/>
          <p:nvPr/>
        </p:nvSpPr>
        <p:spPr>
          <a:xfrm>
            <a:off x="6766560" y="2990088"/>
            <a:ext cx="4297680" cy="777240"/>
          </a:xfrm>
          <a:prstGeom prst="roundRect">
            <a:avLst>
              <a:gd name="adj" fmla="val 7059"/>
            </a:avLst>
          </a:prstGeom>
          <a:solidFill>
            <a:srgbClr val="4A2C6D"/>
          </a:solidFill>
          <a:ln/>
          <a:effectLst>
            <a:outerShdw blurRad="88900" dist="38100" dir="8100000" algn="bl" rotWithShape="0">
              <a:srgbClr val="000000">
                <a:alpha val="13000"/>
              </a:srgbClr>
            </a:outerShdw>
          </a:effectLst>
        </p:spPr>
        <p:txBody>
          <a:bodyPr/>
          <a:lstStyle/>
          <a:p>
            <a:endParaRPr lang="en-US"/>
          </a:p>
        </p:txBody>
      </p:sp>
      <p:sp>
        <p:nvSpPr>
          <p:cNvPr id="12" name="Text 10"/>
          <p:cNvSpPr/>
          <p:nvPr/>
        </p:nvSpPr>
        <p:spPr>
          <a:xfrm>
            <a:off x="6766560" y="3081528"/>
            <a:ext cx="4297680" cy="36576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Projection (opt.)</a:t>
            </a:r>
            <a:endParaRPr lang="en-US" sz="1650" dirty="0"/>
          </a:p>
        </p:txBody>
      </p:sp>
      <p:sp>
        <p:nvSpPr>
          <p:cNvPr id="13" name="Text 11"/>
          <p:cNvSpPr/>
          <p:nvPr/>
        </p:nvSpPr>
        <p:spPr>
          <a:xfrm>
            <a:off x="6766560" y="3429000"/>
            <a:ext cx="4297680" cy="292608"/>
          </a:xfrm>
          <a:prstGeom prst="rect">
            <a:avLst/>
          </a:prstGeom>
          <a:noFill/>
          <a:ln/>
        </p:spPr>
        <p:txBody>
          <a:bodyPr wrap="square" lIns="0" tIns="0" rIns="0" bIns="0" rtlCol="0" anchor="ctr"/>
          <a:lstStyle/>
          <a:p>
            <a:pPr marL="0" indent="0" algn="ctr">
              <a:buNone/>
            </a:pPr>
            <a:r>
              <a:rPr lang="en-US" sz="1300" dirty="0">
                <a:solidFill>
                  <a:srgbClr val="F0E8F8"/>
                </a:solidFill>
                <a:latin typeface="Calibri" pitchFamily="34" charset="0"/>
                <a:ea typeface="Calibri" pitchFamily="34" charset="-122"/>
                <a:cs typeface="Calibri" pitchFamily="34" charset="-120"/>
              </a:rPr>
              <a:t>FC: d → d′</a:t>
            </a:r>
            <a:endParaRPr lang="en-US" sz="1300" dirty="0"/>
          </a:p>
        </p:txBody>
      </p:sp>
      <p:sp>
        <p:nvSpPr>
          <p:cNvPr id="14" name="Shape 12"/>
          <p:cNvSpPr/>
          <p:nvPr/>
        </p:nvSpPr>
        <p:spPr>
          <a:xfrm>
            <a:off x="8915400" y="3767328"/>
            <a:ext cx="0" cy="292608"/>
          </a:xfrm>
          <a:prstGeom prst="line">
            <a:avLst/>
          </a:prstGeom>
          <a:noFill/>
          <a:ln w="31750">
            <a:solidFill>
              <a:srgbClr val="8A7F99"/>
            </a:solidFill>
            <a:prstDash val="solid"/>
            <a:tailEnd type="triangle"/>
          </a:ln>
        </p:spPr>
        <p:txBody>
          <a:bodyPr/>
          <a:lstStyle/>
          <a:p>
            <a:endParaRPr lang="en-US"/>
          </a:p>
        </p:txBody>
      </p:sp>
      <p:sp>
        <p:nvSpPr>
          <p:cNvPr id="15" name="Shape 13"/>
          <p:cNvSpPr/>
          <p:nvPr/>
        </p:nvSpPr>
        <p:spPr>
          <a:xfrm>
            <a:off x="6766560" y="4059936"/>
            <a:ext cx="4297680" cy="777240"/>
          </a:xfrm>
          <a:prstGeom prst="roundRect">
            <a:avLst>
              <a:gd name="adj" fmla="val 7059"/>
            </a:avLst>
          </a:prstGeom>
          <a:solidFill>
            <a:srgbClr val="D6336C"/>
          </a:solidFill>
          <a:ln/>
          <a:effectLst>
            <a:outerShdw blurRad="88900" dist="38100" dir="8100000" algn="bl" rotWithShape="0">
              <a:srgbClr val="000000">
                <a:alpha val="13000"/>
              </a:srgbClr>
            </a:outerShdw>
          </a:effectLst>
        </p:spPr>
        <p:txBody>
          <a:bodyPr/>
          <a:lstStyle/>
          <a:p>
            <a:endParaRPr lang="en-US"/>
          </a:p>
        </p:txBody>
      </p:sp>
      <p:sp>
        <p:nvSpPr>
          <p:cNvPr id="16" name="Text 14"/>
          <p:cNvSpPr/>
          <p:nvPr/>
        </p:nvSpPr>
        <p:spPr>
          <a:xfrm>
            <a:off x="6766560" y="4151376"/>
            <a:ext cx="4297680" cy="36576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Pooling σ</a:t>
            </a:r>
            <a:endParaRPr lang="en-US" sz="1650" dirty="0"/>
          </a:p>
        </p:txBody>
      </p:sp>
      <p:sp>
        <p:nvSpPr>
          <p:cNvPr id="17" name="Text 15"/>
          <p:cNvSpPr/>
          <p:nvPr/>
        </p:nvSpPr>
        <p:spPr>
          <a:xfrm>
            <a:off x="6766560" y="4498848"/>
            <a:ext cx="4297680" cy="292608"/>
          </a:xfrm>
          <a:prstGeom prst="rect">
            <a:avLst/>
          </a:prstGeom>
          <a:noFill/>
          <a:ln/>
        </p:spPr>
        <p:txBody>
          <a:bodyPr wrap="square" lIns="0" tIns="0" rIns="0" bIns="0" rtlCol="0" anchor="ctr"/>
          <a:lstStyle/>
          <a:p>
            <a:pPr marL="0" indent="0" algn="ctr">
              <a:buNone/>
            </a:pPr>
            <a:r>
              <a:rPr lang="en-US" sz="1300" dirty="0">
                <a:solidFill>
                  <a:srgbClr val="F0E8F8"/>
                </a:solidFill>
                <a:latin typeface="Calibri" pitchFamily="34" charset="0"/>
                <a:ea typeface="Calibri" pitchFamily="34" charset="-122"/>
                <a:cs typeface="Calibri" pitchFamily="34" charset="-120"/>
              </a:rPr>
              <a:t>N×d′ → d′   ← learnable, the key</a:t>
            </a:r>
            <a:endParaRPr lang="en-US" sz="1300" dirty="0"/>
          </a:p>
        </p:txBody>
      </p:sp>
      <p:sp>
        <p:nvSpPr>
          <p:cNvPr id="18" name="Shape 16"/>
          <p:cNvSpPr/>
          <p:nvPr/>
        </p:nvSpPr>
        <p:spPr>
          <a:xfrm>
            <a:off x="8915400" y="4837176"/>
            <a:ext cx="0" cy="292608"/>
          </a:xfrm>
          <a:prstGeom prst="line">
            <a:avLst/>
          </a:prstGeom>
          <a:noFill/>
          <a:ln w="31750">
            <a:solidFill>
              <a:srgbClr val="8A7F99"/>
            </a:solidFill>
            <a:prstDash val="solid"/>
            <a:tailEnd type="triangle"/>
          </a:ln>
        </p:spPr>
        <p:txBody>
          <a:bodyPr/>
          <a:lstStyle/>
          <a:p>
            <a:endParaRPr lang="en-US"/>
          </a:p>
        </p:txBody>
      </p:sp>
      <p:sp>
        <p:nvSpPr>
          <p:cNvPr id="19" name="Shape 17"/>
          <p:cNvSpPr/>
          <p:nvPr/>
        </p:nvSpPr>
        <p:spPr>
          <a:xfrm>
            <a:off x="6766560" y="5129784"/>
            <a:ext cx="4297680" cy="777240"/>
          </a:xfrm>
          <a:prstGeom prst="roundRect">
            <a:avLst>
              <a:gd name="adj" fmla="val 7059"/>
            </a:avLst>
          </a:prstGeom>
          <a:solidFill>
            <a:srgbClr val="1C8C8C"/>
          </a:solidFill>
          <a:ln/>
          <a:effectLst>
            <a:outerShdw blurRad="88900" dist="38100" dir="8100000" algn="bl" rotWithShape="0">
              <a:srgbClr val="000000">
                <a:alpha val="13000"/>
              </a:srgbClr>
            </a:outerShdw>
          </a:effectLst>
        </p:spPr>
        <p:txBody>
          <a:bodyPr/>
          <a:lstStyle/>
          <a:p>
            <a:endParaRPr lang="en-US"/>
          </a:p>
        </p:txBody>
      </p:sp>
      <p:sp>
        <p:nvSpPr>
          <p:cNvPr id="20" name="Text 18"/>
          <p:cNvSpPr/>
          <p:nvPr/>
        </p:nvSpPr>
        <p:spPr>
          <a:xfrm>
            <a:off x="6766560" y="5221224"/>
            <a:ext cx="4297680" cy="36576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Classifier g</a:t>
            </a:r>
            <a:endParaRPr lang="en-US" sz="1650" dirty="0"/>
          </a:p>
        </p:txBody>
      </p:sp>
      <p:sp>
        <p:nvSpPr>
          <p:cNvPr id="21" name="Text 19"/>
          <p:cNvSpPr/>
          <p:nvPr/>
        </p:nvSpPr>
        <p:spPr>
          <a:xfrm>
            <a:off x="6766560" y="5568696"/>
            <a:ext cx="4297680" cy="292608"/>
          </a:xfrm>
          <a:prstGeom prst="rect">
            <a:avLst/>
          </a:prstGeom>
          <a:noFill/>
          <a:ln/>
        </p:spPr>
        <p:txBody>
          <a:bodyPr wrap="square" lIns="0" tIns="0" rIns="0" bIns="0" rtlCol="0" anchor="ctr"/>
          <a:lstStyle/>
          <a:p>
            <a:pPr marL="0" indent="0" algn="ctr">
              <a:buNone/>
            </a:pPr>
            <a:r>
              <a:rPr lang="en-US" sz="1300" dirty="0">
                <a:solidFill>
                  <a:srgbClr val="F0E8F8"/>
                </a:solidFill>
                <a:latin typeface="Calibri" pitchFamily="34" charset="0"/>
                <a:ea typeface="Calibri" pitchFamily="34" charset="-122"/>
                <a:cs typeface="Calibri" pitchFamily="34" charset="-120"/>
              </a:rPr>
              <a:t>linear → logits</a:t>
            </a:r>
            <a:endParaRPr lang="en-US" sz="1300" dirty="0"/>
          </a:p>
        </p:txBody>
      </p:sp>
      <p:sp>
        <p:nvSpPr>
          <p:cNvPr id="22" name="Text 20"/>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3" name="Text 21"/>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24</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ARCHITECTURE · BASELINES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Mean &amp; Max pooling — the honest baselines</a:t>
            </a:r>
            <a:endParaRPr lang="en-US" sz="2900" dirty="0"/>
          </a:p>
        </p:txBody>
      </p:sp>
      <p:sp>
        <p:nvSpPr>
          <p:cNvPr id="5" name="Shape 3"/>
          <p:cNvSpPr/>
          <p:nvPr/>
        </p:nvSpPr>
        <p:spPr>
          <a:xfrm>
            <a:off x="640080" y="1508760"/>
            <a:ext cx="5486400" cy="21945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2194560"/>
          </a:xfrm>
          <a:prstGeom prst="rect">
            <a:avLst/>
          </a:prstGeom>
          <a:solidFill>
            <a:srgbClr val="6B4E8F"/>
          </a:solidFill>
          <a:ln/>
        </p:spPr>
        <p:txBody>
          <a:bodyPr/>
          <a:lstStyle/>
          <a:p>
            <a:endParaRPr lang="en-US"/>
          </a:p>
        </p:txBody>
      </p:sp>
      <p:sp>
        <p:nvSpPr>
          <p:cNvPr id="7" name="Text 5"/>
          <p:cNvSpPr/>
          <p:nvPr/>
        </p:nvSpPr>
        <p:spPr>
          <a:xfrm>
            <a:off x="896112" y="1645920"/>
            <a:ext cx="4572000" cy="365760"/>
          </a:xfrm>
          <a:prstGeom prst="rect">
            <a:avLst/>
          </a:prstGeom>
          <a:noFill/>
          <a:ln/>
        </p:spPr>
        <p:txBody>
          <a:bodyPr wrap="square" lIns="0" tIns="0" rIns="0" bIns="0" rtlCol="0" anchor="ctr"/>
          <a:lstStyle/>
          <a:p>
            <a:pPr marL="0" indent="0">
              <a:buNone/>
            </a:pPr>
            <a:r>
              <a:rPr lang="en-US" sz="1800" b="1" dirty="0">
                <a:solidFill>
                  <a:srgbClr val="4A2C6D"/>
                </a:solidFill>
                <a:latin typeface="Calibri" pitchFamily="34" charset="0"/>
                <a:ea typeface="Calibri" pitchFamily="34" charset="-122"/>
                <a:cs typeface="Calibri" pitchFamily="34" charset="-120"/>
              </a:rPr>
              <a:t>Mean pooling</a:t>
            </a:r>
            <a:endParaRPr lang="en-US" sz="1800" dirty="0"/>
          </a:p>
        </p:txBody>
      </p:sp>
      <p:sp>
        <p:nvSpPr>
          <p:cNvPr id="8" name="Shape 6"/>
          <p:cNvSpPr/>
          <p:nvPr/>
        </p:nvSpPr>
        <p:spPr>
          <a:xfrm>
            <a:off x="896112" y="2103120"/>
            <a:ext cx="4983480" cy="86868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9" name="Text 7"/>
          <p:cNvSpPr/>
          <p:nvPr/>
        </p:nvSpPr>
        <p:spPr>
          <a:xfrm>
            <a:off x="1078992" y="2194560"/>
            <a:ext cx="4617720" cy="68580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z = (1/N) Σ_i hᵢ</a:t>
            </a:r>
            <a:endParaRPr lang="en-US" sz="1900" dirty="0"/>
          </a:p>
        </p:txBody>
      </p:sp>
      <p:sp>
        <p:nvSpPr>
          <p:cNvPr id="10" name="Text 8"/>
          <p:cNvSpPr/>
          <p:nvPr/>
        </p:nvSpPr>
        <p:spPr>
          <a:xfrm>
            <a:off x="896112" y="3063240"/>
            <a:ext cx="4983480" cy="54864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Democratic: every patch counts equally. Robust, but dilutes a tiny tumor focus in a sea of benign tissue.</a:t>
            </a:r>
            <a:endParaRPr lang="en-US" sz="1450" dirty="0"/>
          </a:p>
        </p:txBody>
      </p:sp>
      <p:sp>
        <p:nvSpPr>
          <p:cNvPr id="11" name="Shape 9"/>
          <p:cNvSpPr/>
          <p:nvPr/>
        </p:nvSpPr>
        <p:spPr>
          <a:xfrm>
            <a:off x="640080" y="3886200"/>
            <a:ext cx="5486400" cy="21945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10"/>
          <p:cNvSpPr/>
          <p:nvPr/>
        </p:nvSpPr>
        <p:spPr>
          <a:xfrm>
            <a:off x="640080" y="3886200"/>
            <a:ext cx="82296" cy="2194560"/>
          </a:xfrm>
          <a:prstGeom prst="rect">
            <a:avLst/>
          </a:prstGeom>
          <a:solidFill>
            <a:srgbClr val="C77D14"/>
          </a:solidFill>
          <a:ln/>
        </p:spPr>
        <p:txBody>
          <a:bodyPr/>
          <a:lstStyle/>
          <a:p>
            <a:endParaRPr lang="en-US"/>
          </a:p>
        </p:txBody>
      </p:sp>
      <p:sp>
        <p:nvSpPr>
          <p:cNvPr id="13" name="Text 11"/>
          <p:cNvSpPr/>
          <p:nvPr/>
        </p:nvSpPr>
        <p:spPr>
          <a:xfrm>
            <a:off x="896112" y="4023360"/>
            <a:ext cx="4572000" cy="365760"/>
          </a:xfrm>
          <a:prstGeom prst="rect">
            <a:avLst/>
          </a:prstGeom>
          <a:noFill/>
          <a:ln/>
        </p:spPr>
        <p:txBody>
          <a:bodyPr wrap="square" lIns="0" tIns="0" rIns="0" bIns="0" rtlCol="0" anchor="ctr"/>
          <a:lstStyle/>
          <a:p>
            <a:pPr marL="0" indent="0">
              <a:buNone/>
            </a:pPr>
            <a:r>
              <a:rPr lang="en-US" sz="1800" b="1" dirty="0">
                <a:solidFill>
                  <a:srgbClr val="C77D14"/>
                </a:solidFill>
                <a:latin typeface="Calibri" pitchFamily="34" charset="0"/>
                <a:ea typeface="Calibri" pitchFamily="34" charset="-122"/>
                <a:cs typeface="Calibri" pitchFamily="34" charset="-120"/>
              </a:rPr>
              <a:t>Max pooling</a:t>
            </a:r>
            <a:endParaRPr lang="en-US" sz="1800" dirty="0"/>
          </a:p>
        </p:txBody>
      </p:sp>
      <p:sp>
        <p:nvSpPr>
          <p:cNvPr id="14" name="Shape 12"/>
          <p:cNvSpPr/>
          <p:nvPr/>
        </p:nvSpPr>
        <p:spPr>
          <a:xfrm>
            <a:off x="896112" y="4480560"/>
            <a:ext cx="4983480" cy="86868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15" name="Text 13"/>
          <p:cNvSpPr/>
          <p:nvPr/>
        </p:nvSpPr>
        <p:spPr>
          <a:xfrm>
            <a:off x="1078992" y="4572000"/>
            <a:ext cx="4617720" cy="68580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z = max_i hᵢ   (per-dim)</a:t>
            </a:r>
            <a:endParaRPr lang="en-US" sz="1900" dirty="0"/>
          </a:p>
        </p:txBody>
      </p:sp>
      <p:sp>
        <p:nvSpPr>
          <p:cNvPr id="16" name="Text 14"/>
          <p:cNvSpPr/>
          <p:nvPr/>
        </p:nvSpPr>
        <p:spPr>
          <a:xfrm>
            <a:off x="896112" y="5440680"/>
            <a:ext cx="4983480" cy="54864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Spotlights the single strongest patch. Sensitive to outliers/artifacts; throws away everything else.</a:t>
            </a:r>
            <a:endParaRPr lang="en-US" sz="1450" dirty="0"/>
          </a:p>
        </p:txBody>
      </p:sp>
      <p:sp>
        <p:nvSpPr>
          <p:cNvPr id="17" name="Shape 15"/>
          <p:cNvSpPr/>
          <p:nvPr/>
        </p:nvSpPr>
        <p:spPr>
          <a:xfrm>
            <a:off x="6355080" y="1508760"/>
            <a:ext cx="5440680" cy="4572000"/>
          </a:xfrm>
          <a:prstGeom prst="rect">
            <a:avLst/>
          </a:prstGeom>
          <a:solidFill>
            <a:srgbClr val="FBF1F5"/>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355080" y="1508760"/>
            <a:ext cx="82296" cy="4572000"/>
          </a:xfrm>
          <a:prstGeom prst="rect">
            <a:avLst/>
          </a:prstGeom>
          <a:solidFill>
            <a:srgbClr val="D6336C"/>
          </a:solidFill>
          <a:ln/>
        </p:spPr>
        <p:txBody>
          <a:bodyPr/>
          <a:lstStyle/>
          <a:p>
            <a:endParaRPr lang="en-US"/>
          </a:p>
        </p:txBody>
      </p:sp>
      <p:sp>
        <p:nvSpPr>
          <p:cNvPr id="19" name="Text 17"/>
          <p:cNvSpPr/>
          <p:nvPr/>
        </p:nvSpPr>
        <p:spPr>
          <a:xfrm>
            <a:off x="6611112" y="1664208"/>
            <a:ext cx="4572000" cy="365760"/>
          </a:xfrm>
          <a:prstGeom prst="rect">
            <a:avLst/>
          </a:prstGeom>
          <a:noFill/>
          <a:ln/>
        </p:spPr>
        <p:txBody>
          <a:bodyPr wrap="square" lIns="0" tIns="0" rIns="0" bIns="0" rtlCol="0" anchor="ctr"/>
          <a:lstStyle/>
          <a:p>
            <a:pPr marL="0" indent="0">
              <a:buNone/>
            </a:pPr>
            <a:r>
              <a:rPr lang="en-US" sz="1800" b="1" dirty="0">
                <a:solidFill>
                  <a:srgbClr val="D6336C"/>
                </a:solidFill>
                <a:latin typeface="Calibri" pitchFamily="34" charset="0"/>
                <a:ea typeface="Calibri" pitchFamily="34" charset="-122"/>
                <a:cs typeface="Calibri" pitchFamily="34" charset="-120"/>
              </a:rPr>
              <a:t>Why we still care</a:t>
            </a:r>
            <a:endParaRPr lang="en-US" sz="1800" dirty="0"/>
          </a:p>
        </p:txBody>
      </p:sp>
      <p:sp>
        <p:nvSpPr>
          <p:cNvPr id="20" name="Text 18"/>
          <p:cNvSpPr/>
          <p:nvPr/>
        </p:nvSpPr>
        <p:spPr>
          <a:xfrm>
            <a:off x="6611112" y="2103120"/>
            <a:ext cx="4937760" cy="3657600"/>
          </a:xfrm>
          <a:prstGeom prst="rect">
            <a:avLst/>
          </a:prstGeom>
          <a:noFill/>
          <a:ln/>
        </p:spPr>
        <p:txBody>
          <a:bodyPr wrap="square" lIns="0" tIns="0" rIns="0" bIns="0" rtlCol="0" anchor="t"/>
          <a:lstStyle/>
          <a:p>
            <a:pPr marL="203200" indent="-203200">
              <a:spcAft>
                <a:spcPts val="1100"/>
              </a:spcAft>
              <a:buSzPct val="100000"/>
              <a:buChar char="•"/>
            </a:pPr>
            <a:r>
              <a:rPr lang="en-US" sz="1800" dirty="0">
                <a:solidFill>
                  <a:srgbClr val="2A2233"/>
                </a:solidFill>
                <a:latin typeface="Calibri" pitchFamily="34" charset="0"/>
                <a:ea typeface="Calibri" pitchFamily="34" charset="-122"/>
                <a:cs typeface="Calibri" pitchFamily="34" charset="-120"/>
              </a:rPr>
              <a:t>Zero learnable pooling params — pure inductive bias.</a:t>
            </a:r>
            <a:endParaRPr lang="en-US" sz="1800" dirty="0"/>
          </a:p>
          <a:p>
            <a:pPr marL="203200" indent="-203200">
              <a:spcAft>
                <a:spcPts val="1100"/>
              </a:spcAft>
              <a:buSzPct val="100000"/>
              <a:buChar char="•"/>
            </a:pPr>
            <a:r>
              <a:rPr lang="en-US" sz="1800" dirty="0">
                <a:solidFill>
                  <a:srgbClr val="2A2233"/>
                </a:solidFill>
                <a:latin typeface="Calibri" pitchFamily="34" charset="0"/>
                <a:ea typeface="Calibri" pitchFamily="34" charset="-122"/>
                <a:cs typeface="Calibri" pitchFamily="34" charset="-120"/>
              </a:rPr>
              <a:t>With strong foundation features, mean-pooling is a shockingly tough baseline; always report it.</a:t>
            </a:r>
            <a:endParaRPr lang="en-US" sz="1800" dirty="0"/>
          </a:p>
          <a:p>
            <a:pPr marL="203200" indent="-203200">
              <a:spcAft>
                <a:spcPts val="1100"/>
              </a:spcAft>
              <a:buSzPct val="100000"/>
              <a:buChar char="•"/>
            </a:pPr>
            <a:r>
              <a:rPr lang="en-US" sz="1800" dirty="0">
                <a:solidFill>
                  <a:srgbClr val="2A2233"/>
                </a:solidFill>
                <a:latin typeface="Calibri" pitchFamily="34" charset="0"/>
                <a:ea typeface="Calibri" pitchFamily="34" charset="-122"/>
                <a:cs typeface="Calibri" pitchFamily="34" charset="-120"/>
              </a:rPr>
              <a:t>Mean = 'attention with uniform weights'; Max = 'attention with a one-hot weight'.</a:t>
            </a:r>
            <a:endParaRPr lang="en-US" sz="1800" dirty="0"/>
          </a:p>
          <a:p>
            <a:pPr marL="203200" indent="-203200">
              <a:spcAft>
                <a:spcPts val="1100"/>
              </a:spcAft>
              <a:buSzPct val="100000"/>
              <a:buChar char="•"/>
            </a:pPr>
            <a:r>
              <a:rPr lang="en-US" sz="1800" dirty="0">
                <a:solidFill>
                  <a:srgbClr val="2A2233"/>
                </a:solidFill>
                <a:latin typeface="Calibri" pitchFamily="34" charset="0"/>
                <a:ea typeface="Calibri" pitchFamily="34" charset="-122"/>
                <a:cs typeface="Calibri" pitchFamily="34" charset="-120"/>
              </a:rPr>
              <a:t>Attention MIL generalizes both: let the data choose the weights.</a:t>
            </a:r>
            <a:endParaRPr lang="en-US" sz="1800" dirty="0"/>
          </a:p>
          <a:p>
            <a:pPr marL="203200" indent="-203200">
              <a:spcAft>
                <a:spcPts val="1100"/>
              </a:spcAft>
              <a:buSzPct val="100000"/>
              <a:buChar char="•"/>
            </a:pPr>
            <a:r>
              <a:rPr lang="en-US" sz="1800" dirty="0">
                <a:solidFill>
                  <a:srgbClr val="2A2233"/>
                </a:solidFill>
                <a:latin typeface="Calibri" pitchFamily="34" charset="0"/>
                <a:ea typeface="Calibri" pitchFamily="34" charset="-122"/>
                <a:cs typeface="Calibri" pitchFamily="34" charset="-120"/>
              </a:rPr>
              <a:t>Rule of thumb: if your fancy model can't beat mean-pooling, something is wrong.</a:t>
            </a:r>
            <a:endParaRPr lang="en-US" sz="1800" dirty="0"/>
          </a:p>
        </p:txBody>
      </p:sp>
      <p:sp>
        <p:nvSpPr>
          <p:cNvPr id="21" name="Text 19"/>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2" name="Text 20"/>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25</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ARCHITECTURE · ABMIL</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Attention-based MIL (Ilse et al., 2018)</a:t>
            </a:r>
            <a:endParaRPr lang="en-US" sz="2900" dirty="0"/>
          </a:p>
        </p:txBody>
      </p:sp>
      <p:sp>
        <p:nvSpPr>
          <p:cNvPr id="5" name="Text 3"/>
          <p:cNvSpPr/>
          <p:nvPr/>
        </p:nvSpPr>
        <p:spPr>
          <a:xfrm>
            <a:off x="640080" y="1554480"/>
            <a:ext cx="5212080" cy="2377440"/>
          </a:xfrm>
          <a:prstGeom prst="rect">
            <a:avLst/>
          </a:prstGeom>
          <a:noFill/>
          <a:ln/>
        </p:spPr>
        <p:txBody>
          <a:bodyPr wrap="square" lIns="0" tIns="0" rIns="0" bIns="0" rtlCol="0" anchor="t"/>
          <a:lstStyle/>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Learn a scalar attention weight aᵢ for each patch, then take a weighted sum.</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Weights are normalized across the bag (softmax) → they sum to 1.</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aᵢ is directly interpretable: 'how much this patch drove the prediction'.</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Permutation-invariant by construction; handles any bag size N.</a:t>
            </a:r>
            <a:endParaRPr lang="en-US" sz="1850" dirty="0"/>
          </a:p>
        </p:txBody>
      </p:sp>
      <p:sp>
        <p:nvSpPr>
          <p:cNvPr id="6" name="Shape 4"/>
          <p:cNvSpPr/>
          <p:nvPr/>
        </p:nvSpPr>
        <p:spPr>
          <a:xfrm>
            <a:off x="640080" y="4572000"/>
            <a:ext cx="5394960" cy="141732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7" name="Text 5"/>
          <p:cNvSpPr/>
          <p:nvPr/>
        </p:nvSpPr>
        <p:spPr>
          <a:xfrm>
            <a:off x="822960" y="4663440"/>
            <a:ext cx="5029200" cy="96012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aᵢ = softmax_i( wᵀ tanh(V hᵢ) )</a:t>
            </a:r>
            <a:endParaRPr lang="en-US" sz="1900" dirty="0"/>
          </a:p>
          <a:p>
            <a:pPr marL="0" indent="0" algn="ctr">
              <a:buNone/>
            </a:pPr>
            <a:r>
              <a:rPr lang="en-US" sz="1900" dirty="0">
                <a:solidFill>
                  <a:srgbClr val="4A2C6D"/>
                </a:solidFill>
                <a:latin typeface="Courier New" pitchFamily="34" charset="0"/>
                <a:ea typeface="Courier New" pitchFamily="34" charset="-122"/>
                <a:cs typeface="Courier New" pitchFamily="34" charset="-120"/>
              </a:rPr>
              <a:t>z = Σ_i aᵢ hᵢ</a:t>
            </a:r>
            <a:endParaRPr lang="en-US" sz="1900" dirty="0"/>
          </a:p>
        </p:txBody>
      </p:sp>
      <p:sp>
        <p:nvSpPr>
          <p:cNvPr id="8" name="Text 6"/>
          <p:cNvSpPr/>
          <p:nvPr/>
        </p:nvSpPr>
        <p:spPr>
          <a:xfrm>
            <a:off x="822960" y="5605272"/>
            <a:ext cx="5029200" cy="292608"/>
          </a:xfrm>
          <a:prstGeom prst="rect">
            <a:avLst/>
          </a:prstGeom>
          <a:noFill/>
          <a:ln/>
        </p:spPr>
        <p:txBody>
          <a:bodyPr wrap="square" lIns="0" tIns="0" rIns="0" bIns="0" rtlCol="0" anchor="ctr"/>
          <a:lstStyle/>
          <a:p>
            <a:pPr marL="0" indent="0" algn="ctr">
              <a:buNone/>
            </a:pPr>
            <a:r>
              <a:rPr lang="en-US" sz="1300" i="1" dirty="0">
                <a:solidFill>
                  <a:srgbClr val="8A7F99"/>
                </a:solidFill>
                <a:latin typeface="Calibri" pitchFamily="34" charset="0"/>
                <a:ea typeface="Calibri" pitchFamily="34" charset="-122"/>
                <a:cs typeface="Calibri" pitchFamily="34" charset="-120"/>
              </a:rPr>
              <a:t>V ∈ ℝ^{L×d}, w ∈ ℝ^L are the only new params</a:t>
            </a:r>
            <a:endParaRPr lang="en-US" sz="1300" dirty="0"/>
          </a:p>
        </p:txBody>
      </p:sp>
      <p:sp>
        <p:nvSpPr>
          <p:cNvPr id="9" name="Shape 7"/>
          <p:cNvSpPr/>
          <p:nvPr/>
        </p:nvSpPr>
        <p:spPr>
          <a:xfrm>
            <a:off x="6263640" y="1508760"/>
            <a:ext cx="5532120" cy="4572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Text 8"/>
          <p:cNvSpPr/>
          <p:nvPr/>
        </p:nvSpPr>
        <p:spPr>
          <a:xfrm>
            <a:off x="649224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Attention reweights the bag</a:t>
            </a:r>
            <a:endParaRPr lang="en-US" sz="1400" dirty="0"/>
          </a:p>
        </p:txBody>
      </p:sp>
      <p:sp>
        <p:nvSpPr>
          <p:cNvPr id="11" name="Shape 9"/>
          <p:cNvSpPr/>
          <p:nvPr/>
        </p:nvSpPr>
        <p:spPr>
          <a:xfrm>
            <a:off x="6629400" y="4915449"/>
            <a:ext cx="457200" cy="342351"/>
          </a:xfrm>
          <a:prstGeom prst="rect">
            <a:avLst/>
          </a:prstGeom>
          <a:solidFill>
            <a:srgbClr val="6B4E8F"/>
          </a:solidFill>
          <a:ln/>
        </p:spPr>
        <p:txBody>
          <a:bodyPr/>
          <a:lstStyle/>
          <a:p>
            <a:endParaRPr lang="en-US"/>
          </a:p>
        </p:txBody>
      </p:sp>
      <p:sp>
        <p:nvSpPr>
          <p:cNvPr id="12" name="Text 10"/>
          <p:cNvSpPr/>
          <p:nvPr/>
        </p:nvSpPr>
        <p:spPr>
          <a:xfrm>
            <a:off x="6583680"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h1</a:t>
            </a:r>
            <a:endParaRPr lang="en-US" sz="1100" dirty="0"/>
          </a:p>
        </p:txBody>
      </p:sp>
      <p:sp>
        <p:nvSpPr>
          <p:cNvPr id="13" name="Shape 11"/>
          <p:cNvSpPr/>
          <p:nvPr/>
        </p:nvSpPr>
        <p:spPr>
          <a:xfrm>
            <a:off x="7150608" y="4778654"/>
            <a:ext cx="457200" cy="479146"/>
          </a:xfrm>
          <a:prstGeom prst="rect">
            <a:avLst/>
          </a:prstGeom>
          <a:solidFill>
            <a:srgbClr val="6B4E8F"/>
          </a:solidFill>
          <a:ln/>
        </p:spPr>
        <p:txBody>
          <a:bodyPr/>
          <a:lstStyle/>
          <a:p>
            <a:endParaRPr lang="en-US"/>
          </a:p>
        </p:txBody>
      </p:sp>
      <p:sp>
        <p:nvSpPr>
          <p:cNvPr id="14" name="Text 12"/>
          <p:cNvSpPr/>
          <p:nvPr/>
        </p:nvSpPr>
        <p:spPr>
          <a:xfrm>
            <a:off x="7104888"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h2</a:t>
            </a:r>
            <a:endParaRPr lang="en-US" sz="1100" dirty="0"/>
          </a:p>
        </p:txBody>
      </p:sp>
      <p:sp>
        <p:nvSpPr>
          <p:cNvPr id="15" name="Shape 13"/>
          <p:cNvSpPr/>
          <p:nvPr/>
        </p:nvSpPr>
        <p:spPr>
          <a:xfrm>
            <a:off x="7671816" y="4983846"/>
            <a:ext cx="457200" cy="273954"/>
          </a:xfrm>
          <a:prstGeom prst="rect">
            <a:avLst/>
          </a:prstGeom>
          <a:solidFill>
            <a:srgbClr val="6B4E8F"/>
          </a:solidFill>
          <a:ln/>
        </p:spPr>
        <p:txBody>
          <a:bodyPr/>
          <a:lstStyle/>
          <a:p>
            <a:endParaRPr lang="en-US"/>
          </a:p>
        </p:txBody>
      </p:sp>
      <p:sp>
        <p:nvSpPr>
          <p:cNvPr id="16" name="Text 14"/>
          <p:cNvSpPr/>
          <p:nvPr/>
        </p:nvSpPr>
        <p:spPr>
          <a:xfrm>
            <a:off x="7626096"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h3</a:t>
            </a:r>
            <a:endParaRPr lang="en-US" sz="1100" dirty="0"/>
          </a:p>
        </p:txBody>
      </p:sp>
      <p:sp>
        <p:nvSpPr>
          <p:cNvPr id="17" name="Shape 15"/>
          <p:cNvSpPr/>
          <p:nvPr/>
        </p:nvSpPr>
        <p:spPr>
          <a:xfrm>
            <a:off x="8193024" y="2795138"/>
            <a:ext cx="457200" cy="2462662"/>
          </a:xfrm>
          <a:prstGeom prst="rect">
            <a:avLst/>
          </a:prstGeom>
          <a:solidFill>
            <a:srgbClr val="D6336C"/>
          </a:solidFill>
          <a:ln/>
        </p:spPr>
        <p:txBody>
          <a:bodyPr/>
          <a:lstStyle/>
          <a:p>
            <a:endParaRPr lang="en-US"/>
          </a:p>
        </p:txBody>
      </p:sp>
      <p:sp>
        <p:nvSpPr>
          <p:cNvPr id="18" name="Text 16"/>
          <p:cNvSpPr/>
          <p:nvPr/>
        </p:nvSpPr>
        <p:spPr>
          <a:xfrm>
            <a:off x="8147304"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h4</a:t>
            </a:r>
            <a:endParaRPr lang="en-US" sz="1100" dirty="0"/>
          </a:p>
        </p:txBody>
      </p:sp>
      <p:sp>
        <p:nvSpPr>
          <p:cNvPr id="19" name="Shape 17"/>
          <p:cNvSpPr/>
          <p:nvPr/>
        </p:nvSpPr>
        <p:spPr>
          <a:xfrm>
            <a:off x="8714232" y="3205521"/>
            <a:ext cx="457200" cy="2052279"/>
          </a:xfrm>
          <a:prstGeom prst="rect">
            <a:avLst/>
          </a:prstGeom>
          <a:solidFill>
            <a:srgbClr val="D6336C"/>
          </a:solidFill>
          <a:ln/>
        </p:spPr>
        <p:txBody>
          <a:bodyPr/>
          <a:lstStyle/>
          <a:p>
            <a:endParaRPr lang="en-US"/>
          </a:p>
        </p:txBody>
      </p:sp>
      <p:sp>
        <p:nvSpPr>
          <p:cNvPr id="20" name="Text 18"/>
          <p:cNvSpPr/>
          <p:nvPr/>
        </p:nvSpPr>
        <p:spPr>
          <a:xfrm>
            <a:off x="8668512"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h5</a:t>
            </a:r>
            <a:endParaRPr lang="en-US" sz="1100" dirty="0"/>
          </a:p>
        </p:txBody>
      </p:sp>
      <p:sp>
        <p:nvSpPr>
          <p:cNvPr id="21" name="Shape 19"/>
          <p:cNvSpPr/>
          <p:nvPr/>
        </p:nvSpPr>
        <p:spPr>
          <a:xfrm>
            <a:off x="9235440" y="4847052"/>
            <a:ext cx="457200" cy="410748"/>
          </a:xfrm>
          <a:prstGeom prst="rect">
            <a:avLst/>
          </a:prstGeom>
          <a:solidFill>
            <a:srgbClr val="6B4E8F"/>
          </a:solidFill>
          <a:ln/>
        </p:spPr>
        <p:txBody>
          <a:bodyPr/>
          <a:lstStyle/>
          <a:p>
            <a:endParaRPr lang="en-US"/>
          </a:p>
        </p:txBody>
      </p:sp>
      <p:sp>
        <p:nvSpPr>
          <p:cNvPr id="22" name="Text 20"/>
          <p:cNvSpPr/>
          <p:nvPr/>
        </p:nvSpPr>
        <p:spPr>
          <a:xfrm>
            <a:off x="9189720"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h6</a:t>
            </a:r>
            <a:endParaRPr lang="en-US" sz="1100" dirty="0"/>
          </a:p>
        </p:txBody>
      </p:sp>
      <p:sp>
        <p:nvSpPr>
          <p:cNvPr id="23" name="Shape 21"/>
          <p:cNvSpPr/>
          <p:nvPr/>
        </p:nvSpPr>
        <p:spPr>
          <a:xfrm>
            <a:off x="9756648" y="4915449"/>
            <a:ext cx="457200" cy="342351"/>
          </a:xfrm>
          <a:prstGeom prst="rect">
            <a:avLst/>
          </a:prstGeom>
          <a:solidFill>
            <a:srgbClr val="6B4E8F"/>
          </a:solidFill>
          <a:ln/>
        </p:spPr>
        <p:txBody>
          <a:bodyPr/>
          <a:lstStyle/>
          <a:p>
            <a:endParaRPr lang="en-US"/>
          </a:p>
        </p:txBody>
      </p:sp>
      <p:sp>
        <p:nvSpPr>
          <p:cNvPr id="24" name="Text 22"/>
          <p:cNvSpPr/>
          <p:nvPr/>
        </p:nvSpPr>
        <p:spPr>
          <a:xfrm>
            <a:off x="9710928"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h7</a:t>
            </a:r>
            <a:endParaRPr lang="en-US" sz="1100" dirty="0"/>
          </a:p>
        </p:txBody>
      </p:sp>
      <p:sp>
        <p:nvSpPr>
          <p:cNvPr id="25" name="Shape 23"/>
          <p:cNvSpPr/>
          <p:nvPr/>
        </p:nvSpPr>
        <p:spPr>
          <a:xfrm>
            <a:off x="10277856" y="4983846"/>
            <a:ext cx="457200" cy="273954"/>
          </a:xfrm>
          <a:prstGeom prst="rect">
            <a:avLst/>
          </a:prstGeom>
          <a:solidFill>
            <a:srgbClr val="6B4E8F"/>
          </a:solidFill>
          <a:ln/>
        </p:spPr>
        <p:txBody>
          <a:bodyPr/>
          <a:lstStyle/>
          <a:p>
            <a:endParaRPr lang="en-US"/>
          </a:p>
        </p:txBody>
      </p:sp>
      <p:sp>
        <p:nvSpPr>
          <p:cNvPr id="26" name="Text 24"/>
          <p:cNvSpPr/>
          <p:nvPr/>
        </p:nvSpPr>
        <p:spPr>
          <a:xfrm>
            <a:off x="10232136"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h8</a:t>
            </a:r>
            <a:endParaRPr lang="en-US" sz="1100" dirty="0"/>
          </a:p>
        </p:txBody>
      </p:sp>
      <p:sp>
        <p:nvSpPr>
          <p:cNvPr id="27" name="Shape 25"/>
          <p:cNvSpPr/>
          <p:nvPr/>
        </p:nvSpPr>
        <p:spPr>
          <a:xfrm>
            <a:off x="10799064" y="4710257"/>
            <a:ext cx="457200" cy="547543"/>
          </a:xfrm>
          <a:prstGeom prst="rect">
            <a:avLst/>
          </a:prstGeom>
          <a:solidFill>
            <a:srgbClr val="6B4E8F"/>
          </a:solidFill>
          <a:ln/>
        </p:spPr>
        <p:txBody>
          <a:bodyPr/>
          <a:lstStyle/>
          <a:p>
            <a:endParaRPr lang="en-US"/>
          </a:p>
        </p:txBody>
      </p:sp>
      <p:sp>
        <p:nvSpPr>
          <p:cNvPr id="28" name="Text 26"/>
          <p:cNvSpPr/>
          <p:nvPr/>
        </p:nvSpPr>
        <p:spPr>
          <a:xfrm>
            <a:off x="10753344"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h9</a:t>
            </a:r>
            <a:endParaRPr lang="en-US" sz="1100" dirty="0"/>
          </a:p>
        </p:txBody>
      </p:sp>
      <p:sp>
        <p:nvSpPr>
          <p:cNvPr id="29" name="Shape 27"/>
          <p:cNvSpPr/>
          <p:nvPr/>
        </p:nvSpPr>
        <p:spPr>
          <a:xfrm>
            <a:off x="11320272" y="4231477"/>
            <a:ext cx="457200" cy="1026323"/>
          </a:xfrm>
          <a:prstGeom prst="rect">
            <a:avLst/>
          </a:prstGeom>
          <a:solidFill>
            <a:srgbClr val="6B4E8F"/>
          </a:solidFill>
          <a:ln/>
        </p:spPr>
        <p:txBody>
          <a:bodyPr/>
          <a:lstStyle/>
          <a:p>
            <a:endParaRPr lang="en-US"/>
          </a:p>
        </p:txBody>
      </p:sp>
      <p:sp>
        <p:nvSpPr>
          <p:cNvPr id="30" name="Text 28"/>
          <p:cNvSpPr/>
          <p:nvPr/>
        </p:nvSpPr>
        <p:spPr>
          <a:xfrm>
            <a:off x="11274552" y="5303520"/>
            <a:ext cx="548640" cy="228600"/>
          </a:xfrm>
          <a:prstGeom prst="rect">
            <a:avLst/>
          </a:prstGeom>
          <a:noFill/>
          <a:ln/>
        </p:spPr>
        <p:txBody>
          <a:bodyPr wrap="square" lIns="0" tIns="0" rIns="0" bIns="0" rtlCol="0" anchor="ctr"/>
          <a:lstStyle/>
          <a:p>
            <a:pPr marL="0" indent="0" algn="ctr">
              <a:buNone/>
            </a:pPr>
            <a:r>
              <a:rPr lang="en-US" sz="1100" dirty="0">
                <a:solidFill>
                  <a:srgbClr val="8A7F99"/>
                </a:solidFill>
                <a:latin typeface="Courier New" pitchFamily="34" charset="0"/>
                <a:ea typeface="Courier New" pitchFamily="34" charset="-122"/>
                <a:cs typeface="Courier New" pitchFamily="34" charset="-120"/>
              </a:rPr>
              <a:t>h10</a:t>
            </a:r>
            <a:endParaRPr lang="en-US" sz="1100" dirty="0"/>
          </a:p>
        </p:txBody>
      </p:sp>
      <p:sp>
        <p:nvSpPr>
          <p:cNvPr id="31" name="Text 29"/>
          <p:cNvSpPr/>
          <p:nvPr/>
        </p:nvSpPr>
        <p:spPr>
          <a:xfrm>
            <a:off x="6355080" y="3337560"/>
            <a:ext cx="274320" cy="274320"/>
          </a:xfrm>
          <a:prstGeom prst="rect">
            <a:avLst/>
          </a:prstGeom>
          <a:noFill/>
          <a:ln/>
        </p:spPr>
        <p:txBody>
          <a:bodyPr wrap="square" lIns="0" tIns="0" rIns="0" bIns="0" rtlCol="0" anchor="ctr"/>
          <a:lstStyle/>
          <a:p>
            <a:pPr marL="0" indent="0">
              <a:buNone/>
            </a:pPr>
            <a:r>
              <a:rPr lang="en-US" sz="1550" i="1" dirty="0">
                <a:solidFill>
                  <a:srgbClr val="4A2C6D"/>
                </a:solidFill>
                <a:latin typeface="Courier New" pitchFamily="34" charset="0"/>
                <a:ea typeface="Courier New" pitchFamily="34" charset="-122"/>
                <a:cs typeface="Courier New" pitchFamily="34" charset="-120"/>
              </a:rPr>
              <a:t>aᵢ</a:t>
            </a:r>
            <a:endParaRPr lang="en-US" sz="1550" dirty="0"/>
          </a:p>
        </p:txBody>
      </p:sp>
      <p:sp>
        <p:nvSpPr>
          <p:cNvPr id="32" name="Text 30"/>
          <p:cNvSpPr/>
          <p:nvPr/>
        </p:nvSpPr>
        <p:spPr>
          <a:xfrm>
            <a:off x="6629400" y="5532120"/>
            <a:ext cx="4937760" cy="50292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Two patches dominate (high aᵢ) → these become the attention heatmap hotspots.</a:t>
            </a:r>
            <a:endParaRPr lang="en-US" sz="1400" dirty="0"/>
          </a:p>
        </p:txBody>
      </p:sp>
      <p:sp>
        <p:nvSpPr>
          <p:cNvPr id="33" name="Text 31"/>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4" name="Text 32"/>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26</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ARCHITECTURE · ABMIL</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Gated attention — adding a learnable gate</a:t>
            </a:r>
            <a:endParaRPr lang="en-US" sz="2900" dirty="0"/>
          </a:p>
        </p:txBody>
      </p:sp>
      <p:sp>
        <p:nvSpPr>
          <p:cNvPr id="5" name="Text 3"/>
          <p:cNvSpPr/>
          <p:nvPr/>
        </p:nvSpPr>
        <p:spPr>
          <a:xfrm>
            <a:off x="640080" y="1554480"/>
            <a:ext cx="5303520" cy="2286000"/>
          </a:xfrm>
          <a:prstGeom prst="rect">
            <a:avLst/>
          </a:prstGeom>
          <a:noFill/>
          <a:ln/>
        </p:spPr>
        <p:txBody>
          <a:bodyPr wrap="square" lIns="0" tIns="0" rIns="0" bIns="0" rtlCol="0" anchor="t"/>
          <a:lstStyle/>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tanh alone is roughly linear near 0 — limits the attention's expressiveness.</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Gated attention multiplies a tanh branch by a sigmoid 'gate' branch (à la GLU).</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Lets the network suppress or pass features per-dimension before scoring.</a:t>
            </a:r>
            <a:endParaRPr lang="en-US" sz="1850" dirty="0"/>
          </a:p>
          <a:p>
            <a:pPr marL="203200" indent="-203200">
              <a:spcAft>
                <a:spcPts val="900"/>
              </a:spcAft>
              <a:buSzPct val="100000"/>
              <a:buChar char="•"/>
            </a:pPr>
            <a:r>
              <a:rPr lang="en-US" sz="1850" dirty="0">
                <a:solidFill>
                  <a:srgbClr val="2A2233"/>
                </a:solidFill>
                <a:latin typeface="Calibri" pitchFamily="34" charset="0"/>
                <a:ea typeface="Calibri" pitchFamily="34" charset="-122"/>
                <a:cs typeface="Calibri" pitchFamily="34" charset="-120"/>
              </a:rPr>
              <a:t>Default in CLAM; usually a small but real bump over vanilla ABMIL.</a:t>
            </a:r>
            <a:endParaRPr lang="en-US" sz="1850" dirty="0"/>
          </a:p>
        </p:txBody>
      </p:sp>
      <p:sp>
        <p:nvSpPr>
          <p:cNvPr id="6" name="Shape 4"/>
          <p:cNvSpPr/>
          <p:nvPr/>
        </p:nvSpPr>
        <p:spPr>
          <a:xfrm>
            <a:off x="640080" y="4572000"/>
            <a:ext cx="5440680" cy="141732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7" name="Text 5"/>
          <p:cNvSpPr/>
          <p:nvPr/>
        </p:nvSpPr>
        <p:spPr>
          <a:xfrm>
            <a:off x="822960" y="4663440"/>
            <a:ext cx="5074920" cy="96012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aᵢ = softmax_i( wᵀ [ tanh(V hᵢ) ⊙ sigm(U hᵢ) ] )</a:t>
            </a:r>
            <a:endParaRPr lang="en-US" sz="1900" dirty="0"/>
          </a:p>
        </p:txBody>
      </p:sp>
      <p:sp>
        <p:nvSpPr>
          <p:cNvPr id="8" name="Text 6"/>
          <p:cNvSpPr/>
          <p:nvPr/>
        </p:nvSpPr>
        <p:spPr>
          <a:xfrm>
            <a:off x="822960" y="5605272"/>
            <a:ext cx="5074920" cy="292608"/>
          </a:xfrm>
          <a:prstGeom prst="rect">
            <a:avLst/>
          </a:prstGeom>
          <a:noFill/>
          <a:ln/>
        </p:spPr>
        <p:txBody>
          <a:bodyPr wrap="square" lIns="0" tIns="0" rIns="0" bIns="0" rtlCol="0" anchor="ctr"/>
          <a:lstStyle/>
          <a:p>
            <a:pPr marL="0" indent="0" algn="ctr">
              <a:buNone/>
            </a:pPr>
            <a:r>
              <a:rPr lang="en-US" sz="1300" i="1" dirty="0">
                <a:solidFill>
                  <a:srgbClr val="8A7F99"/>
                </a:solidFill>
                <a:latin typeface="Calibri" pitchFamily="34" charset="0"/>
                <a:ea typeface="Calibri" pitchFamily="34" charset="-122"/>
                <a:cs typeface="Calibri" pitchFamily="34" charset="-120"/>
              </a:rPr>
              <a:t>⊙ = element-wise product; U is the extra gating matrix</a:t>
            </a:r>
            <a:endParaRPr lang="en-US" sz="1300" dirty="0"/>
          </a:p>
        </p:txBody>
      </p:sp>
      <p:sp>
        <p:nvSpPr>
          <p:cNvPr id="9" name="Shape 7"/>
          <p:cNvSpPr/>
          <p:nvPr/>
        </p:nvSpPr>
        <p:spPr>
          <a:xfrm>
            <a:off x="6263640" y="1508760"/>
            <a:ext cx="5532120" cy="457200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Text 8"/>
          <p:cNvSpPr/>
          <p:nvPr/>
        </p:nvSpPr>
        <p:spPr>
          <a:xfrm>
            <a:off x="6492240" y="1627632"/>
            <a:ext cx="45720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Two-branch gating</a:t>
            </a:r>
            <a:endParaRPr lang="en-US" sz="1400" dirty="0"/>
          </a:p>
        </p:txBody>
      </p:sp>
      <p:sp>
        <p:nvSpPr>
          <p:cNvPr id="11" name="Shape 9"/>
          <p:cNvSpPr/>
          <p:nvPr/>
        </p:nvSpPr>
        <p:spPr>
          <a:xfrm>
            <a:off x="8641080" y="2103120"/>
            <a:ext cx="914400" cy="502920"/>
          </a:xfrm>
          <a:prstGeom prst="rect">
            <a:avLst/>
          </a:prstGeom>
          <a:solidFill>
            <a:srgbClr val="6B4E8F"/>
          </a:solidFill>
          <a:ln/>
        </p:spPr>
        <p:txBody>
          <a:bodyPr/>
          <a:lstStyle/>
          <a:p>
            <a:endParaRPr lang="en-US"/>
          </a:p>
        </p:txBody>
      </p:sp>
      <p:sp>
        <p:nvSpPr>
          <p:cNvPr id="12" name="Text 10"/>
          <p:cNvSpPr/>
          <p:nvPr/>
        </p:nvSpPr>
        <p:spPr>
          <a:xfrm>
            <a:off x="8641080" y="2103120"/>
            <a:ext cx="914400" cy="502920"/>
          </a:xfrm>
          <a:prstGeom prst="rect">
            <a:avLst/>
          </a:prstGeom>
          <a:noFill/>
          <a:ln/>
        </p:spPr>
        <p:txBody>
          <a:bodyPr wrap="square" lIns="0" tIns="0" rIns="0" bIns="0" rtlCol="0" anchor="ctr"/>
          <a:lstStyle/>
          <a:p>
            <a:pPr marL="0" indent="0" algn="ctr">
              <a:buNone/>
            </a:pPr>
            <a:r>
              <a:rPr lang="en-US" sz="1550" i="1" dirty="0">
                <a:solidFill>
                  <a:srgbClr val="FFFFFF"/>
                </a:solidFill>
                <a:latin typeface="Courier New" pitchFamily="34" charset="0"/>
                <a:ea typeface="Courier New" pitchFamily="34" charset="-122"/>
                <a:cs typeface="Courier New" pitchFamily="34" charset="-120"/>
              </a:rPr>
              <a:t>hᵢ</a:t>
            </a:r>
            <a:endParaRPr lang="en-US" sz="1550" dirty="0"/>
          </a:p>
        </p:txBody>
      </p:sp>
      <p:sp>
        <p:nvSpPr>
          <p:cNvPr id="13" name="Shape 11"/>
          <p:cNvSpPr/>
          <p:nvPr/>
        </p:nvSpPr>
        <p:spPr>
          <a:xfrm flipV="1">
            <a:off x="7772400" y="2359152"/>
            <a:ext cx="868680" cy="777240"/>
          </a:xfrm>
          <a:prstGeom prst="line">
            <a:avLst/>
          </a:prstGeom>
          <a:noFill/>
          <a:ln w="25400">
            <a:solidFill>
              <a:srgbClr val="8A7F99"/>
            </a:solidFill>
            <a:prstDash val="solid"/>
          </a:ln>
        </p:spPr>
        <p:txBody>
          <a:bodyPr/>
          <a:lstStyle/>
          <a:p>
            <a:endParaRPr lang="en-US"/>
          </a:p>
        </p:txBody>
      </p:sp>
      <p:sp>
        <p:nvSpPr>
          <p:cNvPr id="14" name="Shape 12"/>
          <p:cNvSpPr/>
          <p:nvPr/>
        </p:nvSpPr>
        <p:spPr>
          <a:xfrm>
            <a:off x="9555480" y="2359152"/>
            <a:ext cx="868680" cy="777240"/>
          </a:xfrm>
          <a:prstGeom prst="line">
            <a:avLst/>
          </a:prstGeom>
          <a:noFill/>
          <a:ln w="25400">
            <a:solidFill>
              <a:srgbClr val="8A7F99"/>
            </a:solidFill>
            <a:prstDash val="solid"/>
          </a:ln>
        </p:spPr>
        <p:txBody>
          <a:bodyPr/>
          <a:lstStyle/>
          <a:p>
            <a:endParaRPr lang="en-US"/>
          </a:p>
        </p:txBody>
      </p:sp>
      <p:sp>
        <p:nvSpPr>
          <p:cNvPr id="15" name="Shape 13"/>
          <p:cNvSpPr/>
          <p:nvPr/>
        </p:nvSpPr>
        <p:spPr>
          <a:xfrm>
            <a:off x="7132320" y="3154680"/>
            <a:ext cx="1417320" cy="594360"/>
          </a:xfrm>
          <a:prstGeom prst="roundRect">
            <a:avLst>
              <a:gd name="adj" fmla="val 9231"/>
            </a:avLst>
          </a:prstGeom>
          <a:solidFill>
            <a:srgbClr val="4A2C6D"/>
          </a:solidFill>
          <a:ln/>
        </p:spPr>
        <p:txBody>
          <a:bodyPr/>
          <a:lstStyle/>
          <a:p>
            <a:endParaRPr lang="en-US"/>
          </a:p>
        </p:txBody>
      </p:sp>
      <p:sp>
        <p:nvSpPr>
          <p:cNvPr id="16" name="Text 14"/>
          <p:cNvSpPr/>
          <p:nvPr/>
        </p:nvSpPr>
        <p:spPr>
          <a:xfrm>
            <a:off x="7132320" y="3154680"/>
            <a:ext cx="141732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tanh(V·)</a:t>
            </a:r>
            <a:endParaRPr lang="en-US" sz="1500" dirty="0"/>
          </a:p>
        </p:txBody>
      </p:sp>
      <p:sp>
        <p:nvSpPr>
          <p:cNvPr id="17" name="Shape 15"/>
          <p:cNvSpPr/>
          <p:nvPr/>
        </p:nvSpPr>
        <p:spPr>
          <a:xfrm>
            <a:off x="9646920" y="3154680"/>
            <a:ext cx="1417320" cy="594360"/>
          </a:xfrm>
          <a:prstGeom prst="roundRect">
            <a:avLst>
              <a:gd name="adj" fmla="val 9231"/>
            </a:avLst>
          </a:prstGeom>
          <a:solidFill>
            <a:srgbClr val="D6336C"/>
          </a:solidFill>
          <a:ln/>
        </p:spPr>
        <p:txBody>
          <a:bodyPr/>
          <a:lstStyle/>
          <a:p>
            <a:endParaRPr lang="en-US"/>
          </a:p>
        </p:txBody>
      </p:sp>
      <p:sp>
        <p:nvSpPr>
          <p:cNvPr id="18" name="Text 16"/>
          <p:cNvSpPr/>
          <p:nvPr/>
        </p:nvSpPr>
        <p:spPr>
          <a:xfrm>
            <a:off x="9646920" y="3154680"/>
            <a:ext cx="141732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sigm(U·)</a:t>
            </a:r>
            <a:endParaRPr lang="en-US" sz="1500" dirty="0"/>
          </a:p>
        </p:txBody>
      </p:sp>
      <p:sp>
        <p:nvSpPr>
          <p:cNvPr id="19" name="Shape 17"/>
          <p:cNvSpPr/>
          <p:nvPr/>
        </p:nvSpPr>
        <p:spPr>
          <a:xfrm>
            <a:off x="7836408" y="3749040"/>
            <a:ext cx="1234440" cy="640080"/>
          </a:xfrm>
          <a:prstGeom prst="line">
            <a:avLst/>
          </a:prstGeom>
          <a:noFill/>
          <a:ln w="25400">
            <a:solidFill>
              <a:srgbClr val="8A7F99"/>
            </a:solidFill>
            <a:prstDash val="solid"/>
          </a:ln>
        </p:spPr>
        <p:txBody>
          <a:bodyPr/>
          <a:lstStyle/>
          <a:p>
            <a:endParaRPr lang="en-US"/>
          </a:p>
        </p:txBody>
      </p:sp>
      <p:sp>
        <p:nvSpPr>
          <p:cNvPr id="20" name="Shape 18"/>
          <p:cNvSpPr/>
          <p:nvPr/>
        </p:nvSpPr>
        <p:spPr>
          <a:xfrm flipV="1">
            <a:off x="9116568" y="3749040"/>
            <a:ext cx="1234440" cy="640080"/>
          </a:xfrm>
          <a:prstGeom prst="line">
            <a:avLst/>
          </a:prstGeom>
          <a:noFill/>
          <a:ln w="25400">
            <a:solidFill>
              <a:srgbClr val="8A7F99"/>
            </a:solidFill>
            <a:prstDash val="solid"/>
          </a:ln>
        </p:spPr>
        <p:txBody>
          <a:bodyPr/>
          <a:lstStyle/>
          <a:p>
            <a:endParaRPr lang="en-US"/>
          </a:p>
        </p:txBody>
      </p:sp>
      <p:sp>
        <p:nvSpPr>
          <p:cNvPr id="21" name="Shape 19"/>
          <p:cNvSpPr/>
          <p:nvPr/>
        </p:nvSpPr>
        <p:spPr>
          <a:xfrm>
            <a:off x="8869680" y="4343400"/>
            <a:ext cx="502920" cy="502920"/>
          </a:xfrm>
          <a:prstGeom prst="ellipse">
            <a:avLst/>
          </a:prstGeom>
          <a:solidFill>
            <a:srgbClr val="1C8C8C"/>
          </a:solidFill>
          <a:ln/>
        </p:spPr>
        <p:txBody>
          <a:bodyPr/>
          <a:lstStyle/>
          <a:p>
            <a:endParaRPr lang="en-US"/>
          </a:p>
        </p:txBody>
      </p:sp>
      <p:sp>
        <p:nvSpPr>
          <p:cNvPr id="22" name="Text 20"/>
          <p:cNvSpPr/>
          <p:nvPr/>
        </p:nvSpPr>
        <p:spPr>
          <a:xfrm>
            <a:off x="8869680" y="43434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9116568" y="4846320"/>
            <a:ext cx="0" cy="457200"/>
          </a:xfrm>
          <a:prstGeom prst="line">
            <a:avLst/>
          </a:prstGeom>
          <a:noFill/>
          <a:ln w="25400">
            <a:solidFill>
              <a:srgbClr val="8A7F99"/>
            </a:solidFill>
            <a:prstDash val="solid"/>
            <a:tailEnd type="triangle"/>
          </a:ln>
        </p:spPr>
        <p:txBody>
          <a:bodyPr/>
          <a:lstStyle/>
          <a:p>
            <a:endParaRPr lang="en-US"/>
          </a:p>
        </p:txBody>
      </p:sp>
      <p:sp>
        <p:nvSpPr>
          <p:cNvPr id="24" name="Shape 22"/>
          <p:cNvSpPr/>
          <p:nvPr/>
        </p:nvSpPr>
        <p:spPr>
          <a:xfrm>
            <a:off x="8412480" y="5349240"/>
            <a:ext cx="1417320" cy="502920"/>
          </a:xfrm>
          <a:prstGeom prst="rect">
            <a:avLst/>
          </a:prstGeom>
          <a:solidFill>
            <a:srgbClr val="6B4E8F"/>
          </a:solidFill>
          <a:ln/>
        </p:spPr>
        <p:txBody>
          <a:bodyPr/>
          <a:lstStyle/>
          <a:p>
            <a:endParaRPr lang="en-US"/>
          </a:p>
        </p:txBody>
      </p:sp>
      <p:sp>
        <p:nvSpPr>
          <p:cNvPr id="25" name="Text 23"/>
          <p:cNvSpPr/>
          <p:nvPr/>
        </p:nvSpPr>
        <p:spPr>
          <a:xfrm>
            <a:off x="8412480" y="5349240"/>
            <a:ext cx="1417320" cy="50292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aᵢ → softmax</a:t>
            </a:r>
            <a:endParaRPr lang="en-US" sz="1350" dirty="0"/>
          </a:p>
        </p:txBody>
      </p:sp>
      <p:sp>
        <p:nvSpPr>
          <p:cNvPr id="26" name="Text 2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7" name="Text 25"/>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27</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ARCHITECTURE · CLAM · LU ET AL. 2021</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CLAM: clustering-constrained attention</a:t>
            </a:r>
            <a:endParaRPr lang="en-US" sz="2900" dirty="0"/>
          </a:p>
        </p:txBody>
      </p:sp>
      <p:sp>
        <p:nvSpPr>
          <p:cNvPr id="5" name="Text 3"/>
          <p:cNvSpPr/>
          <p:nvPr/>
        </p:nvSpPr>
        <p:spPr>
          <a:xfrm>
            <a:off x="640080" y="1554480"/>
            <a:ext cx="5486400" cy="274320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Gated-attention MIL + an instance-level clustering auxiliary loss.</a:t>
            </a:r>
            <a:endParaRPr lang="en-US" sz="1800" dirty="0"/>
          </a:p>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After computing attention, take the top-k and bottom-k attended patches as pseudo-labeled positives/negatives.</a:t>
            </a:r>
            <a:endParaRPr lang="en-US" sz="1800" dirty="0"/>
          </a:p>
          <a:p>
            <a:pPr marL="203200" indent="-203200">
              <a:spcAft>
                <a:spcPts val="600"/>
              </a:spcAft>
              <a:buSzPct val="100000"/>
              <a:buChar char="•"/>
            </a:pPr>
            <a:r>
              <a:rPr lang="en-US" sz="1800" dirty="0">
                <a:solidFill>
                  <a:srgbClr val="2A2233"/>
                </a:solidFill>
                <a:latin typeface="Calibri" pitchFamily="34" charset="0"/>
                <a:ea typeface="Calibri" pitchFamily="34" charset="-122"/>
                <a:cs typeface="Calibri" pitchFamily="34" charset="-120"/>
              </a:rPr>
              <a:t>A small 'instance classifier' is trained on these via a clustering loss → sharpens the attention's discriminability.</a:t>
            </a:r>
            <a:endParaRPr lang="en-US" sz="1800" dirty="0"/>
          </a:p>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CLAM-SB: one attention branch (binary). CLAM-MB: one attention branch per class (multi-class).</a:t>
            </a:r>
            <a:endParaRPr lang="en-US" sz="1800" dirty="0"/>
          </a:p>
          <a:p>
            <a:pPr marL="203200" indent="-203200">
              <a:spcAft>
                <a:spcPts val="800"/>
              </a:spcAft>
              <a:buSzPct val="100000"/>
              <a:buChar char="•"/>
            </a:pPr>
            <a:r>
              <a:rPr lang="en-US" sz="1800" dirty="0">
                <a:solidFill>
                  <a:srgbClr val="2A2233"/>
                </a:solidFill>
                <a:latin typeface="Calibri" pitchFamily="34" charset="0"/>
                <a:ea typeface="Calibri" pitchFamily="34" charset="-122"/>
                <a:cs typeface="Calibri" pitchFamily="34" charset="-120"/>
              </a:rPr>
              <a:t>Data-efficient: strong results from only a few hundred slides — a big reason it's the field default.</a:t>
            </a:r>
            <a:endParaRPr lang="en-US" sz="1800" dirty="0"/>
          </a:p>
        </p:txBody>
      </p:sp>
      <p:sp>
        <p:nvSpPr>
          <p:cNvPr id="6" name="Shape 4"/>
          <p:cNvSpPr/>
          <p:nvPr/>
        </p:nvSpPr>
        <p:spPr>
          <a:xfrm>
            <a:off x="640080" y="4983480"/>
            <a:ext cx="5486400" cy="114300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7" name="Text 5"/>
          <p:cNvSpPr/>
          <p:nvPr/>
        </p:nvSpPr>
        <p:spPr>
          <a:xfrm>
            <a:off x="822960" y="5074920"/>
            <a:ext cx="5120640" cy="68580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L = L_bag(Ŷ, Y) + λ · L_cluster(top/bottom-k)</a:t>
            </a:r>
            <a:endParaRPr lang="en-US" sz="1900" dirty="0"/>
          </a:p>
        </p:txBody>
      </p:sp>
      <p:sp>
        <p:nvSpPr>
          <p:cNvPr id="8" name="Text 6"/>
          <p:cNvSpPr/>
          <p:nvPr/>
        </p:nvSpPr>
        <p:spPr>
          <a:xfrm>
            <a:off x="822960" y="5742432"/>
            <a:ext cx="5120640" cy="292608"/>
          </a:xfrm>
          <a:prstGeom prst="rect">
            <a:avLst/>
          </a:prstGeom>
          <a:noFill/>
          <a:ln/>
        </p:spPr>
        <p:txBody>
          <a:bodyPr wrap="square" lIns="0" tIns="0" rIns="0" bIns="0" rtlCol="0" anchor="ctr"/>
          <a:lstStyle/>
          <a:p>
            <a:pPr marL="0" indent="0" algn="ctr">
              <a:buNone/>
            </a:pPr>
            <a:r>
              <a:rPr lang="en-US" sz="1300" i="1" dirty="0">
                <a:solidFill>
                  <a:srgbClr val="8A7F99"/>
                </a:solidFill>
                <a:latin typeface="Calibri" pitchFamily="34" charset="0"/>
                <a:ea typeface="Calibri" pitchFamily="34" charset="-122"/>
                <a:cs typeface="Calibri" pitchFamily="34" charset="-120"/>
              </a:rPr>
              <a:t>two-task objective: slide classification + instance clustering</a:t>
            </a:r>
            <a:endParaRPr lang="en-US" sz="1300" dirty="0"/>
          </a:p>
        </p:txBody>
      </p:sp>
      <p:sp>
        <p:nvSpPr>
          <p:cNvPr id="9" name="Shape 7"/>
          <p:cNvSpPr/>
          <p:nvPr/>
        </p:nvSpPr>
        <p:spPr>
          <a:xfrm>
            <a:off x="6263640" y="1508760"/>
            <a:ext cx="553212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Text 8"/>
          <p:cNvSpPr/>
          <p:nvPr/>
        </p:nvSpPr>
        <p:spPr>
          <a:xfrm>
            <a:off x="649224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Attention + instance supervision</a:t>
            </a:r>
            <a:endParaRPr lang="en-US" sz="1400" dirty="0"/>
          </a:p>
        </p:txBody>
      </p:sp>
      <p:sp>
        <p:nvSpPr>
          <p:cNvPr id="11" name="Shape 9"/>
          <p:cNvSpPr/>
          <p:nvPr/>
        </p:nvSpPr>
        <p:spPr>
          <a:xfrm>
            <a:off x="6766560" y="2148840"/>
            <a:ext cx="4297680" cy="548640"/>
          </a:xfrm>
          <a:prstGeom prst="roundRect">
            <a:avLst>
              <a:gd name="adj" fmla="val 10000"/>
            </a:avLst>
          </a:prstGeom>
          <a:solidFill>
            <a:srgbClr val="6B4E8F"/>
          </a:solidFill>
          <a:ln/>
        </p:spPr>
        <p:txBody>
          <a:bodyPr/>
          <a:lstStyle/>
          <a:p>
            <a:endParaRPr lang="en-US"/>
          </a:p>
        </p:txBody>
      </p:sp>
      <p:sp>
        <p:nvSpPr>
          <p:cNvPr id="12" name="Text 10"/>
          <p:cNvSpPr/>
          <p:nvPr/>
        </p:nvSpPr>
        <p:spPr>
          <a:xfrm>
            <a:off x="6766560" y="2148840"/>
            <a:ext cx="4297680" cy="54864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Bag features  H (N×d)</a:t>
            </a:r>
            <a:endParaRPr lang="en-US" sz="1450" dirty="0"/>
          </a:p>
        </p:txBody>
      </p:sp>
      <p:sp>
        <p:nvSpPr>
          <p:cNvPr id="13" name="Shape 11"/>
          <p:cNvSpPr/>
          <p:nvPr/>
        </p:nvSpPr>
        <p:spPr>
          <a:xfrm>
            <a:off x="8915400" y="2697480"/>
            <a:ext cx="0" cy="274320"/>
          </a:xfrm>
          <a:prstGeom prst="line">
            <a:avLst/>
          </a:prstGeom>
          <a:noFill/>
          <a:ln w="25400">
            <a:solidFill>
              <a:srgbClr val="8A7F99"/>
            </a:solidFill>
            <a:prstDash val="solid"/>
            <a:tailEnd type="triangle"/>
          </a:ln>
        </p:spPr>
        <p:txBody>
          <a:bodyPr/>
          <a:lstStyle/>
          <a:p>
            <a:endParaRPr lang="en-US"/>
          </a:p>
        </p:txBody>
      </p:sp>
      <p:sp>
        <p:nvSpPr>
          <p:cNvPr id="14" name="Shape 12"/>
          <p:cNvSpPr/>
          <p:nvPr/>
        </p:nvSpPr>
        <p:spPr>
          <a:xfrm>
            <a:off x="7223760" y="3017520"/>
            <a:ext cx="3383280" cy="548640"/>
          </a:xfrm>
          <a:prstGeom prst="roundRect">
            <a:avLst>
              <a:gd name="adj" fmla="val 10000"/>
            </a:avLst>
          </a:prstGeom>
          <a:solidFill>
            <a:srgbClr val="D6336C"/>
          </a:solidFill>
          <a:ln/>
        </p:spPr>
        <p:txBody>
          <a:bodyPr/>
          <a:lstStyle/>
          <a:p>
            <a:endParaRPr lang="en-US"/>
          </a:p>
        </p:txBody>
      </p:sp>
      <p:sp>
        <p:nvSpPr>
          <p:cNvPr id="15" name="Text 13"/>
          <p:cNvSpPr/>
          <p:nvPr/>
        </p:nvSpPr>
        <p:spPr>
          <a:xfrm>
            <a:off x="7223760" y="3017520"/>
            <a:ext cx="3383280" cy="54864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Gated attention  aᵢ</a:t>
            </a:r>
            <a:endParaRPr lang="en-US" sz="1450" dirty="0"/>
          </a:p>
        </p:txBody>
      </p:sp>
      <p:sp>
        <p:nvSpPr>
          <p:cNvPr id="16" name="Shape 14"/>
          <p:cNvSpPr/>
          <p:nvPr/>
        </p:nvSpPr>
        <p:spPr>
          <a:xfrm flipV="1">
            <a:off x="7452360" y="3566160"/>
            <a:ext cx="502920" cy="594360"/>
          </a:xfrm>
          <a:prstGeom prst="line">
            <a:avLst/>
          </a:prstGeom>
          <a:noFill/>
          <a:ln w="25400">
            <a:solidFill>
              <a:srgbClr val="8A7F99"/>
            </a:solidFill>
            <a:prstDash val="solid"/>
          </a:ln>
        </p:spPr>
        <p:txBody>
          <a:bodyPr/>
          <a:lstStyle/>
          <a:p>
            <a:endParaRPr lang="en-US"/>
          </a:p>
        </p:txBody>
      </p:sp>
      <p:sp>
        <p:nvSpPr>
          <p:cNvPr id="17" name="Shape 15"/>
          <p:cNvSpPr/>
          <p:nvPr/>
        </p:nvSpPr>
        <p:spPr>
          <a:xfrm>
            <a:off x="9875520" y="3566160"/>
            <a:ext cx="502920" cy="594360"/>
          </a:xfrm>
          <a:prstGeom prst="line">
            <a:avLst/>
          </a:prstGeom>
          <a:noFill/>
          <a:ln w="25400">
            <a:solidFill>
              <a:srgbClr val="8A7F99"/>
            </a:solidFill>
            <a:prstDash val="solid"/>
          </a:ln>
        </p:spPr>
        <p:txBody>
          <a:bodyPr/>
          <a:lstStyle/>
          <a:p>
            <a:endParaRPr lang="en-US"/>
          </a:p>
        </p:txBody>
      </p:sp>
      <p:sp>
        <p:nvSpPr>
          <p:cNvPr id="18" name="Shape 16"/>
          <p:cNvSpPr/>
          <p:nvPr/>
        </p:nvSpPr>
        <p:spPr>
          <a:xfrm>
            <a:off x="6629400" y="4206240"/>
            <a:ext cx="2331720" cy="868680"/>
          </a:xfrm>
          <a:prstGeom prst="roundRect">
            <a:avLst>
              <a:gd name="adj" fmla="val 6316"/>
            </a:avLst>
          </a:prstGeom>
          <a:solidFill>
            <a:srgbClr val="4A2C6D"/>
          </a:solidFill>
          <a:ln/>
        </p:spPr>
        <p:txBody>
          <a:bodyPr/>
          <a:lstStyle/>
          <a:p>
            <a:endParaRPr lang="en-US"/>
          </a:p>
        </p:txBody>
      </p:sp>
      <p:sp>
        <p:nvSpPr>
          <p:cNvPr id="19" name="Text 17"/>
          <p:cNvSpPr/>
          <p:nvPr/>
        </p:nvSpPr>
        <p:spPr>
          <a:xfrm>
            <a:off x="6629400" y="4206240"/>
            <a:ext cx="23317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Σ aᵢhᵢ → g</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slide loss</a:t>
            </a:r>
            <a:endParaRPr lang="en-US" sz="1400" dirty="0"/>
          </a:p>
        </p:txBody>
      </p:sp>
      <p:sp>
        <p:nvSpPr>
          <p:cNvPr id="20" name="Shape 18"/>
          <p:cNvSpPr/>
          <p:nvPr/>
        </p:nvSpPr>
        <p:spPr>
          <a:xfrm>
            <a:off x="9189720" y="4206240"/>
            <a:ext cx="2331720" cy="868680"/>
          </a:xfrm>
          <a:prstGeom prst="roundRect">
            <a:avLst>
              <a:gd name="adj" fmla="val 6316"/>
            </a:avLst>
          </a:prstGeom>
          <a:solidFill>
            <a:srgbClr val="1C8C8C"/>
          </a:solidFill>
          <a:ln/>
        </p:spPr>
        <p:txBody>
          <a:bodyPr/>
          <a:lstStyle/>
          <a:p>
            <a:endParaRPr lang="en-US"/>
          </a:p>
        </p:txBody>
      </p:sp>
      <p:sp>
        <p:nvSpPr>
          <p:cNvPr id="21" name="Text 19"/>
          <p:cNvSpPr/>
          <p:nvPr/>
        </p:nvSpPr>
        <p:spPr>
          <a:xfrm>
            <a:off x="9189720" y="4206240"/>
            <a:ext cx="23317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top/bottom-k</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clustering loss</a:t>
            </a:r>
            <a:endParaRPr lang="en-US" sz="1400" dirty="0"/>
          </a:p>
        </p:txBody>
      </p:sp>
      <p:sp>
        <p:nvSpPr>
          <p:cNvPr id="22" name="Text 20"/>
          <p:cNvSpPr/>
          <p:nvPr/>
        </p:nvSpPr>
        <p:spPr>
          <a:xfrm>
            <a:off x="6629400" y="5212080"/>
            <a:ext cx="4892040" cy="365760"/>
          </a:xfrm>
          <a:prstGeom prst="rect">
            <a:avLst/>
          </a:prstGeom>
          <a:noFill/>
          <a:ln/>
        </p:spPr>
        <p:txBody>
          <a:bodyPr wrap="square" lIns="0" tIns="0" rIns="0" bIns="0" rtlCol="0" anchor="ctr"/>
          <a:lstStyle/>
          <a:p>
            <a:pPr marL="0" indent="0" algn="ctr">
              <a:buNone/>
            </a:pPr>
            <a:r>
              <a:rPr lang="en-US" sz="1350" i="1" dirty="0">
                <a:solidFill>
                  <a:srgbClr val="8A7F99"/>
                </a:solidFill>
                <a:latin typeface="Calibri" pitchFamily="34" charset="0"/>
                <a:ea typeface="Calibri" pitchFamily="34" charset="-122"/>
                <a:cs typeface="Calibri" pitchFamily="34" charset="-120"/>
              </a:rPr>
              <a:t>Two heads share one attention map</a:t>
            </a:r>
            <a:endParaRPr lang="en-US" sz="1350" dirty="0"/>
          </a:p>
        </p:txBody>
      </p:sp>
      <p:sp>
        <p:nvSpPr>
          <p:cNvPr id="23" name="Text 21"/>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4" name="Text 22"/>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28</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ARCHITECTURE · TRANSMIL · SHAO ET AL. 2021</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TransMIL: self-attention across patches</a:t>
            </a:r>
            <a:endParaRPr lang="en-US" sz="2900" dirty="0"/>
          </a:p>
        </p:txBody>
      </p:sp>
      <p:sp>
        <p:nvSpPr>
          <p:cNvPr id="5" name="Text 3"/>
          <p:cNvSpPr/>
          <p:nvPr/>
        </p:nvSpPr>
        <p:spPr>
          <a:xfrm>
            <a:off x="640080" y="1554480"/>
            <a:ext cx="5486400" cy="3108960"/>
          </a:xfrm>
          <a:prstGeom prst="rect">
            <a:avLst/>
          </a:prstGeom>
          <a:noFill/>
          <a:ln/>
        </p:spPr>
        <p:txBody>
          <a:bodyPr wrap="square" lIns="0" tIns="0" rIns="0" bIns="0" rtlCol="0" anchor="t"/>
          <a:lstStyle/>
          <a:p>
            <a:pPr marL="203200" indent="-203200">
              <a:spcAft>
                <a:spcPts val="700"/>
              </a:spcAft>
              <a:buSzPct val="100000"/>
              <a:buChar char="•"/>
            </a:pPr>
            <a:r>
              <a:rPr lang="en-US" sz="1600" dirty="0">
                <a:solidFill>
                  <a:srgbClr val="2A2233"/>
                </a:solidFill>
                <a:latin typeface="Calibri" pitchFamily="34" charset="0"/>
                <a:ea typeface="Calibri" pitchFamily="34" charset="-122"/>
                <a:cs typeface="Calibri" pitchFamily="34" charset="-120"/>
              </a:rPr>
              <a:t>ABMIL/CLAM score patches independently — they ignore patch-to-patch relationships.</a:t>
            </a:r>
            <a:endParaRPr lang="en-US" sz="1600" dirty="0"/>
          </a:p>
          <a:p>
            <a:pPr marL="203200" indent="-203200">
              <a:spcAft>
                <a:spcPts val="700"/>
              </a:spcAft>
              <a:buSzPct val="100000"/>
              <a:buChar char="•"/>
            </a:pPr>
            <a:r>
              <a:rPr lang="en-US" sz="1600" dirty="0">
                <a:solidFill>
                  <a:srgbClr val="2A2233"/>
                </a:solidFill>
                <a:latin typeface="Calibri" pitchFamily="34" charset="0"/>
                <a:ea typeface="Calibri" pitchFamily="34" charset="-122"/>
                <a:cs typeface="Calibri" pitchFamily="34" charset="-120"/>
              </a:rPr>
              <a:t>TransMIL applies Transformer self-attention so patches can attend to each other (morphological context, correlations).</a:t>
            </a:r>
            <a:endParaRPr lang="en-US" sz="1600" dirty="0"/>
          </a:p>
          <a:p>
            <a:pPr marL="203200" indent="-203200">
              <a:spcAft>
                <a:spcPts val="600"/>
              </a:spcAft>
              <a:buSzPct val="100000"/>
              <a:buChar char="•"/>
            </a:pPr>
            <a:r>
              <a:rPr lang="en-US" sz="1600" dirty="0">
                <a:solidFill>
                  <a:srgbClr val="2A2233"/>
                </a:solidFill>
                <a:latin typeface="Calibri" pitchFamily="34" charset="0"/>
                <a:ea typeface="Calibri" pitchFamily="34" charset="-122"/>
                <a:cs typeface="Calibri" pitchFamily="34" charset="-120"/>
              </a:rPr>
              <a:t>Full self-attention is O(N²) — infeasible for N≈10⁴. TransMIL uses the Nyström approximation for near-linear cost.</a:t>
            </a:r>
            <a:endParaRPr lang="en-US" sz="1600" dirty="0"/>
          </a:p>
          <a:p>
            <a:pPr marL="203200" indent="-203200">
              <a:spcAft>
                <a:spcPts val="700"/>
              </a:spcAft>
              <a:buSzPct val="100000"/>
              <a:buChar char="•"/>
            </a:pPr>
            <a:r>
              <a:rPr lang="en-US" sz="1600" dirty="0">
                <a:solidFill>
                  <a:srgbClr val="2A2233"/>
                </a:solidFill>
                <a:latin typeface="Calibri" pitchFamily="34" charset="0"/>
                <a:ea typeface="Calibri" pitchFamily="34" charset="-122"/>
                <a:cs typeface="Calibri" pitchFamily="34" charset="-120"/>
              </a:rPr>
              <a:t>Adds a learnable [CLS] token; its output embedding is the bag representation.</a:t>
            </a:r>
            <a:endParaRPr lang="en-US" sz="1600" dirty="0"/>
          </a:p>
          <a:p>
            <a:pPr marL="203200" indent="-203200">
              <a:spcAft>
                <a:spcPts val="700"/>
              </a:spcAft>
              <a:buSzPct val="100000"/>
              <a:buChar char="•"/>
            </a:pPr>
            <a:r>
              <a:rPr lang="en-US" sz="1600" dirty="0">
                <a:solidFill>
                  <a:srgbClr val="2A2233"/>
                </a:solidFill>
                <a:latin typeface="Calibri" pitchFamily="34" charset="0"/>
                <a:ea typeface="Calibri" pitchFamily="34" charset="-122"/>
                <a:cs typeface="Calibri" pitchFamily="34" charset="-120"/>
              </a:rPr>
              <a:t>A PPEG module injects approximate 2-D spatial position of patches.</a:t>
            </a:r>
            <a:endParaRPr lang="en-US" sz="1600" dirty="0"/>
          </a:p>
        </p:txBody>
      </p:sp>
      <p:sp>
        <p:nvSpPr>
          <p:cNvPr id="6" name="Shape 4"/>
          <p:cNvSpPr/>
          <p:nvPr/>
        </p:nvSpPr>
        <p:spPr>
          <a:xfrm>
            <a:off x="640080" y="5074920"/>
            <a:ext cx="5486400" cy="1097280"/>
          </a:xfrm>
          <a:prstGeom prst="rect">
            <a:avLst/>
          </a:prstGeom>
          <a:solidFill>
            <a:srgbClr val="FFFFFF"/>
          </a:solidFill>
          <a:ln w="19050">
            <a:solidFill>
              <a:srgbClr val="F2A9C4"/>
            </a:solidFill>
            <a:prstDash val="solid"/>
          </a:ln>
          <a:effectLst>
            <a:outerShdw blurRad="88900" dist="38100" dir="8100000" algn="bl" rotWithShape="0">
              <a:srgbClr val="000000">
                <a:alpha val="13000"/>
              </a:srgbClr>
            </a:outerShdw>
          </a:effectLst>
        </p:spPr>
        <p:txBody>
          <a:bodyPr/>
          <a:lstStyle/>
          <a:p>
            <a:endParaRPr lang="en-US"/>
          </a:p>
        </p:txBody>
      </p:sp>
      <p:sp>
        <p:nvSpPr>
          <p:cNvPr id="7" name="Text 5"/>
          <p:cNvSpPr/>
          <p:nvPr/>
        </p:nvSpPr>
        <p:spPr>
          <a:xfrm>
            <a:off x="822960" y="5166360"/>
            <a:ext cx="5120640" cy="640080"/>
          </a:xfrm>
          <a:prstGeom prst="rect">
            <a:avLst/>
          </a:prstGeom>
          <a:noFill/>
          <a:ln/>
        </p:spPr>
        <p:txBody>
          <a:bodyPr wrap="square" lIns="0" tIns="0" rIns="0" bIns="0" rtlCol="0" anchor="ctr"/>
          <a:lstStyle/>
          <a:p>
            <a:pPr marL="0" indent="0" algn="ctr">
              <a:buNone/>
            </a:pPr>
            <a:r>
              <a:rPr lang="en-US" sz="1900" dirty="0">
                <a:solidFill>
                  <a:srgbClr val="4A2C6D"/>
                </a:solidFill>
                <a:latin typeface="Courier New" pitchFamily="34" charset="0"/>
                <a:ea typeface="Courier New" pitchFamily="34" charset="-122"/>
                <a:cs typeface="Courier New" pitchFamily="34" charset="-120"/>
              </a:rPr>
              <a:t>Attn(Q,K,V) = softmax(QKᵀ/√d) V   ≈  Nyström</a:t>
            </a:r>
            <a:endParaRPr lang="en-US" sz="1900" dirty="0"/>
          </a:p>
        </p:txBody>
      </p:sp>
      <p:sp>
        <p:nvSpPr>
          <p:cNvPr id="8" name="Text 6"/>
          <p:cNvSpPr/>
          <p:nvPr/>
        </p:nvSpPr>
        <p:spPr>
          <a:xfrm>
            <a:off x="822960" y="5788152"/>
            <a:ext cx="5120640" cy="292608"/>
          </a:xfrm>
          <a:prstGeom prst="rect">
            <a:avLst/>
          </a:prstGeom>
          <a:noFill/>
          <a:ln/>
        </p:spPr>
        <p:txBody>
          <a:bodyPr wrap="square" lIns="0" tIns="0" rIns="0" bIns="0" rtlCol="0" anchor="ctr"/>
          <a:lstStyle/>
          <a:p>
            <a:pPr marL="0" indent="0" algn="ctr">
              <a:buNone/>
            </a:pPr>
            <a:r>
              <a:rPr lang="en-US" sz="1300" i="1" dirty="0">
                <a:solidFill>
                  <a:srgbClr val="8A7F99"/>
                </a:solidFill>
                <a:latin typeface="Calibri" pitchFamily="34" charset="0"/>
                <a:ea typeface="Calibri" pitchFamily="34" charset="-122"/>
                <a:cs typeface="Calibri" pitchFamily="34" charset="-120"/>
              </a:rPr>
              <a:t>correlated pooling: instances are no longer independent</a:t>
            </a:r>
            <a:endParaRPr lang="en-US" sz="1300" dirty="0"/>
          </a:p>
        </p:txBody>
      </p:sp>
      <p:sp>
        <p:nvSpPr>
          <p:cNvPr id="9" name="Shape 7"/>
          <p:cNvSpPr/>
          <p:nvPr/>
        </p:nvSpPr>
        <p:spPr>
          <a:xfrm>
            <a:off x="6263640" y="1508760"/>
            <a:ext cx="553212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Text 8"/>
          <p:cNvSpPr/>
          <p:nvPr/>
        </p:nvSpPr>
        <p:spPr>
          <a:xfrm>
            <a:off x="6492240" y="1627632"/>
            <a:ext cx="45720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Patches attend to each other</a:t>
            </a:r>
            <a:endParaRPr lang="en-US" sz="1400" dirty="0"/>
          </a:p>
        </p:txBody>
      </p:sp>
      <p:sp>
        <p:nvSpPr>
          <p:cNvPr id="11" name="Shape 9"/>
          <p:cNvSpPr/>
          <p:nvPr/>
        </p:nvSpPr>
        <p:spPr>
          <a:xfrm flipV="1">
            <a:off x="7498080" y="2468880"/>
            <a:ext cx="1737360" cy="457200"/>
          </a:xfrm>
          <a:prstGeom prst="line">
            <a:avLst/>
          </a:prstGeom>
          <a:noFill/>
          <a:ln w="19050">
            <a:solidFill>
              <a:srgbClr val="C9B8DE"/>
            </a:solidFill>
            <a:prstDash val="solid"/>
          </a:ln>
        </p:spPr>
        <p:txBody>
          <a:bodyPr/>
          <a:lstStyle/>
          <a:p>
            <a:endParaRPr lang="en-US"/>
          </a:p>
        </p:txBody>
      </p:sp>
      <p:sp>
        <p:nvSpPr>
          <p:cNvPr id="12" name="Shape 10"/>
          <p:cNvSpPr/>
          <p:nvPr/>
        </p:nvSpPr>
        <p:spPr>
          <a:xfrm>
            <a:off x="9235440" y="2468880"/>
            <a:ext cx="1463040" cy="731520"/>
          </a:xfrm>
          <a:prstGeom prst="line">
            <a:avLst/>
          </a:prstGeom>
          <a:noFill/>
          <a:ln w="19050">
            <a:solidFill>
              <a:srgbClr val="C9B8DE"/>
            </a:solidFill>
            <a:prstDash val="solid"/>
          </a:ln>
        </p:spPr>
        <p:txBody>
          <a:bodyPr/>
          <a:lstStyle/>
          <a:p>
            <a:endParaRPr lang="en-US"/>
          </a:p>
        </p:txBody>
      </p:sp>
      <p:sp>
        <p:nvSpPr>
          <p:cNvPr id="13" name="Shape 11"/>
          <p:cNvSpPr/>
          <p:nvPr/>
        </p:nvSpPr>
        <p:spPr>
          <a:xfrm>
            <a:off x="7498080" y="2926080"/>
            <a:ext cx="365760" cy="1463040"/>
          </a:xfrm>
          <a:prstGeom prst="line">
            <a:avLst/>
          </a:prstGeom>
          <a:noFill/>
          <a:ln w="19050">
            <a:solidFill>
              <a:srgbClr val="C9B8DE"/>
            </a:solidFill>
            <a:prstDash val="solid"/>
          </a:ln>
        </p:spPr>
        <p:txBody>
          <a:bodyPr/>
          <a:lstStyle/>
          <a:p>
            <a:endParaRPr lang="en-US"/>
          </a:p>
        </p:txBody>
      </p:sp>
      <p:sp>
        <p:nvSpPr>
          <p:cNvPr id="14" name="Shape 12"/>
          <p:cNvSpPr/>
          <p:nvPr/>
        </p:nvSpPr>
        <p:spPr>
          <a:xfrm>
            <a:off x="7863840" y="4389120"/>
            <a:ext cx="1645920" cy="274320"/>
          </a:xfrm>
          <a:prstGeom prst="line">
            <a:avLst/>
          </a:prstGeom>
          <a:noFill/>
          <a:ln w="19050">
            <a:solidFill>
              <a:srgbClr val="C9B8DE"/>
            </a:solidFill>
            <a:prstDash val="solid"/>
          </a:ln>
        </p:spPr>
        <p:txBody>
          <a:bodyPr/>
          <a:lstStyle/>
          <a:p>
            <a:endParaRPr lang="en-US"/>
          </a:p>
        </p:txBody>
      </p:sp>
      <p:sp>
        <p:nvSpPr>
          <p:cNvPr id="15" name="Shape 13"/>
          <p:cNvSpPr/>
          <p:nvPr/>
        </p:nvSpPr>
        <p:spPr>
          <a:xfrm>
            <a:off x="9235440" y="2468880"/>
            <a:ext cx="274320" cy="2194560"/>
          </a:xfrm>
          <a:prstGeom prst="line">
            <a:avLst/>
          </a:prstGeom>
          <a:noFill/>
          <a:ln w="19050">
            <a:solidFill>
              <a:srgbClr val="C9B8DE"/>
            </a:solidFill>
            <a:prstDash val="solid"/>
          </a:ln>
        </p:spPr>
        <p:txBody>
          <a:bodyPr/>
          <a:lstStyle/>
          <a:p>
            <a:endParaRPr lang="en-US"/>
          </a:p>
        </p:txBody>
      </p:sp>
      <p:sp>
        <p:nvSpPr>
          <p:cNvPr id="16" name="Shape 14"/>
          <p:cNvSpPr/>
          <p:nvPr/>
        </p:nvSpPr>
        <p:spPr>
          <a:xfrm>
            <a:off x="9509760" y="4663440"/>
            <a:ext cx="1280160" cy="640080"/>
          </a:xfrm>
          <a:prstGeom prst="line">
            <a:avLst/>
          </a:prstGeom>
          <a:noFill/>
          <a:ln w="19050">
            <a:solidFill>
              <a:srgbClr val="C9B8DE"/>
            </a:solidFill>
            <a:prstDash val="solid"/>
          </a:ln>
        </p:spPr>
        <p:txBody>
          <a:bodyPr/>
          <a:lstStyle/>
          <a:p>
            <a:endParaRPr lang="en-US"/>
          </a:p>
        </p:txBody>
      </p:sp>
      <p:sp>
        <p:nvSpPr>
          <p:cNvPr id="17" name="Shape 15"/>
          <p:cNvSpPr/>
          <p:nvPr/>
        </p:nvSpPr>
        <p:spPr>
          <a:xfrm>
            <a:off x="7863840" y="4389120"/>
            <a:ext cx="914400" cy="1005840"/>
          </a:xfrm>
          <a:prstGeom prst="line">
            <a:avLst/>
          </a:prstGeom>
          <a:noFill/>
          <a:ln w="19050">
            <a:solidFill>
              <a:srgbClr val="C9B8DE"/>
            </a:solidFill>
            <a:prstDash val="solid"/>
          </a:ln>
        </p:spPr>
        <p:txBody>
          <a:bodyPr/>
          <a:lstStyle/>
          <a:p>
            <a:endParaRPr lang="en-US"/>
          </a:p>
        </p:txBody>
      </p:sp>
      <p:sp>
        <p:nvSpPr>
          <p:cNvPr id="18" name="Shape 16"/>
          <p:cNvSpPr/>
          <p:nvPr/>
        </p:nvSpPr>
        <p:spPr>
          <a:xfrm flipV="1">
            <a:off x="8778240" y="4663440"/>
            <a:ext cx="731520" cy="731520"/>
          </a:xfrm>
          <a:prstGeom prst="line">
            <a:avLst/>
          </a:prstGeom>
          <a:noFill/>
          <a:ln w="19050">
            <a:solidFill>
              <a:srgbClr val="C9B8DE"/>
            </a:solidFill>
            <a:prstDash val="solid"/>
          </a:ln>
        </p:spPr>
        <p:txBody>
          <a:bodyPr/>
          <a:lstStyle/>
          <a:p>
            <a:endParaRPr lang="en-US"/>
          </a:p>
        </p:txBody>
      </p:sp>
      <p:sp>
        <p:nvSpPr>
          <p:cNvPr id="19" name="Shape 17"/>
          <p:cNvSpPr/>
          <p:nvPr/>
        </p:nvSpPr>
        <p:spPr>
          <a:xfrm flipV="1">
            <a:off x="9509760" y="3200400"/>
            <a:ext cx="1188720" cy="1463040"/>
          </a:xfrm>
          <a:prstGeom prst="line">
            <a:avLst/>
          </a:prstGeom>
          <a:noFill/>
          <a:ln w="19050">
            <a:solidFill>
              <a:srgbClr val="C9B8DE"/>
            </a:solidFill>
            <a:prstDash val="solid"/>
          </a:ln>
        </p:spPr>
        <p:txBody>
          <a:bodyPr/>
          <a:lstStyle/>
          <a:p>
            <a:endParaRPr lang="en-US"/>
          </a:p>
        </p:txBody>
      </p:sp>
      <p:sp>
        <p:nvSpPr>
          <p:cNvPr id="20" name="Shape 18"/>
          <p:cNvSpPr/>
          <p:nvPr/>
        </p:nvSpPr>
        <p:spPr>
          <a:xfrm>
            <a:off x="7315200" y="2743200"/>
            <a:ext cx="365760" cy="365760"/>
          </a:xfrm>
          <a:prstGeom prst="ellipse">
            <a:avLst/>
          </a:prstGeom>
          <a:solidFill>
            <a:srgbClr val="6B4E8F"/>
          </a:solidFill>
          <a:ln/>
        </p:spPr>
        <p:txBody>
          <a:bodyPr/>
          <a:lstStyle/>
          <a:p>
            <a:endParaRPr lang="en-US"/>
          </a:p>
        </p:txBody>
      </p:sp>
      <p:sp>
        <p:nvSpPr>
          <p:cNvPr id="21" name="Shape 19"/>
          <p:cNvSpPr/>
          <p:nvPr/>
        </p:nvSpPr>
        <p:spPr>
          <a:xfrm>
            <a:off x="9052560" y="2286000"/>
            <a:ext cx="365760" cy="365760"/>
          </a:xfrm>
          <a:prstGeom prst="ellipse">
            <a:avLst/>
          </a:prstGeom>
          <a:solidFill>
            <a:srgbClr val="6B4E8F"/>
          </a:solidFill>
          <a:ln/>
        </p:spPr>
        <p:txBody>
          <a:bodyPr/>
          <a:lstStyle/>
          <a:p>
            <a:endParaRPr lang="en-US"/>
          </a:p>
        </p:txBody>
      </p:sp>
      <p:sp>
        <p:nvSpPr>
          <p:cNvPr id="22" name="Shape 20"/>
          <p:cNvSpPr/>
          <p:nvPr/>
        </p:nvSpPr>
        <p:spPr>
          <a:xfrm>
            <a:off x="10515600" y="3017520"/>
            <a:ext cx="365760" cy="365760"/>
          </a:xfrm>
          <a:prstGeom prst="ellipse">
            <a:avLst/>
          </a:prstGeom>
          <a:solidFill>
            <a:srgbClr val="6B4E8F"/>
          </a:solidFill>
          <a:ln/>
        </p:spPr>
        <p:txBody>
          <a:bodyPr/>
          <a:lstStyle/>
          <a:p>
            <a:endParaRPr lang="en-US"/>
          </a:p>
        </p:txBody>
      </p:sp>
      <p:sp>
        <p:nvSpPr>
          <p:cNvPr id="23" name="Shape 21"/>
          <p:cNvSpPr/>
          <p:nvPr/>
        </p:nvSpPr>
        <p:spPr>
          <a:xfrm>
            <a:off x="7680960" y="4206240"/>
            <a:ext cx="365760" cy="365760"/>
          </a:xfrm>
          <a:prstGeom prst="ellipse">
            <a:avLst/>
          </a:prstGeom>
          <a:solidFill>
            <a:srgbClr val="6B4E8F"/>
          </a:solidFill>
          <a:ln/>
        </p:spPr>
        <p:txBody>
          <a:bodyPr/>
          <a:lstStyle/>
          <a:p>
            <a:endParaRPr lang="en-US"/>
          </a:p>
        </p:txBody>
      </p:sp>
      <p:sp>
        <p:nvSpPr>
          <p:cNvPr id="24" name="Shape 22"/>
          <p:cNvSpPr/>
          <p:nvPr/>
        </p:nvSpPr>
        <p:spPr>
          <a:xfrm>
            <a:off x="9326880" y="4480560"/>
            <a:ext cx="365760" cy="365760"/>
          </a:xfrm>
          <a:prstGeom prst="ellipse">
            <a:avLst/>
          </a:prstGeom>
          <a:solidFill>
            <a:srgbClr val="D6336C"/>
          </a:solidFill>
          <a:ln/>
        </p:spPr>
        <p:txBody>
          <a:bodyPr/>
          <a:lstStyle/>
          <a:p>
            <a:endParaRPr lang="en-US"/>
          </a:p>
        </p:txBody>
      </p:sp>
      <p:sp>
        <p:nvSpPr>
          <p:cNvPr id="25" name="Shape 23"/>
          <p:cNvSpPr/>
          <p:nvPr/>
        </p:nvSpPr>
        <p:spPr>
          <a:xfrm>
            <a:off x="10607040" y="5120640"/>
            <a:ext cx="365760" cy="365760"/>
          </a:xfrm>
          <a:prstGeom prst="ellipse">
            <a:avLst/>
          </a:prstGeom>
          <a:solidFill>
            <a:srgbClr val="6B4E8F"/>
          </a:solidFill>
          <a:ln/>
        </p:spPr>
        <p:txBody>
          <a:bodyPr/>
          <a:lstStyle/>
          <a:p>
            <a:endParaRPr lang="en-US"/>
          </a:p>
        </p:txBody>
      </p:sp>
      <p:sp>
        <p:nvSpPr>
          <p:cNvPr id="26" name="Shape 24"/>
          <p:cNvSpPr/>
          <p:nvPr/>
        </p:nvSpPr>
        <p:spPr>
          <a:xfrm>
            <a:off x="8595360" y="5212080"/>
            <a:ext cx="365760" cy="365760"/>
          </a:xfrm>
          <a:prstGeom prst="ellipse">
            <a:avLst/>
          </a:prstGeom>
          <a:solidFill>
            <a:srgbClr val="6B4E8F"/>
          </a:solidFill>
          <a:ln/>
        </p:spPr>
        <p:txBody>
          <a:bodyPr/>
          <a:lstStyle/>
          <a:p>
            <a:endParaRPr lang="en-US"/>
          </a:p>
        </p:txBody>
      </p:sp>
      <p:sp>
        <p:nvSpPr>
          <p:cNvPr id="27" name="Shape 25"/>
          <p:cNvSpPr/>
          <p:nvPr/>
        </p:nvSpPr>
        <p:spPr>
          <a:xfrm>
            <a:off x="9253728" y="4407408"/>
            <a:ext cx="512064" cy="512064"/>
          </a:xfrm>
          <a:prstGeom prst="ellipse">
            <a:avLst/>
          </a:prstGeom>
          <a:solidFill>
            <a:srgbClr val="D6336C"/>
          </a:solidFill>
          <a:ln w="25400">
            <a:solidFill>
              <a:srgbClr val="4A2C6D"/>
            </a:solidFill>
            <a:prstDash val="solid"/>
          </a:ln>
        </p:spPr>
        <p:txBody>
          <a:bodyPr/>
          <a:lstStyle/>
          <a:p>
            <a:endParaRPr lang="en-US"/>
          </a:p>
        </p:txBody>
      </p:sp>
      <p:sp>
        <p:nvSpPr>
          <p:cNvPr id="28" name="Text 26"/>
          <p:cNvSpPr/>
          <p:nvPr/>
        </p:nvSpPr>
        <p:spPr>
          <a:xfrm>
            <a:off x="9253728" y="4407408"/>
            <a:ext cx="512064"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CLS</a:t>
            </a:r>
            <a:endParaRPr lang="en-US" sz="1150" dirty="0"/>
          </a:p>
        </p:txBody>
      </p:sp>
      <p:sp>
        <p:nvSpPr>
          <p:cNvPr id="29" name="Text 27"/>
          <p:cNvSpPr/>
          <p:nvPr/>
        </p:nvSpPr>
        <p:spPr>
          <a:xfrm>
            <a:off x="6492240" y="5715000"/>
            <a:ext cx="5120640" cy="365760"/>
          </a:xfrm>
          <a:prstGeom prst="rect">
            <a:avLst/>
          </a:prstGeom>
          <a:noFill/>
          <a:ln/>
        </p:spPr>
        <p:txBody>
          <a:bodyPr wrap="square" lIns="0" tIns="0" rIns="0" bIns="0" rtlCol="0" anchor="ctr"/>
          <a:lstStyle/>
          <a:p>
            <a:pPr marL="0" indent="0" algn="ctr">
              <a:buNone/>
            </a:pPr>
            <a:r>
              <a:rPr lang="en-US" sz="1350" dirty="0">
                <a:solidFill>
                  <a:srgbClr val="8A7F99"/>
                </a:solidFill>
                <a:latin typeface="Calibri" pitchFamily="34" charset="0"/>
                <a:ea typeface="Calibri" pitchFamily="34" charset="-122"/>
                <a:cs typeface="Calibri" pitchFamily="34" charset="-120"/>
              </a:rPr>
              <a:t>[CLS] token aggregates a fully-connected attention graph</a:t>
            </a:r>
            <a:endParaRPr lang="en-US" sz="1350" dirty="0"/>
          </a:p>
        </p:txBody>
      </p:sp>
      <p:sp>
        <p:nvSpPr>
          <p:cNvPr id="30" name="Text 2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1" name="Text 29"/>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29</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ARCHITECTURE · LANDSCAPE</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Choosing an aggregator</a:t>
            </a:r>
            <a:endParaRPr lang="en-US" sz="2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08792"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3822192">
                  <a:extLst>
                    <a:ext uri="{9D8B030D-6E8A-4147-A177-3AD203B41FA5}">
                      <a16:colId xmlns:a16="http://schemas.microsoft.com/office/drawing/2014/main" val="20004"/>
                    </a:ext>
                  </a:extLst>
                </a:gridCol>
              </a:tblGrid>
              <a:tr h="50292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Pooling idea</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Interpretable?</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When to use</a:t>
                      </a:r>
                      <a:endParaRPr lang="en-US" sz="12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4A2C6D"/>
                    </a:solidFill>
                  </a:tcPr>
                </a:tc>
                <a:extLst>
                  <a:ext uri="{0D108BD9-81ED-4DB2-BD59-A6C34878D82A}">
                    <a16:rowId xmlns:a16="http://schemas.microsoft.com/office/drawing/2014/main" val="10000"/>
                  </a:ext>
                </a:extLst>
              </a:tr>
              <a:tr h="502920">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Mean / Max</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Fixed average / maximum</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Weak</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Always — as a baseline</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ABMIL</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Learned attention-weighted sum</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Yes (aᵢ)</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Strong, simple default</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extLst>
                  <a:ext uri="{0D108BD9-81ED-4DB2-BD59-A6C34878D82A}">
                    <a16:rowId xmlns:a16="http://schemas.microsoft.com/office/drawing/2014/main" val="10002"/>
                  </a:ext>
                </a:extLst>
              </a:tr>
              <a:tr h="502920">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CLAM</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Gated attn + instance clustering</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Yes (aᵢ)</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Few slides; want robustness + heatmaps</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DSMIL</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Dual-stream: critical + bag stream</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Max-instance anchored attention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extLst>
                  <a:ext uri="{0D108BD9-81ED-4DB2-BD59-A6C34878D82A}">
                    <a16:rowId xmlns:a16="http://schemas.microsoft.com/office/drawing/2014/main" val="10004"/>
                  </a:ext>
                </a:extLst>
              </a:tr>
              <a:tr h="502920">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TransMIL</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Self-attention (Nyström) + CLS</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Partial</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Inter-patch context matters</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DTFD-MIL</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Pseudo-bags + 2-tier distillation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Partial</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O(N)</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tc>
                  <a:txBody>
                    <a:bodyPr/>
                    <a:lstStyle/>
                    <a:p>
                      <a:pPr marL="0" indent="0" algn="l">
                        <a:buNone/>
                      </a:pPr>
                      <a:r>
                        <a:rPr lang="en-US" sz="1150" dirty="0">
                          <a:solidFill>
                            <a:srgbClr val="2A2233"/>
                          </a:solidFill>
                          <a:latin typeface="Calibri" pitchFamily="34" charset="0"/>
                          <a:ea typeface="Calibri" pitchFamily="34" charset="-122"/>
                          <a:cs typeface="Calibri" pitchFamily="34" charset="-120"/>
                        </a:rPr>
                        <a:t>Very small cohorts / noisy bags</a:t>
                      </a:r>
                      <a:endParaRPr lang="en-US" sz="1150" dirty="0">
                        <a:latin typeface="Calibri" charset="0"/>
                        <a:ea typeface="Calibri" charset="0"/>
                        <a:cs typeface="Calibri" charset="0"/>
                      </a:endParaRPr>
                    </a:p>
                  </a:txBody>
                  <a:tcPr marL="38100" marR="38100" marT="38100" marB="38100" anchor="ctr">
                    <a:lnL w="12700" cap="flat" cmpd="sng" algn="ctr">
                      <a:solidFill>
                        <a:srgbClr val="E4DCEC"/>
                      </a:solidFill>
                      <a:prstDash val="solid"/>
                      <a:round/>
                      <a:headEnd type="none" w="med" len="med"/>
                      <a:tailEnd type="none" w="med" len="med"/>
                    </a:lnL>
                    <a:lnR w="12700" cap="flat" cmpd="sng" algn="ctr">
                      <a:solidFill>
                        <a:srgbClr val="E4DCEC"/>
                      </a:solidFill>
                      <a:prstDash val="solid"/>
                      <a:round/>
                      <a:headEnd type="none" w="med" len="med"/>
                      <a:tailEnd type="none" w="med" len="med"/>
                    </a:lnR>
                    <a:lnT w="12700" cap="flat" cmpd="sng" algn="ctr">
                      <a:solidFill>
                        <a:srgbClr val="E4DCEC"/>
                      </a:solidFill>
                      <a:prstDash val="solid"/>
                      <a:round/>
                      <a:headEnd type="none" w="med" len="med"/>
                      <a:tailEnd type="none" w="med" len="med"/>
                    </a:lnT>
                    <a:lnB w="12700" cap="flat" cmpd="sng" algn="ctr">
                      <a:solidFill>
                        <a:srgbClr val="E4DCEC"/>
                      </a:solidFill>
                      <a:prstDash val="solid"/>
                      <a:round/>
                      <a:headEnd type="none" w="med" len="med"/>
                      <a:tailEnd type="none" w="med" len="med"/>
                    </a:lnB>
                    <a:solidFill>
                      <a:srgbClr val="F3EEF9"/>
                    </a:solidFill>
                  </a:tcPr>
                </a:tc>
                <a:extLst>
                  <a:ext uri="{0D108BD9-81ED-4DB2-BD59-A6C34878D82A}">
                    <a16:rowId xmlns:a16="http://schemas.microsoft.com/office/drawing/2014/main" val="10006"/>
                  </a:ext>
                </a:extLst>
              </a:tr>
            </a:tbl>
          </a:graphicData>
        </a:graphic>
      </p:graphicFrame>
      <p:sp>
        <p:nvSpPr>
          <p:cNvPr id="6" name="Text 3"/>
          <p:cNvSpPr/>
          <p:nvPr/>
        </p:nvSpPr>
        <p:spPr>
          <a:xfrm>
            <a:off x="640080" y="5943600"/>
            <a:ext cx="10881360" cy="457200"/>
          </a:xfrm>
          <a:prstGeom prst="rect">
            <a:avLst/>
          </a:prstGeom>
          <a:noFill/>
          <a:ln/>
        </p:spPr>
        <p:txBody>
          <a:bodyPr wrap="square" lIns="0" tIns="0" rIns="0" bIns="0" rtlCol="0" anchor="ctr"/>
          <a:lstStyle/>
          <a:p>
            <a:pPr marL="0" indent="0">
              <a:buNone/>
            </a:pPr>
            <a:r>
              <a:rPr lang="en-US" sz="1450" i="1" dirty="0">
                <a:solidFill>
                  <a:srgbClr val="8A7F99"/>
                </a:solidFill>
                <a:latin typeface="Calibri" pitchFamily="34" charset="0"/>
                <a:ea typeface="Calibri" pitchFamily="34" charset="-122"/>
                <a:cs typeface="Calibri" pitchFamily="34" charset="-120"/>
              </a:rPr>
              <a:t>Practical default: start with CLAM-SB on frozen foundation features. Reach for TransMIL when context helps; DTFD when data is scarce. Always beat mean-pooling first.</a:t>
            </a:r>
            <a:endParaRPr lang="en-US" sz="1450" dirty="0"/>
          </a:p>
        </p:txBody>
      </p:sp>
      <p:sp>
        <p:nvSpPr>
          <p:cNvPr id="7" name="Text 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8" name="Text 5"/>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30</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6</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Training Protocols</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How to actually train and validate a MIL model</a:t>
            </a:r>
            <a:endParaRPr lang="en-US" sz="1800" dirty="0"/>
          </a:p>
        </p:txBody>
      </p:sp>
      <p:sp>
        <p:nvSpPr>
          <p:cNvPr id="8" name="Shape 6"/>
          <p:cNvSpPr/>
          <p:nvPr/>
        </p:nvSpPr>
        <p:spPr>
          <a:xfrm>
            <a:off x="2697480" y="4572000"/>
            <a:ext cx="3383280" cy="457200"/>
          </a:xfrm>
          <a:prstGeom prst="roundRect">
            <a:avLst>
              <a:gd name="adj" fmla="val 16000"/>
            </a:avLst>
          </a:prstGeom>
          <a:solidFill>
            <a:srgbClr val="1C8C8C"/>
          </a:solidFill>
          <a:ln/>
        </p:spPr>
        <p:txBody>
          <a:bodyPr/>
          <a:lstStyle/>
          <a:p>
            <a:endParaRPr lang="en-US"/>
          </a:p>
        </p:txBody>
      </p:sp>
      <p:sp>
        <p:nvSpPr>
          <p:cNvPr id="9" name="Text 7"/>
          <p:cNvSpPr/>
          <p:nvPr/>
        </p:nvSpPr>
        <p:spPr>
          <a:xfrm>
            <a:off x="2697480" y="4572000"/>
            <a:ext cx="338328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  Hands-on notebook included</a:t>
            </a:r>
            <a:endParaRPr lang="en-US" sz="145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11" name="Text 9"/>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31</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TRAINING · THE PIPELINE</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Two stages: encode offline, train online</a:t>
            </a:r>
            <a:endParaRPr lang="en-US" sz="2900" dirty="0"/>
          </a:p>
        </p:txBody>
      </p:sp>
      <p:sp>
        <p:nvSpPr>
          <p:cNvPr id="5" name="Shape 3"/>
          <p:cNvSpPr/>
          <p:nvPr/>
        </p:nvSpPr>
        <p:spPr>
          <a:xfrm>
            <a:off x="640080" y="1554480"/>
            <a:ext cx="5486400" cy="224028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54480"/>
            <a:ext cx="82296" cy="2240280"/>
          </a:xfrm>
          <a:prstGeom prst="rect">
            <a:avLst/>
          </a:prstGeom>
          <a:solidFill>
            <a:srgbClr val="4A2C6D"/>
          </a:solidFill>
          <a:ln/>
        </p:spPr>
        <p:txBody>
          <a:bodyPr/>
          <a:lstStyle/>
          <a:p>
            <a:endParaRPr lang="en-US"/>
          </a:p>
        </p:txBody>
      </p:sp>
      <p:sp>
        <p:nvSpPr>
          <p:cNvPr id="7" name="Text 5"/>
          <p:cNvSpPr/>
          <p:nvPr/>
        </p:nvSpPr>
        <p:spPr>
          <a:xfrm>
            <a:off x="896112" y="1691640"/>
            <a:ext cx="502920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Stage 1 · Offline (once)</a:t>
            </a:r>
            <a:endParaRPr lang="en-US" sz="1700" dirty="0"/>
          </a:p>
        </p:txBody>
      </p:sp>
      <p:sp>
        <p:nvSpPr>
          <p:cNvPr id="8" name="Text 6"/>
          <p:cNvSpPr/>
          <p:nvPr/>
        </p:nvSpPr>
        <p:spPr>
          <a:xfrm>
            <a:off x="896112" y="2103120"/>
            <a:ext cx="5029200" cy="155448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Patch + encode every slide → cache (N×d) bags.</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GPU-heavy, but amortized across all experiments.</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Re-used by every model, fold, and hyperparameter run.</a:t>
            </a:r>
            <a:endParaRPr lang="en-US" sz="1750" dirty="0"/>
          </a:p>
        </p:txBody>
      </p:sp>
      <p:sp>
        <p:nvSpPr>
          <p:cNvPr id="9" name="Shape 7"/>
          <p:cNvSpPr/>
          <p:nvPr/>
        </p:nvSpPr>
        <p:spPr>
          <a:xfrm>
            <a:off x="640080" y="3931920"/>
            <a:ext cx="5486400" cy="219456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640080" y="3931920"/>
            <a:ext cx="82296" cy="2194560"/>
          </a:xfrm>
          <a:prstGeom prst="rect">
            <a:avLst/>
          </a:prstGeom>
          <a:solidFill>
            <a:srgbClr val="D6336C"/>
          </a:solidFill>
          <a:ln/>
        </p:spPr>
        <p:txBody>
          <a:bodyPr/>
          <a:lstStyle/>
          <a:p>
            <a:endParaRPr lang="en-US"/>
          </a:p>
        </p:txBody>
      </p:sp>
      <p:sp>
        <p:nvSpPr>
          <p:cNvPr id="11" name="Text 9"/>
          <p:cNvSpPr/>
          <p:nvPr/>
        </p:nvSpPr>
        <p:spPr>
          <a:xfrm>
            <a:off x="896112" y="4069080"/>
            <a:ext cx="5029200" cy="365760"/>
          </a:xfrm>
          <a:prstGeom prst="rect">
            <a:avLst/>
          </a:prstGeom>
          <a:noFill/>
          <a:ln/>
        </p:spPr>
        <p:txBody>
          <a:bodyPr wrap="square" lIns="0" tIns="0" rIns="0" bIns="0" rtlCol="0" anchor="ctr"/>
          <a:lstStyle/>
          <a:p>
            <a:pPr marL="0" indent="0">
              <a:buNone/>
            </a:pPr>
            <a:r>
              <a:rPr lang="en-US" sz="1700" b="1" dirty="0">
                <a:solidFill>
                  <a:srgbClr val="D6336C"/>
                </a:solidFill>
                <a:latin typeface="Calibri" pitchFamily="34" charset="0"/>
                <a:ea typeface="Calibri" pitchFamily="34" charset="-122"/>
                <a:cs typeface="Calibri" pitchFamily="34" charset="-120"/>
              </a:rPr>
              <a:t>Stage 2 · Online (per experiment)</a:t>
            </a:r>
            <a:endParaRPr lang="en-US" sz="1700" dirty="0"/>
          </a:p>
        </p:txBody>
      </p:sp>
      <p:sp>
        <p:nvSpPr>
          <p:cNvPr id="12" name="Text 10"/>
          <p:cNvSpPr/>
          <p:nvPr/>
        </p:nvSpPr>
        <p:spPr>
          <a:xfrm>
            <a:off x="896112" y="4480560"/>
            <a:ext cx="5029200" cy="155448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Load cached bags; train only the aggregator.</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One bag = one 'batch' (variable N) → batch size 1, or pad/bucket.</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Minutes per run on a single GPU (or even CPU).</a:t>
            </a:r>
            <a:endParaRPr lang="en-US" sz="1750" dirty="0"/>
          </a:p>
        </p:txBody>
      </p:sp>
      <p:sp>
        <p:nvSpPr>
          <p:cNvPr id="13" name="Shape 11"/>
          <p:cNvSpPr/>
          <p:nvPr/>
        </p:nvSpPr>
        <p:spPr>
          <a:xfrm>
            <a:off x="6355080" y="1554480"/>
            <a:ext cx="5440680" cy="4572000"/>
          </a:xfrm>
          <a:prstGeom prst="rect">
            <a:avLst/>
          </a:prstGeom>
          <a:solidFill>
            <a:srgbClr val="2B2138"/>
          </a:solidFill>
          <a:ln w="12700">
            <a:solidFill>
              <a:srgbClr val="6B4E8F"/>
            </a:solidFill>
            <a:prstDash val="solid"/>
          </a:ln>
        </p:spPr>
        <p:txBody>
          <a:bodyPr/>
          <a:lstStyle/>
          <a:p>
            <a:endParaRPr lang="en-US"/>
          </a:p>
        </p:txBody>
      </p:sp>
      <p:sp>
        <p:nvSpPr>
          <p:cNvPr id="14" name="Text 12"/>
          <p:cNvSpPr/>
          <p:nvPr/>
        </p:nvSpPr>
        <p:spPr>
          <a:xfrm>
            <a:off x="6519672" y="1664208"/>
            <a:ext cx="5129784" cy="4352544"/>
          </a:xfrm>
          <a:prstGeom prst="rect">
            <a:avLst/>
          </a:prstGeom>
          <a:noFill/>
          <a:ln/>
        </p:spPr>
        <p:txBody>
          <a:bodyPr wrap="square" lIns="0" tIns="0" rIns="0" bIns="0" rtlCol="0" anchor="t"/>
          <a:lstStyle/>
          <a:p>
            <a:pPr marL="0" indent="0">
              <a:spcAft>
                <a:spcPts val="200"/>
              </a:spcAft>
              <a:buNone/>
            </a:pPr>
            <a:r>
              <a:rPr lang="en-US" sz="1350" dirty="0">
                <a:solidFill>
                  <a:srgbClr val="9A8CB0"/>
                </a:solidFill>
                <a:latin typeface="Courier New" pitchFamily="34" charset="0"/>
                <a:ea typeface="Courier New" pitchFamily="34" charset="-122"/>
                <a:cs typeface="Courier New" pitchFamily="34" charset="-120"/>
              </a:rPr>
              <a:t># stage 2: train the aggregator</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model = CLAM_SB(in_dim=1536, n_classes=2)</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opt = AdamW(model.parameters(), lr=2e-4,</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            weight_decay=1e-5)</a:t>
            </a:r>
            <a:endParaRPr lang="en-US" sz="1350" dirty="0"/>
          </a:p>
          <a:p>
            <a:pPr marL="0" indent="0">
              <a:spcAft>
                <a:spcPts val="200"/>
              </a:spcAft>
              <a:buNone/>
            </a:pP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for epoch in range(max_epochs):</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  for bag, y in train_loader:   # bag: (N,d)</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    logits, A, inst_loss = model(bag)</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    loss = ce(logits, y) + 0.3*inst_loss</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    loss.backward(); opt.step(); opt.zero_grad()</a:t>
            </a:r>
            <a:endParaRPr lang="en-US" sz="1350" dirty="0"/>
          </a:p>
          <a:p>
            <a:pPr marL="0" indent="0">
              <a:spcAft>
                <a:spcPts val="200"/>
              </a:spcAft>
              <a:buNone/>
            </a:pP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  auc = evaluate(model, val_loader)</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  early_stopping(auc)            # patience ~20</a:t>
            </a:r>
            <a:endParaRPr lang="en-US" sz="1350" dirty="0"/>
          </a:p>
          <a:p>
            <a:pPr marL="0" indent="0">
              <a:spcAft>
                <a:spcPts val="200"/>
              </a:spcAft>
              <a:buNone/>
            </a:pPr>
            <a:endParaRPr lang="en-US" sz="1350" dirty="0"/>
          </a:p>
          <a:p>
            <a:pPr marL="0" indent="0">
              <a:spcAft>
                <a:spcPts val="200"/>
              </a:spcAft>
              <a:buNone/>
            </a:pPr>
            <a:r>
              <a:rPr lang="en-US" sz="1350" dirty="0">
                <a:solidFill>
                  <a:srgbClr val="9A8CB0"/>
                </a:solidFill>
                <a:latin typeface="Courier New" pitchFamily="34" charset="0"/>
                <a:ea typeface="Courier New" pitchFamily="34" charset="-122"/>
                <a:cs typeface="Courier New" pitchFamily="34" charset="-120"/>
              </a:rPr>
              <a:t># bags vary in size → batch_size = 1</a:t>
            </a:r>
            <a:endParaRPr lang="en-US" sz="1350" dirty="0"/>
          </a:p>
          <a:p>
            <a:pPr marL="0" indent="0">
              <a:spcAft>
                <a:spcPts val="200"/>
              </a:spcAft>
              <a:buNone/>
            </a:pPr>
            <a:r>
              <a:rPr lang="en-US" sz="1350" dirty="0">
                <a:solidFill>
                  <a:srgbClr val="9A8CB0"/>
                </a:solidFill>
                <a:latin typeface="Courier New" pitchFamily="34" charset="0"/>
                <a:ea typeface="Courier New" pitchFamily="34" charset="-122"/>
                <a:cs typeface="Courier New" pitchFamily="34" charset="-120"/>
              </a:rPr>
              <a:t># (or bucket by N and pad with a mask)</a:t>
            </a:r>
            <a:endParaRPr lang="en-US" sz="1350" dirty="0"/>
          </a:p>
        </p:txBody>
      </p:sp>
      <p:sp>
        <p:nvSpPr>
          <p:cNvPr id="15" name="Text 1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16" name="Text 14"/>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32</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TRAINING · OBJECTIVES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Loss functions for MIL</a:t>
            </a:r>
            <a:endParaRPr lang="en-US" sz="2900" dirty="0"/>
          </a:p>
        </p:txBody>
      </p:sp>
      <p:sp>
        <p:nvSpPr>
          <p:cNvPr id="5" name="Shape 3"/>
          <p:cNvSpPr/>
          <p:nvPr/>
        </p:nvSpPr>
        <p:spPr>
          <a:xfrm>
            <a:off x="640080" y="1508760"/>
            <a:ext cx="11155680" cy="14173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1417320"/>
          </a:xfrm>
          <a:prstGeom prst="rect">
            <a:avLst/>
          </a:prstGeom>
          <a:solidFill>
            <a:srgbClr val="D6336C"/>
          </a:solidFill>
          <a:ln/>
        </p:spPr>
        <p:txBody>
          <a:bodyPr/>
          <a:lstStyle/>
          <a:p>
            <a:endParaRPr lang="en-US"/>
          </a:p>
        </p:txBody>
      </p:sp>
      <p:sp>
        <p:nvSpPr>
          <p:cNvPr id="7" name="Text 5"/>
          <p:cNvSpPr/>
          <p:nvPr/>
        </p:nvSpPr>
        <p:spPr>
          <a:xfrm>
            <a:off x="896112" y="1655064"/>
            <a:ext cx="5943600" cy="365760"/>
          </a:xfrm>
          <a:prstGeom prst="rect">
            <a:avLst/>
          </a:prstGeom>
          <a:noFill/>
          <a:ln/>
        </p:spPr>
        <p:txBody>
          <a:bodyPr wrap="square" lIns="0" tIns="0" rIns="0" bIns="0" rtlCol="0" anchor="ctr"/>
          <a:lstStyle/>
          <a:p>
            <a:pPr marL="0" indent="0">
              <a:buNone/>
            </a:pPr>
            <a:r>
              <a:rPr lang="en-US" sz="1750" b="1" dirty="0">
                <a:solidFill>
                  <a:srgbClr val="4A2C6D"/>
                </a:solidFill>
                <a:latin typeface="Calibri" pitchFamily="34" charset="0"/>
                <a:ea typeface="Calibri" pitchFamily="34" charset="-122"/>
                <a:cs typeface="Calibri" pitchFamily="34" charset="-120"/>
              </a:rPr>
              <a:t>Bag classification loss</a:t>
            </a:r>
            <a:endParaRPr lang="en-US" sz="1750" dirty="0"/>
          </a:p>
        </p:txBody>
      </p:sp>
      <p:sp>
        <p:nvSpPr>
          <p:cNvPr id="8" name="Text 6"/>
          <p:cNvSpPr/>
          <p:nvPr/>
        </p:nvSpPr>
        <p:spPr>
          <a:xfrm>
            <a:off x="896112" y="2057400"/>
            <a:ext cx="6766560" cy="777240"/>
          </a:xfrm>
          <a:prstGeom prst="rect">
            <a:avLst/>
          </a:prstGeom>
          <a:noFill/>
          <a:ln/>
        </p:spPr>
        <p:txBody>
          <a:bodyPr wrap="square" lIns="0" tIns="0" rIns="0" bIns="0" rtlCol="0" anchor="t"/>
          <a:lstStyle/>
          <a:p>
            <a:pPr marL="0" indent="0">
              <a:buNone/>
            </a:pPr>
            <a:r>
              <a:rPr lang="en-US" sz="1550" dirty="0">
                <a:solidFill>
                  <a:srgbClr val="2A2233"/>
                </a:solidFill>
                <a:latin typeface="Calibri" pitchFamily="34" charset="0"/>
                <a:ea typeface="Calibri" pitchFamily="34" charset="-122"/>
                <a:cs typeface="Calibri" pitchFamily="34" charset="-120"/>
              </a:rPr>
              <a:t>Cross-entropy on the slide logits — the primary signal. Use weighted CE for class imbalance.</a:t>
            </a:r>
            <a:endParaRPr lang="en-US" sz="1550" dirty="0"/>
          </a:p>
        </p:txBody>
      </p:sp>
      <p:sp>
        <p:nvSpPr>
          <p:cNvPr id="9" name="Shape 7"/>
          <p:cNvSpPr/>
          <p:nvPr/>
        </p:nvSpPr>
        <p:spPr>
          <a:xfrm>
            <a:off x="7680960" y="1892808"/>
            <a:ext cx="3886200" cy="640080"/>
          </a:xfrm>
          <a:prstGeom prst="rect">
            <a:avLst/>
          </a:prstGeom>
          <a:solidFill>
            <a:srgbClr val="2B2138"/>
          </a:solidFill>
          <a:ln/>
        </p:spPr>
        <p:txBody>
          <a:bodyPr/>
          <a:lstStyle/>
          <a:p>
            <a:endParaRPr lang="en-US"/>
          </a:p>
        </p:txBody>
      </p:sp>
      <p:sp>
        <p:nvSpPr>
          <p:cNvPr id="10" name="Text 8"/>
          <p:cNvSpPr/>
          <p:nvPr/>
        </p:nvSpPr>
        <p:spPr>
          <a:xfrm>
            <a:off x="7726680" y="1892808"/>
            <a:ext cx="3794760" cy="640080"/>
          </a:xfrm>
          <a:prstGeom prst="rect">
            <a:avLst/>
          </a:prstGeom>
          <a:noFill/>
          <a:ln/>
        </p:spPr>
        <p:txBody>
          <a:bodyPr wrap="square" lIns="0" tIns="0" rIns="0" bIns="0" rtlCol="0" anchor="ctr"/>
          <a:lstStyle/>
          <a:p>
            <a:pPr marL="0" indent="0" algn="ctr">
              <a:buNone/>
            </a:pPr>
            <a:r>
              <a:rPr lang="en-US" sz="1350" dirty="0">
                <a:solidFill>
                  <a:srgbClr val="EDE6F5"/>
                </a:solidFill>
                <a:latin typeface="Courier New" pitchFamily="34" charset="0"/>
                <a:ea typeface="Courier New" pitchFamily="34" charset="-122"/>
                <a:cs typeface="Courier New" pitchFamily="34" charset="-120"/>
              </a:rPr>
              <a:t>L_bag = CE(g(z), Y)</a:t>
            </a:r>
            <a:endParaRPr lang="en-US" sz="1350" dirty="0"/>
          </a:p>
        </p:txBody>
      </p:sp>
      <p:sp>
        <p:nvSpPr>
          <p:cNvPr id="11" name="Shape 9"/>
          <p:cNvSpPr/>
          <p:nvPr/>
        </p:nvSpPr>
        <p:spPr>
          <a:xfrm>
            <a:off x="640080" y="3063240"/>
            <a:ext cx="11155680" cy="14173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10"/>
          <p:cNvSpPr/>
          <p:nvPr/>
        </p:nvSpPr>
        <p:spPr>
          <a:xfrm>
            <a:off x="640080" y="3063240"/>
            <a:ext cx="82296" cy="1417320"/>
          </a:xfrm>
          <a:prstGeom prst="rect">
            <a:avLst/>
          </a:prstGeom>
          <a:solidFill>
            <a:srgbClr val="1C8C8C"/>
          </a:solidFill>
          <a:ln/>
        </p:spPr>
        <p:txBody>
          <a:bodyPr/>
          <a:lstStyle/>
          <a:p>
            <a:endParaRPr lang="en-US"/>
          </a:p>
        </p:txBody>
      </p:sp>
      <p:sp>
        <p:nvSpPr>
          <p:cNvPr id="13" name="Text 11"/>
          <p:cNvSpPr/>
          <p:nvPr/>
        </p:nvSpPr>
        <p:spPr>
          <a:xfrm>
            <a:off x="896112" y="3209544"/>
            <a:ext cx="5943600" cy="365760"/>
          </a:xfrm>
          <a:prstGeom prst="rect">
            <a:avLst/>
          </a:prstGeom>
          <a:noFill/>
          <a:ln/>
        </p:spPr>
        <p:txBody>
          <a:bodyPr wrap="square" lIns="0" tIns="0" rIns="0" bIns="0" rtlCol="0" anchor="ctr"/>
          <a:lstStyle/>
          <a:p>
            <a:pPr marL="0" indent="0">
              <a:buNone/>
            </a:pPr>
            <a:r>
              <a:rPr lang="en-US" sz="1750" b="1" dirty="0">
                <a:solidFill>
                  <a:srgbClr val="4A2C6D"/>
                </a:solidFill>
                <a:latin typeface="Calibri" pitchFamily="34" charset="0"/>
                <a:ea typeface="Calibri" pitchFamily="34" charset="-122"/>
                <a:cs typeface="Calibri" pitchFamily="34" charset="-120"/>
              </a:rPr>
              <a:t>Instance clustering loss (CLAM)</a:t>
            </a:r>
            <a:endParaRPr lang="en-US" sz="1750" dirty="0"/>
          </a:p>
        </p:txBody>
      </p:sp>
      <p:sp>
        <p:nvSpPr>
          <p:cNvPr id="14" name="Text 12"/>
          <p:cNvSpPr/>
          <p:nvPr/>
        </p:nvSpPr>
        <p:spPr>
          <a:xfrm>
            <a:off x="896112" y="3611880"/>
            <a:ext cx="6766560" cy="777240"/>
          </a:xfrm>
          <a:prstGeom prst="rect">
            <a:avLst/>
          </a:prstGeom>
          <a:noFill/>
          <a:ln/>
        </p:spPr>
        <p:txBody>
          <a:bodyPr wrap="square" lIns="0" tIns="0" rIns="0" bIns="0" rtlCol="0" anchor="t"/>
          <a:lstStyle/>
          <a:p>
            <a:pPr marL="0" indent="0">
              <a:buNone/>
            </a:pPr>
            <a:r>
              <a:rPr lang="en-US" sz="1550" dirty="0">
                <a:solidFill>
                  <a:srgbClr val="2A2233"/>
                </a:solidFill>
                <a:latin typeface="Calibri" pitchFamily="34" charset="0"/>
                <a:ea typeface="Calibri" pitchFamily="34" charset="-122"/>
                <a:cs typeface="Calibri" pitchFamily="34" charset="-120"/>
              </a:rPr>
              <a:t>Auxiliary supervised loss on top-/bottom-k attended patches; sharpens attention. Weighted by λ (~0.3).</a:t>
            </a:r>
            <a:endParaRPr lang="en-US" sz="1550" dirty="0"/>
          </a:p>
        </p:txBody>
      </p:sp>
      <p:sp>
        <p:nvSpPr>
          <p:cNvPr id="15" name="Shape 13"/>
          <p:cNvSpPr/>
          <p:nvPr/>
        </p:nvSpPr>
        <p:spPr>
          <a:xfrm>
            <a:off x="7680960" y="3447288"/>
            <a:ext cx="3886200" cy="640080"/>
          </a:xfrm>
          <a:prstGeom prst="rect">
            <a:avLst/>
          </a:prstGeom>
          <a:solidFill>
            <a:srgbClr val="2B2138"/>
          </a:solidFill>
          <a:ln/>
        </p:spPr>
        <p:txBody>
          <a:bodyPr/>
          <a:lstStyle/>
          <a:p>
            <a:endParaRPr lang="en-US"/>
          </a:p>
        </p:txBody>
      </p:sp>
      <p:sp>
        <p:nvSpPr>
          <p:cNvPr id="16" name="Text 14"/>
          <p:cNvSpPr/>
          <p:nvPr/>
        </p:nvSpPr>
        <p:spPr>
          <a:xfrm>
            <a:off x="7726680" y="3447288"/>
            <a:ext cx="3794760" cy="640080"/>
          </a:xfrm>
          <a:prstGeom prst="rect">
            <a:avLst/>
          </a:prstGeom>
          <a:noFill/>
          <a:ln/>
        </p:spPr>
        <p:txBody>
          <a:bodyPr wrap="square" lIns="0" tIns="0" rIns="0" bIns="0" rtlCol="0" anchor="ctr"/>
          <a:lstStyle/>
          <a:p>
            <a:pPr marL="0" indent="0" algn="ctr">
              <a:buNone/>
            </a:pPr>
            <a:r>
              <a:rPr lang="en-US" sz="1350" dirty="0">
                <a:solidFill>
                  <a:srgbClr val="EDE6F5"/>
                </a:solidFill>
                <a:latin typeface="Courier New" pitchFamily="34" charset="0"/>
                <a:ea typeface="Courier New" pitchFamily="34" charset="-122"/>
                <a:cs typeface="Courier New" pitchFamily="34" charset="-120"/>
              </a:rPr>
              <a:t>L_inst = SmoothSVM(top/bottom-k)</a:t>
            </a:r>
            <a:endParaRPr lang="en-US" sz="1350" dirty="0"/>
          </a:p>
        </p:txBody>
      </p:sp>
      <p:sp>
        <p:nvSpPr>
          <p:cNvPr id="17" name="Shape 15"/>
          <p:cNvSpPr/>
          <p:nvPr/>
        </p:nvSpPr>
        <p:spPr>
          <a:xfrm>
            <a:off x="640080" y="4617720"/>
            <a:ext cx="11155680" cy="14173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40080" y="4617720"/>
            <a:ext cx="82296" cy="1417320"/>
          </a:xfrm>
          <a:prstGeom prst="rect">
            <a:avLst/>
          </a:prstGeom>
          <a:solidFill>
            <a:srgbClr val="4A2C6D"/>
          </a:solidFill>
          <a:ln/>
        </p:spPr>
        <p:txBody>
          <a:bodyPr/>
          <a:lstStyle/>
          <a:p>
            <a:endParaRPr lang="en-US"/>
          </a:p>
        </p:txBody>
      </p:sp>
      <p:sp>
        <p:nvSpPr>
          <p:cNvPr id="19" name="Text 17"/>
          <p:cNvSpPr/>
          <p:nvPr/>
        </p:nvSpPr>
        <p:spPr>
          <a:xfrm>
            <a:off x="896112" y="4764024"/>
            <a:ext cx="5943600" cy="365760"/>
          </a:xfrm>
          <a:prstGeom prst="rect">
            <a:avLst/>
          </a:prstGeom>
          <a:noFill/>
          <a:ln/>
        </p:spPr>
        <p:txBody>
          <a:bodyPr wrap="square" lIns="0" tIns="0" rIns="0" bIns="0" rtlCol="0" anchor="ctr"/>
          <a:lstStyle/>
          <a:p>
            <a:pPr marL="0" indent="0">
              <a:buNone/>
            </a:pPr>
            <a:r>
              <a:rPr lang="en-US" sz="1750" b="1" dirty="0">
                <a:solidFill>
                  <a:srgbClr val="4A2C6D"/>
                </a:solidFill>
                <a:latin typeface="Calibri" pitchFamily="34" charset="0"/>
                <a:ea typeface="Calibri" pitchFamily="34" charset="-122"/>
                <a:cs typeface="Calibri" pitchFamily="34" charset="-120"/>
              </a:rPr>
              <a:t>Survival / regression heads</a:t>
            </a:r>
            <a:endParaRPr lang="en-US" sz="1750" dirty="0"/>
          </a:p>
        </p:txBody>
      </p:sp>
      <p:sp>
        <p:nvSpPr>
          <p:cNvPr id="20" name="Text 18"/>
          <p:cNvSpPr/>
          <p:nvPr/>
        </p:nvSpPr>
        <p:spPr>
          <a:xfrm>
            <a:off x="896112" y="5166360"/>
            <a:ext cx="6766560" cy="777240"/>
          </a:xfrm>
          <a:prstGeom prst="rect">
            <a:avLst/>
          </a:prstGeom>
          <a:noFill/>
          <a:ln/>
        </p:spPr>
        <p:txBody>
          <a:bodyPr wrap="square" lIns="0" tIns="0" rIns="0" bIns="0" rtlCol="0" anchor="t"/>
          <a:lstStyle/>
          <a:p>
            <a:pPr marL="0" indent="0">
              <a:buNone/>
            </a:pPr>
            <a:r>
              <a:rPr lang="en-US" sz="1550" dirty="0">
                <a:solidFill>
                  <a:srgbClr val="2A2233"/>
                </a:solidFill>
                <a:latin typeface="Calibri" pitchFamily="34" charset="0"/>
                <a:ea typeface="Calibri" pitchFamily="34" charset="-122"/>
                <a:cs typeface="Calibri" pitchFamily="34" charset="-120"/>
              </a:rPr>
              <a:t>For outcome tasks: Cox partial-likelihood or NLL; for biomarker levels: MSE. Same backbone.</a:t>
            </a:r>
            <a:endParaRPr lang="en-US" sz="1550" dirty="0"/>
          </a:p>
        </p:txBody>
      </p:sp>
      <p:sp>
        <p:nvSpPr>
          <p:cNvPr id="21" name="Shape 19"/>
          <p:cNvSpPr/>
          <p:nvPr/>
        </p:nvSpPr>
        <p:spPr>
          <a:xfrm>
            <a:off x="7680960" y="5001768"/>
            <a:ext cx="3886200" cy="640080"/>
          </a:xfrm>
          <a:prstGeom prst="rect">
            <a:avLst/>
          </a:prstGeom>
          <a:solidFill>
            <a:srgbClr val="2B2138"/>
          </a:solidFill>
          <a:ln/>
        </p:spPr>
        <p:txBody>
          <a:bodyPr/>
          <a:lstStyle/>
          <a:p>
            <a:endParaRPr lang="en-US"/>
          </a:p>
        </p:txBody>
      </p:sp>
      <p:sp>
        <p:nvSpPr>
          <p:cNvPr id="22" name="Text 20"/>
          <p:cNvSpPr/>
          <p:nvPr/>
        </p:nvSpPr>
        <p:spPr>
          <a:xfrm>
            <a:off x="7726680" y="5001768"/>
            <a:ext cx="3794760" cy="640080"/>
          </a:xfrm>
          <a:prstGeom prst="rect">
            <a:avLst/>
          </a:prstGeom>
          <a:noFill/>
          <a:ln/>
        </p:spPr>
        <p:txBody>
          <a:bodyPr wrap="square" lIns="0" tIns="0" rIns="0" bIns="0" rtlCol="0" anchor="ctr"/>
          <a:lstStyle/>
          <a:p>
            <a:pPr marL="0" indent="0" algn="ctr">
              <a:buNone/>
            </a:pPr>
            <a:r>
              <a:rPr lang="en-US" sz="1350" dirty="0">
                <a:solidFill>
                  <a:srgbClr val="EDE6F5"/>
                </a:solidFill>
                <a:latin typeface="Courier New" pitchFamily="34" charset="0"/>
                <a:ea typeface="Courier New" pitchFamily="34" charset="-122"/>
                <a:cs typeface="Courier New" pitchFamily="34" charset="-120"/>
              </a:rPr>
              <a:t>L = Cox( risk(z), t, event )</a:t>
            </a:r>
            <a:endParaRPr lang="en-US" sz="1350" dirty="0"/>
          </a:p>
        </p:txBody>
      </p:sp>
      <p:sp>
        <p:nvSpPr>
          <p:cNvPr id="23" name="Text 21"/>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4" name="Text 22"/>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33</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TRAINING · RECIPE</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Hyperparameters &amp; data splits</a:t>
            </a:r>
            <a:endParaRPr lang="en-US" sz="2900" dirty="0"/>
          </a:p>
        </p:txBody>
      </p:sp>
      <p:sp>
        <p:nvSpPr>
          <p:cNvPr id="5" name="Shape 3"/>
          <p:cNvSpPr/>
          <p:nvPr/>
        </p:nvSpPr>
        <p:spPr>
          <a:xfrm>
            <a:off x="640080" y="1508760"/>
            <a:ext cx="548640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4617720"/>
          </a:xfrm>
          <a:prstGeom prst="rect">
            <a:avLst/>
          </a:prstGeom>
          <a:solidFill>
            <a:srgbClr val="4A2C6D"/>
          </a:solidFill>
          <a:ln/>
        </p:spPr>
        <p:txBody>
          <a:bodyPr/>
          <a:lstStyle/>
          <a:p>
            <a:endParaRPr lang="en-US"/>
          </a:p>
        </p:txBody>
      </p:sp>
      <p:sp>
        <p:nvSpPr>
          <p:cNvPr id="7" name="Text 5"/>
          <p:cNvSpPr/>
          <p:nvPr/>
        </p:nvSpPr>
        <p:spPr>
          <a:xfrm>
            <a:off x="896112" y="1645920"/>
            <a:ext cx="502920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Sensible starting recipe</a:t>
            </a:r>
            <a:endParaRPr lang="en-US" sz="1700" dirty="0"/>
          </a:p>
        </p:txBody>
      </p:sp>
      <p:sp>
        <p:nvSpPr>
          <p:cNvPr id="8" name="Shape 6"/>
          <p:cNvSpPr/>
          <p:nvPr/>
        </p:nvSpPr>
        <p:spPr>
          <a:xfrm>
            <a:off x="868680" y="2084832"/>
            <a:ext cx="5029200" cy="475488"/>
          </a:xfrm>
          <a:prstGeom prst="rect">
            <a:avLst/>
          </a:prstGeom>
          <a:solidFill>
            <a:srgbClr val="F3EEF9"/>
          </a:solidFill>
          <a:ln/>
        </p:spPr>
        <p:txBody>
          <a:bodyPr/>
          <a:lstStyle/>
          <a:p>
            <a:endParaRPr lang="en-US"/>
          </a:p>
        </p:txBody>
      </p:sp>
      <p:sp>
        <p:nvSpPr>
          <p:cNvPr id="9" name="Text 7"/>
          <p:cNvSpPr/>
          <p:nvPr/>
        </p:nvSpPr>
        <p:spPr>
          <a:xfrm>
            <a:off x="1005840" y="2103120"/>
            <a:ext cx="2468880" cy="411480"/>
          </a:xfrm>
          <a:prstGeom prst="rect">
            <a:avLst/>
          </a:prstGeom>
          <a:noFill/>
          <a:ln/>
        </p:spPr>
        <p:txBody>
          <a:bodyPr wrap="square" lIns="0" tIns="0" rIns="0" bIns="0" rtlCol="0" anchor="ctr"/>
          <a:lstStyle/>
          <a:p>
            <a:pPr marL="0" indent="0">
              <a:buNone/>
            </a:pPr>
            <a:r>
              <a:rPr lang="en-US" sz="1500" dirty="0">
                <a:solidFill>
                  <a:srgbClr val="8A7F99"/>
                </a:solidFill>
                <a:latin typeface="Calibri" pitchFamily="34" charset="0"/>
                <a:ea typeface="Calibri" pitchFamily="34" charset="-122"/>
                <a:cs typeface="Calibri" pitchFamily="34" charset="-120"/>
              </a:rPr>
              <a:t>Optimizer</a:t>
            </a:r>
            <a:endParaRPr lang="en-US" sz="1500" dirty="0"/>
          </a:p>
        </p:txBody>
      </p:sp>
      <p:sp>
        <p:nvSpPr>
          <p:cNvPr id="10" name="Text 8"/>
          <p:cNvSpPr/>
          <p:nvPr/>
        </p:nvSpPr>
        <p:spPr>
          <a:xfrm>
            <a:off x="3474720" y="2103120"/>
            <a:ext cx="2331720" cy="411480"/>
          </a:xfrm>
          <a:prstGeom prst="rect">
            <a:avLst/>
          </a:prstGeom>
          <a:noFill/>
          <a:ln/>
        </p:spPr>
        <p:txBody>
          <a:bodyPr wrap="square" lIns="0" tIns="0" rIns="0" bIns="0" rtlCol="0" anchor="ctr"/>
          <a:lstStyle/>
          <a:p>
            <a:pPr marL="0" indent="0">
              <a:buNone/>
            </a:pPr>
            <a:r>
              <a:rPr lang="en-US" sz="1500" b="1" dirty="0">
                <a:solidFill>
                  <a:srgbClr val="4A2C6D"/>
                </a:solidFill>
                <a:latin typeface="Calibri" pitchFamily="34" charset="0"/>
                <a:ea typeface="Calibri" pitchFamily="34" charset="-122"/>
                <a:cs typeface="Calibri" pitchFamily="34" charset="-120"/>
              </a:rPr>
              <a:t>AdamW</a:t>
            </a:r>
            <a:endParaRPr lang="en-US" sz="1500" dirty="0"/>
          </a:p>
        </p:txBody>
      </p:sp>
      <p:sp>
        <p:nvSpPr>
          <p:cNvPr id="11" name="Text 9"/>
          <p:cNvSpPr/>
          <p:nvPr/>
        </p:nvSpPr>
        <p:spPr>
          <a:xfrm>
            <a:off x="1005840" y="2596896"/>
            <a:ext cx="2468880" cy="411480"/>
          </a:xfrm>
          <a:prstGeom prst="rect">
            <a:avLst/>
          </a:prstGeom>
          <a:noFill/>
          <a:ln/>
        </p:spPr>
        <p:txBody>
          <a:bodyPr wrap="square" lIns="0" tIns="0" rIns="0" bIns="0" rtlCol="0" anchor="ctr"/>
          <a:lstStyle/>
          <a:p>
            <a:pPr marL="0" indent="0">
              <a:buNone/>
            </a:pPr>
            <a:r>
              <a:rPr lang="en-US" sz="1500" dirty="0">
                <a:solidFill>
                  <a:srgbClr val="8A7F99"/>
                </a:solidFill>
                <a:latin typeface="Calibri" pitchFamily="34" charset="0"/>
                <a:ea typeface="Calibri" pitchFamily="34" charset="-122"/>
                <a:cs typeface="Calibri" pitchFamily="34" charset="-120"/>
              </a:rPr>
              <a:t>Learning rate</a:t>
            </a:r>
            <a:endParaRPr lang="en-US" sz="1500" dirty="0"/>
          </a:p>
        </p:txBody>
      </p:sp>
      <p:sp>
        <p:nvSpPr>
          <p:cNvPr id="12" name="Text 10"/>
          <p:cNvSpPr/>
          <p:nvPr/>
        </p:nvSpPr>
        <p:spPr>
          <a:xfrm>
            <a:off x="3474720" y="2596896"/>
            <a:ext cx="2331720" cy="411480"/>
          </a:xfrm>
          <a:prstGeom prst="rect">
            <a:avLst/>
          </a:prstGeom>
          <a:noFill/>
          <a:ln/>
        </p:spPr>
        <p:txBody>
          <a:bodyPr wrap="square" lIns="0" tIns="0" rIns="0" bIns="0" rtlCol="0" anchor="ctr"/>
          <a:lstStyle/>
          <a:p>
            <a:pPr marL="0" indent="0">
              <a:buNone/>
            </a:pPr>
            <a:r>
              <a:rPr lang="en-US" sz="1500" b="1" dirty="0">
                <a:solidFill>
                  <a:srgbClr val="4A2C6D"/>
                </a:solidFill>
                <a:latin typeface="Calibri" pitchFamily="34" charset="0"/>
                <a:ea typeface="Calibri" pitchFamily="34" charset="-122"/>
                <a:cs typeface="Calibri" pitchFamily="34" charset="-120"/>
              </a:rPr>
              <a:t>1e-4 – 2e-4</a:t>
            </a:r>
            <a:endParaRPr lang="en-US" sz="1500" dirty="0"/>
          </a:p>
        </p:txBody>
      </p:sp>
      <p:sp>
        <p:nvSpPr>
          <p:cNvPr id="13" name="Shape 11"/>
          <p:cNvSpPr/>
          <p:nvPr/>
        </p:nvSpPr>
        <p:spPr>
          <a:xfrm>
            <a:off x="868680" y="3072384"/>
            <a:ext cx="5029200" cy="475488"/>
          </a:xfrm>
          <a:prstGeom prst="rect">
            <a:avLst/>
          </a:prstGeom>
          <a:solidFill>
            <a:srgbClr val="F3EEF9"/>
          </a:solidFill>
          <a:ln/>
        </p:spPr>
        <p:txBody>
          <a:bodyPr/>
          <a:lstStyle/>
          <a:p>
            <a:endParaRPr lang="en-US"/>
          </a:p>
        </p:txBody>
      </p:sp>
      <p:sp>
        <p:nvSpPr>
          <p:cNvPr id="14" name="Text 12"/>
          <p:cNvSpPr/>
          <p:nvPr/>
        </p:nvSpPr>
        <p:spPr>
          <a:xfrm>
            <a:off x="1005840" y="3090672"/>
            <a:ext cx="2468880" cy="411480"/>
          </a:xfrm>
          <a:prstGeom prst="rect">
            <a:avLst/>
          </a:prstGeom>
          <a:noFill/>
          <a:ln/>
        </p:spPr>
        <p:txBody>
          <a:bodyPr wrap="square" lIns="0" tIns="0" rIns="0" bIns="0" rtlCol="0" anchor="ctr"/>
          <a:lstStyle/>
          <a:p>
            <a:pPr marL="0" indent="0">
              <a:buNone/>
            </a:pPr>
            <a:r>
              <a:rPr lang="en-US" sz="1500" dirty="0">
                <a:solidFill>
                  <a:srgbClr val="8A7F99"/>
                </a:solidFill>
                <a:latin typeface="Calibri" pitchFamily="34" charset="0"/>
                <a:ea typeface="Calibri" pitchFamily="34" charset="-122"/>
                <a:cs typeface="Calibri" pitchFamily="34" charset="-120"/>
              </a:rPr>
              <a:t>Weight decay</a:t>
            </a:r>
            <a:endParaRPr lang="en-US" sz="1500" dirty="0"/>
          </a:p>
        </p:txBody>
      </p:sp>
      <p:sp>
        <p:nvSpPr>
          <p:cNvPr id="15" name="Text 13"/>
          <p:cNvSpPr/>
          <p:nvPr/>
        </p:nvSpPr>
        <p:spPr>
          <a:xfrm>
            <a:off x="3474720" y="3090672"/>
            <a:ext cx="2331720" cy="411480"/>
          </a:xfrm>
          <a:prstGeom prst="rect">
            <a:avLst/>
          </a:prstGeom>
          <a:noFill/>
          <a:ln/>
        </p:spPr>
        <p:txBody>
          <a:bodyPr wrap="square" lIns="0" tIns="0" rIns="0" bIns="0" rtlCol="0" anchor="ctr"/>
          <a:lstStyle/>
          <a:p>
            <a:pPr marL="0" indent="0">
              <a:buNone/>
            </a:pPr>
            <a:r>
              <a:rPr lang="en-US" sz="1500" b="1" dirty="0">
                <a:solidFill>
                  <a:srgbClr val="4A2C6D"/>
                </a:solidFill>
                <a:latin typeface="Calibri" pitchFamily="34" charset="0"/>
                <a:ea typeface="Calibri" pitchFamily="34" charset="-122"/>
                <a:cs typeface="Calibri" pitchFamily="34" charset="-120"/>
              </a:rPr>
              <a:t>1e-5</a:t>
            </a:r>
            <a:endParaRPr lang="en-US" sz="1500" dirty="0"/>
          </a:p>
        </p:txBody>
      </p:sp>
      <p:sp>
        <p:nvSpPr>
          <p:cNvPr id="16" name="Text 14"/>
          <p:cNvSpPr/>
          <p:nvPr/>
        </p:nvSpPr>
        <p:spPr>
          <a:xfrm>
            <a:off x="1005840" y="3584448"/>
            <a:ext cx="2468880" cy="411480"/>
          </a:xfrm>
          <a:prstGeom prst="rect">
            <a:avLst/>
          </a:prstGeom>
          <a:noFill/>
          <a:ln/>
        </p:spPr>
        <p:txBody>
          <a:bodyPr wrap="square" lIns="0" tIns="0" rIns="0" bIns="0" rtlCol="0" anchor="ctr"/>
          <a:lstStyle/>
          <a:p>
            <a:pPr marL="0" indent="0">
              <a:buNone/>
            </a:pPr>
            <a:r>
              <a:rPr lang="en-US" sz="1500" dirty="0">
                <a:solidFill>
                  <a:srgbClr val="8A7F99"/>
                </a:solidFill>
                <a:latin typeface="Calibri" pitchFamily="34" charset="0"/>
                <a:ea typeface="Calibri" pitchFamily="34" charset="-122"/>
                <a:cs typeface="Calibri" pitchFamily="34" charset="-120"/>
              </a:rPr>
              <a:t>Dropout</a:t>
            </a:r>
            <a:endParaRPr lang="en-US" sz="1500" dirty="0"/>
          </a:p>
        </p:txBody>
      </p:sp>
      <p:sp>
        <p:nvSpPr>
          <p:cNvPr id="17" name="Text 15"/>
          <p:cNvSpPr/>
          <p:nvPr/>
        </p:nvSpPr>
        <p:spPr>
          <a:xfrm>
            <a:off x="3474720" y="3584448"/>
            <a:ext cx="2331720" cy="411480"/>
          </a:xfrm>
          <a:prstGeom prst="rect">
            <a:avLst/>
          </a:prstGeom>
          <a:noFill/>
          <a:ln/>
        </p:spPr>
        <p:txBody>
          <a:bodyPr wrap="square" lIns="0" tIns="0" rIns="0" bIns="0" rtlCol="0" anchor="ctr"/>
          <a:lstStyle/>
          <a:p>
            <a:pPr marL="0" indent="0">
              <a:buNone/>
            </a:pPr>
            <a:r>
              <a:rPr lang="en-US" sz="1500" b="1" dirty="0">
                <a:solidFill>
                  <a:srgbClr val="4A2C6D"/>
                </a:solidFill>
                <a:latin typeface="Calibri" pitchFamily="34" charset="0"/>
                <a:ea typeface="Calibri" pitchFamily="34" charset="-122"/>
                <a:cs typeface="Calibri" pitchFamily="34" charset="-120"/>
              </a:rPr>
              <a:t>0.25 (in attention head)</a:t>
            </a:r>
            <a:endParaRPr lang="en-US" sz="1500" dirty="0"/>
          </a:p>
        </p:txBody>
      </p:sp>
      <p:sp>
        <p:nvSpPr>
          <p:cNvPr id="18" name="Shape 16"/>
          <p:cNvSpPr/>
          <p:nvPr/>
        </p:nvSpPr>
        <p:spPr>
          <a:xfrm>
            <a:off x="868680" y="4059936"/>
            <a:ext cx="5029200" cy="475488"/>
          </a:xfrm>
          <a:prstGeom prst="rect">
            <a:avLst/>
          </a:prstGeom>
          <a:solidFill>
            <a:srgbClr val="F3EEF9"/>
          </a:solidFill>
          <a:ln/>
        </p:spPr>
        <p:txBody>
          <a:bodyPr/>
          <a:lstStyle/>
          <a:p>
            <a:endParaRPr lang="en-US"/>
          </a:p>
        </p:txBody>
      </p:sp>
      <p:sp>
        <p:nvSpPr>
          <p:cNvPr id="19" name="Text 17"/>
          <p:cNvSpPr/>
          <p:nvPr/>
        </p:nvSpPr>
        <p:spPr>
          <a:xfrm>
            <a:off x="1005840" y="4078224"/>
            <a:ext cx="2468880" cy="411480"/>
          </a:xfrm>
          <a:prstGeom prst="rect">
            <a:avLst/>
          </a:prstGeom>
          <a:noFill/>
          <a:ln/>
        </p:spPr>
        <p:txBody>
          <a:bodyPr wrap="square" lIns="0" tIns="0" rIns="0" bIns="0" rtlCol="0" anchor="ctr"/>
          <a:lstStyle/>
          <a:p>
            <a:pPr marL="0" indent="0">
              <a:buNone/>
            </a:pPr>
            <a:r>
              <a:rPr lang="en-US" sz="1500" dirty="0">
                <a:solidFill>
                  <a:srgbClr val="8A7F99"/>
                </a:solidFill>
                <a:latin typeface="Calibri" pitchFamily="34" charset="0"/>
                <a:ea typeface="Calibri" pitchFamily="34" charset="-122"/>
                <a:cs typeface="Calibri" pitchFamily="34" charset="-120"/>
              </a:rPr>
              <a:t>Batch size</a:t>
            </a:r>
            <a:endParaRPr lang="en-US" sz="1500" dirty="0"/>
          </a:p>
        </p:txBody>
      </p:sp>
      <p:sp>
        <p:nvSpPr>
          <p:cNvPr id="20" name="Text 18"/>
          <p:cNvSpPr/>
          <p:nvPr/>
        </p:nvSpPr>
        <p:spPr>
          <a:xfrm>
            <a:off x="3474720" y="4078224"/>
            <a:ext cx="2331720" cy="411480"/>
          </a:xfrm>
          <a:prstGeom prst="rect">
            <a:avLst/>
          </a:prstGeom>
          <a:noFill/>
          <a:ln/>
        </p:spPr>
        <p:txBody>
          <a:bodyPr wrap="square" lIns="0" tIns="0" rIns="0" bIns="0" rtlCol="0" anchor="ctr"/>
          <a:lstStyle/>
          <a:p>
            <a:pPr marL="0" indent="0">
              <a:buNone/>
            </a:pPr>
            <a:r>
              <a:rPr lang="en-US" sz="1500" b="1" dirty="0">
                <a:solidFill>
                  <a:srgbClr val="4A2C6D"/>
                </a:solidFill>
                <a:latin typeface="Calibri" pitchFamily="34" charset="0"/>
                <a:ea typeface="Calibri" pitchFamily="34" charset="-122"/>
                <a:cs typeface="Calibri" pitchFamily="34" charset="-120"/>
              </a:rPr>
              <a:t>1 bag (or bucketed)</a:t>
            </a:r>
            <a:endParaRPr lang="en-US" sz="1500" dirty="0"/>
          </a:p>
        </p:txBody>
      </p:sp>
      <p:sp>
        <p:nvSpPr>
          <p:cNvPr id="21" name="Text 19"/>
          <p:cNvSpPr/>
          <p:nvPr/>
        </p:nvSpPr>
        <p:spPr>
          <a:xfrm>
            <a:off x="1005840" y="4572000"/>
            <a:ext cx="2468880" cy="411480"/>
          </a:xfrm>
          <a:prstGeom prst="rect">
            <a:avLst/>
          </a:prstGeom>
          <a:noFill/>
          <a:ln/>
        </p:spPr>
        <p:txBody>
          <a:bodyPr wrap="square" lIns="0" tIns="0" rIns="0" bIns="0" rtlCol="0" anchor="ctr"/>
          <a:lstStyle/>
          <a:p>
            <a:pPr marL="0" indent="0">
              <a:buNone/>
            </a:pPr>
            <a:r>
              <a:rPr lang="en-US" sz="1500" dirty="0">
                <a:solidFill>
                  <a:srgbClr val="8A7F99"/>
                </a:solidFill>
                <a:latin typeface="Calibri" pitchFamily="34" charset="0"/>
                <a:ea typeface="Calibri" pitchFamily="34" charset="-122"/>
                <a:cs typeface="Calibri" pitchFamily="34" charset="-120"/>
              </a:rPr>
              <a:t>Max epochs</a:t>
            </a:r>
            <a:endParaRPr lang="en-US" sz="1500" dirty="0"/>
          </a:p>
        </p:txBody>
      </p:sp>
      <p:sp>
        <p:nvSpPr>
          <p:cNvPr id="22" name="Text 20"/>
          <p:cNvSpPr/>
          <p:nvPr/>
        </p:nvSpPr>
        <p:spPr>
          <a:xfrm>
            <a:off x="3474720" y="4572000"/>
            <a:ext cx="2331720" cy="411480"/>
          </a:xfrm>
          <a:prstGeom prst="rect">
            <a:avLst/>
          </a:prstGeom>
          <a:noFill/>
          <a:ln/>
        </p:spPr>
        <p:txBody>
          <a:bodyPr wrap="square" lIns="0" tIns="0" rIns="0" bIns="0" rtlCol="0" anchor="ctr"/>
          <a:lstStyle/>
          <a:p>
            <a:pPr marL="0" indent="0">
              <a:buNone/>
            </a:pPr>
            <a:r>
              <a:rPr lang="en-US" sz="1500" b="1" dirty="0">
                <a:solidFill>
                  <a:srgbClr val="4A2C6D"/>
                </a:solidFill>
                <a:latin typeface="Calibri" pitchFamily="34" charset="0"/>
                <a:ea typeface="Calibri" pitchFamily="34" charset="-122"/>
                <a:cs typeface="Calibri" pitchFamily="34" charset="-120"/>
              </a:rPr>
              <a:t>≤ 200 + early stopping</a:t>
            </a:r>
            <a:endParaRPr lang="en-US" sz="1500" dirty="0"/>
          </a:p>
        </p:txBody>
      </p:sp>
      <p:sp>
        <p:nvSpPr>
          <p:cNvPr id="23" name="Shape 21"/>
          <p:cNvSpPr/>
          <p:nvPr/>
        </p:nvSpPr>
        <p:spPr>
          <a:xfrm>
            <a:off x="868680" y="5047488"/>
            <a:ext cx="5029200" cy="475488"/>
          </a:xfrm>
          <a:prstGeom prst="rect">
            <a:avLst/>
          </a:prstGeom>
          <a:solidFill>
            <a:srgbClr val="F3EEF9"/>
          </a:solidFill>
          <a:ln/>
        </p:spPr>
        <p:txBody>
          <a:bodyPr/>
          <a:lstStyle/>
          <a:p>
            <a:endParaRPr lang="en-US"/>
          </a:p>
        </p:txBody>
      </p:sp>
      <p:sp>
        <p:nvSpPr>
          <p:cNvPr id="24" name="Text 22"/>
          <p:cNvSpPr/>
          <p:nvPr/>
        </p:nvSpPr>
        <p:spPr>
          <a:xfrm>
            <a:off x="1005840" y="5065776"/>
            <a:ext cx="2468880" cy="411480"/>
          </a:xfrm>
          <a:prstGeom prst="rect">
            <a:avLst/>
          </a:prstGeom>
          <a:noFill/>
          <a:ln/>
        </p:spPr>
        <p:txBody>
          <a:bodyPr wrap="square" lIns="0" tIns="0" rIns="0" bIns="0" rtlCol="0" anchor="ctr"/>
          <a:lstStyle/>
          <a:p>
            <a:pPr marL="0" indent="0">
              <a:buNone/>
            </a:pPr>
            <a:r>
              <a:rPr lang="en-US" sz="1500" dirty="0">
                <a:solidFill>
                  <a:srgbClr val="8A7F99"/>
                </a:solidFill>
                <a:latin typeface="Calibri" pitchFamily="34" charset="0"/>
                <a:ea typeface="Calibri" pitchFamily="34" charset="-122"/>
                <a:cs typeface="Calibri" pitchFamily="34" charset="-120"/>
              </a:rPr>
              <a:t>Early-stop metric</a:t>
            </a:r>
            <a:endParaRPr lang="en-US" sz="1500" dirty="0"/>
          </a:p>
        </p:txBody>
      </p:sp>
      <p:sp>
        <p:nvSpPr>
          <p:cNvPr id="25" name="Text 23"/>
          <p:cNvSpPr/>
          <p:nvPr/>
        </p:nvSpPr>
        <p:spPr>
          <a:xfrm>
            <a:off x="3474720" y="5065776"/>
            <a:ext cx="2331720" cy="411480"/>
          </a:xfrm>
          <a:prstGeom prst="rect">
            <a:avLst/>
          </a:prstGeom>
          <a:noFill/>
          <a:ln/>
        </p:spPr>
        <p:txBody>
          <a:bodyPr wrap="square" lIns="0" tIns="0" rIns="0" bIns="0" rtlCol="0" anchor="ctr"/>
          <a:lstStyle/>
          <a:p>
            <a:pPr marL="0" indent="0">
              <a:buNone/>
            </a:pPr>
            <a:r>
              <a:rPr lang="en-US" sz="1500" b="1" dirty="0">
                <a:solidFill>
                  <a:srgbClr val="4A2C6D"/>
                </a:solidFill>
                <a:latin typeface="Calibri" pitchFamily="34" charset="0"/>
                <a:ea typeface="Calibri" pitchFamily="34" charset="-122"/>
                <a:cs typeface="Calibri" pitchFamily="34" charset="-120"/>
              </a:rPr>
              <a:t>val AUC, patience ~20</a:t>
            </a:r>
            <a:endParaRPr lang="en-US" sz="1500" dirty="0"/>
          </a:p>
        </p:txBody>
      </p:sp>
      <p:sp>
        <p:nvSpPr>
          <p:cNvPr id="26" name="Text 24"/>
          <p:cNvSpPr/>
          <p:nvPr/>
        </p:nvSpPr>
        <p:spPr>
          <a:xfrm>
            <a:off x="1005840" y="5559552"/>
            <a:ext cx="2468880" cy="411480"/>
          </a:xfrm>
          <a:prstGeom prst="rect">
            <a:avLst/>
          </a:prstGeom>
          <a:noFill/>
          <a:ln/>
        </p:spPr>
        <p:txBody>
          <a:bodyPr wrap="square" lIns="0" tIns="0" rIns="0" bIns="0" rtlCol="0" anchor="ctr"/>
          <a:lstStyle/>
          <a:p>
            <a:pPr marL="0" indent="0">
              <a:buNone/>
            </a:pPr>
            <a:r>
              <a:rPr lang="en-US" sz="1500" dirty="0">
                <a:solidFill>
                  <a:srgbClr val="8A7F99"/>
                </a:solidFill>
                <a:latin typeface="Calibri" pitchFamily="34" charset="0"/>
                <a:ea typeface="Calibri" pitchFamily="34" charset="-122"/>
                <a:cs typeface="Calibri" pitchFamily="34" charset="-120"/>
              </a:rPr>
              <a:t>Hidden dim</a:t>
            </a:r>
            <a:endParaRPr lang="en-US" sz="1500" dirty="0"/>
          </a:p>
        </p:txBody>
      </p:sp>
      <p:sp>
        <p:nvSpPr>
          <p:cNvPr id="27" name="Text 25"/>
          <p:cNvSpPr/>
          <p:nvPr/>
        </p:nvSpPr>
        <p:spPr>
          <a:xfrm>
            <a:off x="3474720" y="5559552"/>
            <a:ext cx="2331720" cy="411480"/>
          </a:xfrm>
          <a:prstGeom prst="rect">
            <a:avLst/>
          </a:prstGeom>
          <a:noFill/>
          <a:ln/>
        </p:spPr>
        <p:txBody>
          <a:bodyPr wrap="square" lIns="0" tIns="0" rIns="0" bIns="0" rtlCol="0" anchor="ctr"/>
          <a:lstStyle/>
          <a:p>
            <a:pPr marL="0" indent="0">
              <a:buNone/>
            </a:pPr>
            <a:r>
              <a:rPr lang="en-US" sz="1500" b="1" dirty="0">
                <a:solidFill>
                  <a:srgbClr val="4A2C6D"/>
                </a:solidFill>
                <a:latin typeface="Calibri" pitchFamily="34" charset="0"/>
                <a:ea typeface="Calibri" pitchFamily="34" charset="-122"/>
                <a:cs typeface="Calibri" pitchFamily="34" charset="-120"/>
              </a:rPr>
              <a:t>512 (project from d)</a:t>
            </a:r>
            <a:endParaRPr lang="en-US" sz="1500" dirty="0"/>
          </a:p>
        </p:txBody>
      </p:sp>
      <p:sp>
        <p:nvSpPr>
          <p:cNvPr id="28" name="Shape 26"/>
          <p:cNvSpPr/>
          <p:nvPr/>
        </p:nvSpPr>
        <p:spPr>
          <a:xfrm>
            <a:off x="6355080" y="1508760"/>
            <a:ext cx="544068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9" name="Shape 27"/>
          <p:cNvSpPr/>
          <p:nvPr/>
        </p:nvSpPr>
        <p:spPr>
          <a:xfrm>
            <a:off x="6355080" y="1508760"/>
            <a:ext cx="82296" cy="4617720"/>
          </a:xfrm>
          <a:prstGeom prst="rect">
            <a:avLst/>
          </a:prstGeom>
          <a:solidFill>
            <a:srgbClr val="D6336C"/>
          </a:solidFill>
          <a:ln/>
        </p:spPr>
        <p:txBody>
          <a:bodyPr/>
          <a:lstStyle/>
          <a:p>
            <a:endParaRPr lang="en-US"/>
          </a:p>
        </p:txBody>
      </p:sp>
      <p:sp>
        <p:nvSpPr>
          <p:cNvPr id="30" name="Text 28"/>
          <p:cNvSpPr/>
          <p:nvPr/>
        </p:nvSpPr>
        <p:spPr>
          <a:xfrm>
            <a:off x="6611112" y="1645920"/>
            <a:ext cx="5029200" cy="365760"/>
          </a:xfrm>
          <a:prstGeom prst="rect">
            <a:avLst/>
          </a:prstGeom>
          <a:noFill/>
          <a:ln/>
        </p:spPr>
        <p:txBody>
          <a:bodyPr wrap="square" lIns="0" tIns="0" rIns="0" bIns="0" rtlCol="0" anchor="ctr"/>
          <a:lstStyle/>
          <a:p>
            <a:pPr marL="0" indent="0">
              <a:buNone/>
            </a:pPr>
            <a:r>
              <a:rPr lang="en-US" sz="1700" b="1" dirty="0">
                <a:solidFill>
                  <a:srgbClr val="D6336C"/>
                </a:solidFill>
                <a:latin typeface="Calibri" pitchFamily="34" charset="0"/>
                <a:ea typeface="Calibri" pitchFamily="34" charset="-122"/>
                <a:cs typeface="Calibri" pitchFamily="34" charset="-120"/>
              </a:rPr>
              <a:t>Splitting — get this right</a:t>
            </a:r>
            <a:endParaRPr lang="en-US" sz="1700" dirty="0"/>
          </a:p>
        </p:txBody>
      </p:sp>
      <p:sp>
        <p:nvSpPr>
          <p:cNvPr id="31" name="Text 29"/>
          <p:cNvSpPr/>
          <p:nvPr/>
        </p:nvSpPr>
        <p:spPr>
          <a:xfrm>
            <a:off x="6611112" y="2103120"/>
            <a:ext cx="5029200" cy="3840480"/>
          </a:xfrm>
          <a:prstGeom prst="rect">
            <a:avLst/>
          </a:prstGeom>
          <a:noFill/>
          <a:ln/>
        </p:spPr>
        <p:txBody>
          <a:bodyPr wrap="square" lIns="0" tIns="0" rIns="0" bIns="0" rtlCol="0" anchor="t"/>
          <a:lstStyle/>
          <a:p>
            <a:pPr marL="203200" indent="-203200">
              <a:spcAft>
                <a:spcPts val="1200"/>
              </a:spcAft>
              <a:buSzPct val="100000"/>
              <a:buChar char="•"/>
            </a:pPr>
            <a:r>
              <a:rPr lang="en-US" sz="1800" dirty="0">
                <a:solidFill>
                  <a:srgbClr val="2A2233"/>
                </a:solidFill>
                <a:latin typeface="Calibri" pitchFamily="34" charset="0"/>
                <a:ea typeface="Calibri" pitchFamily="34" charset="-122"/>
                <a:cs typeface="Calibri" pitchFamily="34" charset="-120"/>
              </a:rPr>
              <a:t>Split by PATIENT, never by slide — multiple slides per patient leak otherwise.</a:t>
            </a:r>
            <a:endParaRPr lang="en-US" sz="1800" dirty="0"/>
          </a:p>
          <a:p>
            <a:pPr marL="203200" indent="-203200">
              <a:spcAft>
                <a:spcPts val="1200"/>
              </a:spcAft>
              <a:buSzPct val="100000"/>
              <a:buChar char="•"/>
            </a:pPr>
            <a:r>
              <a:rPr lang="en-US" sz="1800" dirty="0">
                <a:solidFill>
                  <a:srgbClr val="2A2233"/>
                </a:solidFill>
                <a:latin typeface="Calibri" pitchFamily="34" charset="0"/>
                <a:ea typeface="Calibri" pitchFamily="34" charset="-122"/>
                <a:cs typeface="Calibri" pitchFamily="34" charset="-120"/>
              </a:rPr>
              <a:t>Stratify folds by label to keep class ratios stable.</a:t>
            </a:r>
            <a:endParaRPr lang="en-US" sz="1800" dirty="0"/>
          </a:p>
          <a:p>
            <a:pPr marL="203200" indent="-203200">
              <a:spcAft>
                <a:spcPts val="1200"/>
              </a:spcAft>
              <a:buSzPct val="100000"/>
              <a:buChar char="•"/>
            </a:pPr>
            <a:r>
              <a:rPr lang="en-US" sz="1800" dirty="0">
                <a:solidFill>
                  <a:srgbClr val="2A2233"/>
                </a:solidFill>
                <a:latin typeface="Calibri" pitchFamily="34" charset="0"/>
                <a:ea typeface="Calibri" pitchFamily="34" charset="-122"/>
                <a:cs typeface="Calibri" pitchFamily="34" charset="-120"/>
              </a:rPr>
              <a:t>Use k-fold cross-validation (e.g. 10×) and report mean ± std — single splits are noisy in pathology.</a:t>
            </a:r>
            <a:endParaRPr lang="en-US" sz="1800" dirty="0"/>
          </a:p>
          <a:p>
            <a:pPr marL="203200" indent="-203200">
              <a:spcAft>
                <a:spcPts val="1200"/>
              </a:spcAft>
              <a:buSzPct val="100000"/>
              <a:buChar char="•"/>
            </a:pPr>
            <a:r>
              <a:rPr lang="en-US" sz="1800" dirty="0">
                <a:solidFill>
                  <a:srgbClr val="2A2233"/>
                </a:solidFill>
                <a:latin typeface="Calibri" pitchFamily="34" charset="0"/>
                <a:ea typeface="Calibri" pitchFamily="34" charset="-122"/>
                <a:cs typeface="Calibri" pitchFamily="34" charset="-120"/>
              </a:rPr>
              <a:t>Hold out an external cohort (different hospital/scanner) for the honest generalization number.</a:t>
            </a:r>
            <a:endParaRPr lang="en-US" sz="1800" dirty="0"/>
          </a:p>
          <a:p>
            <a:pPr marL="203200" indent="-203200">
              <a:spcAft>
                <a:spcPts val="1200"/>
              </a:spcAft>
              <a:buSzPct val="100000"/>
              <a:buChar char="•"/>
            </a:pPr>
            <a:r>
              <a:rPr lang="en-US" sz="1800" dirty="0">
                <a:solidFill>
                  <a:srgbClr val="2A2233"/>
                </a:solidFill>
                <a:latin typeface="Calibri" pitchFamily="34" charset="0"/>
                <a:ea typeface="Calibri" pitchFamily="34" charset="-122"/>
                <a:cs typeface="Calibri" pitchFamily="34" charset="-120"/>
              </a:rPr>
              <a:t>Fix and log seeds; bag sampling and init both add variance.</a:t>
            </a:r>
            <a:endParaRPr lang="en-US" sz="1800" dirty="0"/>
          </a:p>
        </p:txBody>
      </p:sp>
      <p:sp>
        <p:nvSpPr>
          <p:cNvPr id="32" name="Text 30"/>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3" name="Text 31"/>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34</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TRAINING · PITFALLS + NOTEBOOK 02</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Common failure modes (and the notebook)</a:t>
            </a:r>
            <a:endParaRPr lang="en-US" sz="2900" dirty="0"/>
          </a:p>
        </p:txBody>
      </p:sp>
      <p:sp>
        <p:nvSpPr>
          <p:cNvPr id="5" name="Shape 3"/>
          <p:cNvSpPr/>
          <p:nvPr/>
        </p:nvSpPr>
        <p:spPr>
          <a:xfrm>
            <a:off x="640080" y="1463040"/>
            <a:ext cx="5394960" cy="14630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463040"/>
            <a:ext cx="82296" cy="1463040"/>
          </a:xfrm>
          <a:prstGeom prst="rect">
            <a:avLst/>
          </a:prstGeom>
          <a:solidFill>
            <a:srgbClr val="D6336C"/>
          </a:solidFill>
          <a:ln/>
        </p:spPr>
        <p:txBody>
          <a:bodyPr/>
          <a:lstStyle/>
          <a:p>
            <a:endParaRPr lang="en-US"/>
          </a:p>
        </p:txBody>
      </p:sp>
      <p:sp>
        <p:nvSpPr>
          <p:cNvPr id="7" name="Text 5"/>
          <p:cNvSpPr/>
          <p:nvPr/>
        </p:nvSpPr>
        <p:spPr>
          <a:xfrm>
            <a:off x="877824" y="1591056"/>
            <a:ext cx="4937760" cy="365760"/>
          </a:xfrm>
          <a:prstGeom prst="rect">
            <a:avLst/>
          </a:prstGeom>
          <a:noFill/>
          <a:ln/>
        </p:spPr>
        <p:txBody>
          <a:bodyPr wrap="square" lIns="0" tIns="0" rIns="0" bIns="0" rtlCol="0" anchor="ctr"/>
          <a:lstStyle/>
          <a:p>
            <a:pPr marL="0" indent="0">
              <a:buNone/>
            </a:pPr>
            <a:r>
              <a:rPr lang="en-US" sz="1700" b="1" dirty="0">
                <a:solidFill>
                  <a:srgbClr val="D6336C"/>
                </a:solidFill>
                <a:latin typeface="Calibri" pitchFamily="34" charset="0"/>
                <a:ea typeface="Calibri" pitchFamily="34" charset="-122"/>
                <a:cs typeface="Calibri" pitchFamily="34" charset="-120"/>
              </a:rPr>
              <a:t>Data leakage</a:t>
            </a:r>
            <a:endParaRPr lang="en-US" sz="1700" dirty="0"/>
          </a:p>
        </p:txBody>
      </p:sp>
      <p:sp>
        <p:nvSpPr>
          <p:cNvPr id="8" name="Text 6"/>
          <p:cNvSpPr/>
          <p:nvPr/>
        </p:nvSpPr>
        <p:spPr>
          <a:xfrm>
            <a:off x="877824" y="1975104"/>
            <a:ext cx="4937760" cy="8686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Same patient in train &amp; test; or benchmarking an encoder on data it was pretrained on.</a:t>
            </a:r>
            <a:endParaRPr lang="en-US" sz="1450" dirty="0"/>
          </a:p>
        </p:txBody>
      </p:sp>
      <p:sp>
        <p:nvSpPr>
          <p:cNvPr id="9" name="Shape 7"/>
          <p:cNvSpPr/>
          <p:nvPr/>
        </p:nvSpPr>
        <p:spPr>
          <a:xfrm>
            <a:off x="6400800" y="1463040"/>
            <a:ext cx="5394960" cy="14630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6400800" y="1463040"/>
            <a:ext cx="82296" cy="1463040"/>
          </a:xfrm>
          <a:prstGeom prst="rect">
            <a:avLst/>
          </a:prstGeom>
          <a:solidFill>
            <a:srgbClr val="C77D14"/>
          </a:solidFill>
          <a:ln/>
        </p:spPr>
        <p:txBody>
          <a:bodyPr/>
          <a:lstStyle/>
          <a:p>
            <a:endParaRPr lang="en-US"/>
          </a:p>
        </p:txBody>
      </p:sp>
      <p:sp>
        <p:nvSpPr>
          <p:cNvPr id="11" name="Text 9"/>
          <p:cNvSpPr/>
          <p:nvPr/>
        </p:nvSpPr>
        <p:spPr>
          <a:xfrm>
            <a:off x="6638544" y="1591056"/>
            <a:ext cx="4937760" cy="365760"/>
          </a:xfrm>
          <a:prstGeom prst="rect">
            <a:avLst/>
          </a:prstGeom>
          <a:noFill/>
          <a:ln/>
        </p:spPr>
        <p:txBody>
          <a:bodyPr wrap="square" lIns="0" tIns="0" rIns="0" bIns="0" rtlCol="0" anchor="ctr"/>
          <a:lstStyle/>
          <a:p>
            <a:pPr marL="0" indent="0">
              <a:buNone/>
            </a:pPr>
            <a:r>
              <a:rPr lang="en-US" sz="1700" b="1" dirty="0">
                <a:solidFill>
                  <a:srgbClr val="C77D14"/>
                </a:solidFill>
                <a:latin typeface="Calibri" pitchFamily="34" charset="0"/>
                <a:ea typeface="Calibri" pitchFamily="34" charset="-122"/>
                <a:cs typeface="Calibri" pitchFamily="34" charset="-120"/>
              </a:rPr>
              <a:t>Tiny-cohort overfitting</a:t>
            </a:r>
            <a:endParaRPr lang="en-US" sz="1700" dirty="0"/>
          </a:p>
        </p:txBody>
      </p:sp>
      <p:sp>
        <p:nvSpPr>
          <p:cNvPr id="12" name="Text 10"/>
          <p:cNvSpPr/>
          <p:nvPr/>
        </p:nvSpPr>
        <p:spPr>
          <a:xfrm>
            <a:off x="6638544" y="1975104"/>
            <a:ext cx="4937760" cy="8686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A few hundred bags + an expressive head overfits fast. Heavy dropout, early stop, augment bags.</a:t>
            </a:r>
            <a:endParaRPr lang="en-US" sz="1450" dirty="0"/>
          </a:p>
        </p:txBody>
      </p:sp>
      <p:sp>
        <p:nvSpPr>
          <p:cNvPr id="13" name="Shape 11"/>
          <p:cNvSpPr/>
          <p:nvPr/>
        </p:nvSpPr>
        <p:spPr>
          <a:xfrm>
            <a:off x="640080" y="3182112"/>
            <a:ext cx="5394960" cy="14630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640080" y="3182112"/>
            <a:ext cx="82296" cy="1463040"/>
          </a:xfrm>
          <a:prstGeom prst="rect">
            <a:avLst/>
          </a:prstGeom>
          <a:solidFill>
            <a:srgbClr val="6B4E8F"/>
          </a:solidFill>
          <a:ln/>
        </p:spPr>
        <p:txBody>
          <a:bodyPr/>
          <a:lstStyle/>
          <a:p>
            <a:endParaRPr lang="en-US"/>
          </a:p>
        </p:txBody>
      </p:sp>
      <p:sp>
        <p:nvSpPr>
          <p:cNvPr id="15" name="Text 13"/>
          <p:cNvSpPr/>
          <p:nvPr/>
        </p:nvSpPr>
        <p:spPr>
          <a:xfrm>
            <a:off x="877824" y="3310128"/>
            <a:ext cx="4937760" cy="365760"/>
          </a:xfrm>
          <a:prstGeom prst="rect">
            <a:avLst/>
          </a:prstGeom>
          <a:noFill/>
          <a:ln/>
        </p:spPr>
        <p:txBody>
          <a:bodyPr wrap="square" lIns="0" tIns="0" rIns="0" bIns="0" rtlCol="0" anchor="ctr"/>
          <a:lstStyle/>
          <a:p>
            <a:pPr marL="0" indent="0">
              <a:buNone/>
            </a:pPr>
            <a:r>
              <a:rPr lang="en-US" sz="1700" b="1" dirty="0">
                <a:solidFill>
                  <a:srgbClr val="6B4E8F"/>
                </a:solidFill>
                <a:latin typeface="Calibri" pitchFamily="34" charset="0"/>
                <a:ea typeface="Calibri" pitchFamily="34" charset="-122"/>
                <a:cs typeface="Calibri" pitchFamily="34" charset="-120"/>
              </a:rPr>
              <a:t>Class imbalance</a:t>
            </a:r>
            <a:endParaRPr lang="en-US" sz="1700" dirty="0"/>
          </a:p>
        </p:txBody>
      </p:sp>
      <p:sp>
        <p:nvSpPr>
          <p:cNvPr id="16" name="Text 14"/>
          <p:cNvSpPr/>
          <p:nvPr/>
        </p:nvSpPr>
        <p:spPr>
          <a:xfrm>
            <a:off x="877824" y="3694176"/>
            <a:ext cx="4937760" cy="8686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Rare positives drown out. Use weighted CE / balanced sampling; report balanced accuracy + AUC.</a:t>
            </a:r>
            <a:endParaRPr lang="en-US" sz="1450" dirty="0"/>
          </a:p>
        </p:txBody>
      </p:sp>
      <p:sp>
        <p:nvSpPr>
          <p:cNvPr id="17" name="Shape 15"/>
          <p:cNvSpPr/>
          <p:nvPr/>
        </p:nvSpPr>
        <p:spPr>
          <a:xfrm>
            <a:off x="6400800" y="3182112"/>
            <a:ext cx="5394960" cy="146304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400800" y="3182112"/>
            <a:ext cx="82296" cy="1463040"/>
          </a:xfrm>
          <a:prstGeom prst="rect">
            <a:avLst/>
          </a:prstGeom>
          <a:solidFill>
            <a:srgbClr val="1C8C8C"/>
          </a:solidFill>
          <a:ln/>
        </p:spPr>
        <p:txBody>
          <a:bodyPr/>
          <a:lstStyle/>
          <a:p>
            <a:endParaRPr lang="en-US"/>
          </a:p>
        </p:txBody>
      </p:sp>
      <p:sp>
        <p:nvSpPr>
          <p:cNvPr id="19" name="Text 17"/>
          <p:cNvSpPr/>
          <p:nvPr/>
        </p:nvSpPr>
        <p:spPr>
          <a:xfrm>
            <a:off x="6638544" y="3310128"/>
            <a:ext cx="4937760" cy="365760"/>
          </a:xfrm>
          <a:prstGeom prst="rect">
            <a:avLst/>
          </a:prstGeom>
          <a:noFill/>
          <a:ln/>
        </p:spPr>
        <p:txBody>
          <a:bodyPr wrap="square" lIns="0" tIns="0" rIns="0" bIns="0" rtlCol="0" anchor="ctr"/>
          <a:lstStyle/>
          <a:p>
            <a:pPr marL="0" indent="0">
              <a:buNone/>
            </a:pPr>
            <a:r>
              <a:rPr lang="en-US" sz="1700" b="1" dirty="0">
                <a:solidFill>
                  <a:srgbClr val="1C8C8C"/>
                </a:solidFill>
                <a:latin typeface="Calibri" pitchFamily="34" charset="0"/>
                <a:ea typeface="Calibri" pitchFamily="34" charset="-122"/>
                <a:cs typeface="Calibri" pitchFamily="34" charset="-120"/>
              </a:rPr>
              <a:t>Magnification mismatch</a:t>
            </a:r>
            <a:endParaRPr lang="en-US" sz="1700" dirty="0"/>
          </a:p>
        </p:txBody>
      </p:sp>
      <p:sp>
        <p:nvSpPr>
          <p:cNvPr id="20" name="Text 18"/>
          <p:cNvSpPr/>
          <p:nvPr/>
        </p:nvSpPr>
        <p:spPr>
          <a:xfrm>
            <a:off x="6638544" y="3694176"/>
            <a:ext cx="4937760" cy="8686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Train and test patches must share mpp/level, or features are out of distribution.</a:t>
            </a:r>
            <a:endParaRPr lang="en-US" sz="1450" dirty="0"/>
          </a:p>
        </p:txBody>
      </p:sp>
      <p:sp>
        <p:nvSpPr>
          <p:cNvPr id="21" name="Shape 19"/>
          <p:cNvSpPr/>
          <p:nvPr/>
        </p:nvSpPr>
        <p:spPr>
          <a:xfrm>
            <a:off x="640080" y="5029200"/>
            <a:ext cx="11155680" cy="1097280"/>
          </a:xfrm>
          <a:prstGeom prst="rect">
            <a:avLst/>
          </a:prstGeom>
          <a:solidFill>
            <a:srgbClr val="EEF6F6"/>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640080" y="5029200"/>
            <a:ext cx="82296" cy="1097280"/>
          </a:xfrm>
          <a:prstGeom prst="rect">
            <a:avLst/>
          </a:prstGeom>
          <a:solidFill>
            <a:srgbClr val="1C8C8C"/>
          </a:solidFill>
          <a:ln/>
        </p:spPr>
        <p:txBody>
          <a:bodyPr/>
          <a:lstStyle/>
          <a:p>
            <a:endParaRPr lang="en-US"/>
          </a:p>
        </p:txBody>
      </p:sp>
      <p:sp>
        <p:nvSpPr>
          <p:cNvPr id="23" name="Text 21"/>
          <p:cNvSpPr/>
          <p:nvPr/>
        </p:nvSpPr>
        <p:spPr>
          <a:xfrm>
            <a:off x="896112" y="5175504"/>
            <a:ext cx="10698480" cy="868680"/>
          </a:xfrm>
          <a:prstGeom prst="rect">
            <a:avLst/>
          </a:prstGeom>
          <a:noFill/>
          <a:ln/>
        </p:spPr>
        <p:txBody>
          <a:bodyPr wrap="square" lIns="0" tIns="0" rIns="0" bIns="0" rtlCol="0" anchor="ctr"/>
          <a:lstStyle/>
          <a:p>
            <a:pPr marL="0" indent="0">
              <a:lnSpc>
                <a:spcPct val="110000"/>
              </a:lnSpc>
              <a:buNone/>
            </a:pPr>
            <a:r>
              <a:rPr lang="en-US" sz="1600" b="1" dirty="0">
                <a:solidFill>
                  <a:srgbClr val="1C8C8C"/>
                </a:solidFill>
                <a:latin typeface="Calibri" pitchFamily="34" charset="0"/>
                <a:ea typeface="Calibri" pitchFamily="34" charset="-122"/>
                <a:cs typeface="Calibri" pitchFamily="34" charset="-120"/>
              </a:rPr>
              <a:t>Notebook 02 — training: </a:t>
            </a:r>
            <a:r>
              <a:rPr lang="en-US" sz="1600" dirty="0">
                <a:solidFill>
                  <a:srgbClr val="2A2233"/>
                </a:solidFill>
                <a:latin typeface="Calibri" pitchFamily="34" charset="0"/>
                <a:ea typeface="Calibri" pitchFamily="34" charset="-122"/>
                <a:cs typeface="Calibri" pitchFamily="34" charset="-120"/>
              </a:rPr>
              <a:t>load cached bags, build a patient-stratified 10-fold split, train CLAM-SB with weighted CE + instance loss, early-stop on val AUC, and log mean ± std across folds. Includes a mean-pooling baseline to beat.</a:t>
            </a:r>
            <a:endParaRPr lang="en-US" sz="1600" dirty="0"/>
          </a:p>
        </p:txBody>
      </p:sp>
      <p:sp>
        <p:nvSpPr>
          <p:cNvPr id="24" name="Text 22"/>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5" name="Text 23"/>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35</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7</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Inference</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From a trained model to a slide-level prediction</a:t>
            </a:r>
            <a:endParaRPr lang="en-US" sz="1800" dirty="0"/>
          </a:p>
        </p:txBody>
      </p:sp>
      <p:sp>
        <p:nvSpPr>
          <p:cNvPr id="8" name="Shape 6"/>
          <p:cNvSpPr/>
          <p:nvPr/>
        </p:nvSpPr>
        <p:spPr>
          <a:xfrm>
            <a:off x="2697480" y="4572000"/>
            <a:ext cx="3383280" cy="457200"/>
          </a:xfrm>
          <a:prstGeom prst="roundRect">
            <a:avLst>
              <a:gd name="adj" fmla="val 16000"/>
            </a:avLst>
          </a:prstGeom>
          <a:solidFill>
            <a:srgbClr val="1C8C8C"/>
          </a:solidFill>
          <a:ln/>
        </p:spPr>
        <p:txBody>
          <a:bodyPr/>
          <a:lstStyle/>
          <a:p>
            <a:endParaRPr lang="en-US"/>
          </a:p>
        </p:txBody>
      </p:sp>
      <p:sp>
        <p:nvSpPr>
          <p:cNvPr id="9" name="Text 7"/>
          <p:cNvSpPr/>
          <p:nvPr/>
        </p:nvSpPr>
        <p:spPr>
          <a:xfrm>
            <a:off x="2697480" y="4572000"/>
            <a:ext cx="338328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  Hands-on notebook included</a:t>
            </a:r>
            <a:endParaRPr lang="en-US" sz="145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11" name="Text 9"/>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36</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INFERENCE · THE FLOW</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Scoring a brand-new slide</a:t>
            </a:r>
            <a:endParaRPr lang="en-US" sz="2900" dirty="0"/>
          </a:p>
        </p:txBody>
      </p:sp>
      <p:sp>
        <p:nvSpPr>
          <p:cNvPr id="5" name="Shape 3"/>
          <p:cNvSpPr/>
          <p:nvPr/>
        </p:nvSpPr>
        <p:spPr>
          <a:xfrm>
            <a:off x="640080" y="1691640"/>
            <a:ext cx="2084832" cy="1051560"/>
          </a:xfrm>
          <a:prstGeom prst="roundRect">
            <a:avLst>
              <a:gd name="adj" fmla="val 5217"/>
            </a:avLst>
          </a:prstGeom>
          <a:solidFill>
            <a:srgbClr val="6B4E8F"/>
          </a:solidFill>
          <a:ln/>
          <a:effectLst>
            <a:outerShdw blurRad="88900" dist="38100" dir="8100000" algn="bl" rotWithShape="0">
              <a:srgbClr val="000000">
                <a:alpha val="13000"/>
              </a:srgbClr>
            </a:outerShdw>
          </a:effectLst>
        </p:spPr>
        <p:txBody>
          <a:bodyPr/>
          <a:lstStyle/>
          <a:p>
            <a:endParaRPr lang="en-US"/>
          </a:p>
        </p:txBody>
      </p:sp>
      <p:sp>
        <p:nvSpPr>
          <p:cNvPr id="6" name="Text 4"/>
          <p:cNvSpPr/>
          <p:nvPr/>
        </p:nvSpPr>
        <p:spPr>
          <a:xfrm>
            <a:off x="640080" y="1691640"/>
            <a:ext cx="208483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New WSI</a:t>
            </a:r>
            <a:endParaRPr lang="en-US" sz="1600" dirty="0"/>
          </a:p>
        </p:txBody>
      </p:sp>
      <p:sp>
        <p:nvSpPr>
          <p:cNvPr id="7" name="Shape 5"/>
          <p:cNvSpPr/>
          <p:nvPr/>
        </p:nvSpPr>
        <p:spPr>
          <a:xfrm>
            <a:off x="2729484" y="2217420"/>
            <a:ext cx="137160" cy="0"/>
          </a:xfrm>
          <a:prstGeom prst="line">
            <a:avLst/>
          </a:prstGeom>
          <a:noFill/>
          <a:ln w="25400">
            <a:solidFill>
              <a:srgbClr val="8A7F99"/>
            </a:solidFill>
            <a:prstDash val="solid"/>
            <a:tailEnd type="triangle"/>
          </a:ln>
        </p:spPr>
        <p:txBody>
          <a:bodyPr/>
          <a:lstStyle/>
          <a:p>
            <a:endParaRPr lang="en-US"/>
          </a:p>
        </p:txBody>
      </p:sp>
      <p:sp>
        <p:nvSpPr>
          <p:cNvPr id="8" name="Shape 6"/>
          <p:cNvSpPr/>
          <p:nvPr/>
        </p:nvSpPr>
        <p:spPr>
          <a:xfrm>
            <a:off x="2871216" y="1691640"/>
            <a:ext cx="2084832" cy="1051560"/>
          </a:xfrm>
          <a:prstGeom prst="roundRect">
            <a:avLst>
              <a:gd name="adj" fmla="val 5217"/>
            </a:avLst>
          </a:prstGeom>
          <a:solidFill>
            <a:srgbClr val="4A2C6D"/>
          </a:solidFill>
          <a:ln/>
          <a:effectLst>
            <a:outerShdw blurRad="88900" dist="38100" dir="8100000" algn="bl" rotWithShape="0">
              <a:srgbClr val="000000">
                <a:alpha val="13000"/>
              </a:srgbClr>
            </a:outerShdw>
          </a:effectLst>
        </p:spPr>
        <p:txBody>
          <a:bodyPr/>
          <a:lstStyle/>
          <a:p>
            <a:endParaRPr lang="en-US"/>
          </a:p>
        </p:txBody>
      </p:sp>
      <p:sp>
        <p:nvSpPr>
          <p:cNvPr id="9" name="Text 7"/>
          <p:cNvSpPr/>
          <p:nvPr/>
        </p:nvSpPr>
        <p:spPr>
          <a:xfrm>
            <a:off x="2871216" y="1691640"/>
            <a:ext cx="208483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Segment +</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patch</a:t>
            </a:r>
            <a:endParaRPr lang="en-US" sz="1600" dirty="0"/>
          </a:p>
        </p:txBody>
      </p:sp>
      <p:sp>
        <p:nvSpPr>
          <p:cNvPr id="10" name="Shape 8"/>
          <p:cNvSpPr/>
          <p:nvPr/>
        </p:nvSpPr>
        <p:spPr>
          <a:xfrm>
            <a:off x="4960620" y="2217420"/>
            <a:ext cx="137160" cy="0"/>
          </a:xfrm>
          <a:prstGeom prst="line">
            <a:avLst/>
          </a:prstGeom>
          <a:noFill/>
          <a:ln w="25400">
            <a:solidFill>
              <a:srgbClr val="8A7F99"/>
            </a:solidFill>
            <a:prstDash val="solid"/>
            <a:tailEnd type="triangle"/>
          </a:ln>
        </p:spPr>
        <p:txBody>
          <a:bodyPr/>
          <a:lstStyle/>
          <a:p>
            <a:endParaRPr lang="en-US"/>
          </a:p>
        </p:txBody>
      </p:sp>
      <p:sp>
        <p:nvSpPr>
          <p:cNvPr id="11" name="Shape 9"/>
          <p:cNvSpPr/>
          <p:nvPr/>
        </p:nvSpPr>
        <p:spPr>
          <a:xfrm>
            <a:off x="5102352" y="1691640"/>
            <a:ext cx="2084832" cy="1051560"/>
          </a:xfrm>
          <a:prstGeom prst="roundRect">
            <a:avLst>
              <a:gd name="adj" fmla="val 5217"/>
            </a:avLst>
          </a:prstGeom>
          <a:solidFill>
            <a:srgbClr val="4A2C6D"/>
          </a:solidFill>
          <a:ln/>
          <a:effectLst>
            <a:outerShdw blurRad="88900" dist="38100" dir="8100000" algn="bl" rotWithShape="0">
              <a:srgbClr val="000000">
                <a:alpha val="13000"/>
              </a:srgbClr>
            </a:outerShdw>
          </a:effectLst>
        </p:spPr>
        <p:txBody>
          <a:bodyPr/>
          <a:lstStyle/>
          <a:p>
            <a:endParaRPr lang="en-US"/>
          </a:p>
        </p:txBody>
      </p:sp>
      <p:sp>
        <p:nvSpPr>
          <p:cNvPr id="12" name="Text 10"/>
          <p:cNvSpPr/>
          <p:nvPr/>
        </p:nvSpPr>
        <p:spPr>
          <a:xfrm>
            <a:off x="5102352" y="1691640"/>
            <a:ext cx="208483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Encode</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(frozen)</a:t>
            </a:r>
            <a:endParaRPr lang="en-US" sz="1600" dirty="0"/>
          </a:p>
        </p:txBody>
      </p:sp>
      <p:sp>
        <p:nvSpPr>
          <p:cNvPr id="13" name="Shape 11"/>
          <p:cNvSpPr/>
          <p:nvPr/>
        </p:nvSpPr>
        <p:spPr>
          <a:xfrm>
            <a:off x="7191756" y="2217420"/>
            <a:ext cx="137160" cy="0"/>
          </a:xfrm>
          <a:prstGeom prst="line">
            <a:avLst/>
          </a:prstGeom>
          <a:noFill/>
          <a:ln w="25400">
            <a:solidFill>
              <a:srgbClr val="8A7F99"/>
            </a:solidFill>
            <a:prstDash val="solid"/>
            <a:tailEnd type="triangle"/>
          </a:ln>
        </p:spPr>
        <p:txBody>
          <a:bodyPr/>
          <a:lstStyle/>
          <a:p>
            <a:endParaRPr lang="en-US"/>
          </a:p>
        </p:txBody>
      </p:sp>
      <p:sp>
        <p:nvSpPr>
          <p:cNvPr id="14" name="Shape 12"/>
          <p:cNvSpPr/>
          <p:nvPr/>
        </p:nvSpPr>
        <p:spPr>
          <a:xfrm>
            <a:off x="7333488" y="1691640"/>
            <a:ext cx="2084832" cy="1051560"/>
          </a:xfrm>
          <a:prstGeom prst="roundRect">
            <a:avLst>
              <a:gd name="adj" fmla="val 5217"/>
            </a:avLst>
          </a:prstGeom>
          <a:solidFill>
            <a:srgbClr val="D6336C"/>
          </a:solidFill>
          <a:ln/>
          <a:effectLst>
            <a:outerShdw blurRad="88900" dist="38100" dir="8100000" algn="bl" rotWithShape="0">
              <a:srgbClr val="000000">
                <a:alpha val="13000"/>
              </a:srgbClr>
            </a:outerShdw>
          </a:effectLst>
        </p:spPr>
        <p:txBody>
          <a:bodyPr/>
          <a:lstStyle/>
          <a:p>
            <a:endParaRPr lang="en-US"/>
          </a:p>
        </p:txBody>
      </p:sp>
      <p:sp>
        <p:nvSpPr>
          <p:cNvPr id="15" name="Text 13"/>
          <p:cNvSpPr/>
          <p:nvPr/>
        </p:nvSpPr>
        <p:spPr>
          <a:xfrm>
            <a:off x="7333488" y="1691640"/>
            <a:ext cx="208483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MIL</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aggregator</a:t>
            </a:r>
            <a:endParaRPr lang="en-US" sz="1600" dirty="0"/>
          </a:p>
        </p:txBody>
      </p:sp>
      <p:sp>
        <p:nvSpPr>
          <p:cNvPr id="16" name="Shape 14"/>
          <p:cNvSpPr/>
          <p:nvPr/>
        </p:nvSpPr>
        <p:spPr>
          <a:xfrm>
            <a:off x="9422892" y="2217420"/>
            <a:ext cx="137160" cy="0"/>
          </a:xfrm>
          <a:prstGeom prst="line">
            <a:avLst/>
          </a:prstGeom>
          <a:noFill/>
          <a:ln w="25400">
            <a:solidFill>
              <a:srgbClr val="8A7F99"/>
            </a:solidFill>
            <a:prstDash val="solid"/>
            <a:tailEnd type="triangle"/>
          </a:ln>
        </p:spPr>
        <p:txBody>
          <a:bodyPr/>
          <a:lstStyle/>
          <a:p>
            <a:endParaRPr lang="en-US"/>
          </a:p>
        </p:txBody>
      </p:sp>
      <p:sp>
        <p:nvSpPr>
          <p:cNvPr id="17" name="Shape 15"/>
          <p:cNvSpPr/>
          <p:nvPr/>
        </p:nvSpPr>
        <p:spPr>
          <a:xfrm>
            <a:off x="9564624" y="1691640"/>
            <a:ext cx="2084832" cy="1051560"/>
          </a:xfrm>
          <a:prstGeom prst="roundRect">
            <a:avLst>
              <a:gd name="adj" fmla="val 5217"/>
            </a:avLst>
          </a:prstGeom>
          <a:solidFill>
            <a:srgbClr val="1C8C8C"/>
          </a:solidFill>
          <a:ln/>
          <a:effectLst>
            <a:outerShdw blurRad="88900" dist="38100" dir="8100000" algn="bl" rotWithShape="0">
              <a:srgbClr val="000000">
                <a:alpha val="13000"/>
              </a:srgbClr>
            </a:outerShdw>
          </a:effectLst>
        </p:spPr>
        <p:txBody>
          <a:bodyPr/>
          <a:lstStyle/>
          <a:p>
            <a:endParaRPr lang="en-US"/>
          </a:p>
        </p:txBody>
      </p:sp>
      <p:sp>
        <p:nvSpPr>
          <p:cNvPr id="18" name="Text 16"/>
          <p:cNvSpPr/>
          <p:nvPr/>
        </p:nvSpPr>
        <p:spPr>
          <a:xfrm>
            <a:off x="9564624" y="1691640"/>
            <a:ext cx="208483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Prob +</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attention</a:t>
            </a:r>
            <a:endParaRPr lang="en-US" sz="1600" dirty="0"/>
          </a:p>
        </p:txBody>
      </p:sp>
      <p:sp>
        <p:nvSpPr>
          <p:cNvPr id="19" name="Text 17"/>
          <p:cNvSpPr/>
          <p:nvPr/>
        </p:nvSpPr>
        <p:spPr>
          <a:xfrm>
            <a:off x="640080" y="3154680"/>
            <a:ext cx="5577840" cy="2926080"/>
          </a:xfrm>
          <a:prstGeom prst="rect">
            <a:avLst/>
          </a:prstGeom>
          <a:noFill/>
          <a:ln/>
        </p:spPr>
        <p:txBody>
          <a:bodyPr wrap="square" lIns="0" tIns="0" rIns="0" bIns="0" rtlCol="0" anchor="t"/>
          <a:lstStyle/>
          <a:p>
            <a:pPr marL="203200" indent="-203200">
              <a:spcAft>
                <a:spcPts val="1000"/>
              </a:spcAft>
              <a:buSzPct val="100000"/>
              <a:buChar char="•"/>
            </a:pPr>
            <a:r>
              <a:rPr lang="en-US" sz="1800" dirty="0">
                <a:solidFill>
                  <a:srgbClr val="2A2233"/>
                </a:solidFill>
                <a:latin typeface="Calibri" pitchFamily="34" charset="0"/>
                <a:ea typeface="Calibri" pitchFamily="34" charset="-122"/>
                <a:cs typeface="Calibri" pitchFamily="34" charset="-120"/>
              </a:rPr>
              <a:t>Inference reuses the EXACT data-prep pipeline from training — same mpp, patch size, encoder.</a:t>
            </a:r>
            <a:endParaRPr lang="en-US" sz="1800" dirty="0"/>
          </a:p>
          <a:p>
            <a:pPr marL="203200" indent="-203200">
              <a:spcAft>
                <a:spcPts val="1000"/>
              </a:spcAft>
              <a:buSzPct val="100000"/>
              <a:buChar char="•"/>
            </a:pPr>
            <a:r>
              <a:rPr lang="en-US" sz="1800" dirty="0">
                <a:solidFill>
                  <a:srgbClr val="2A2233"/>
                </a:solidFill>
                <a:latin typeface="Calibri" pitchFamily="34" charset="0"/>
                <a:ea typeface="Calibri" pitchFamily="34" charset="-122"/>
                <a:cs typeface="Calibri" pitchFamily="34" charset="-120"/>
              </a:rPr>
              <a:t>The aggregator outputs class probabilities AND the per-patch attention vector in one forward pass.</a:t>
            </a:r>
            <a:endParaRPr lang="en-US" sz="1800" dirty="0"/>
          </a:p>
          <a:p>
            <a:pPr marL="203200" indent="-203200">
              <a:spcAft>
                <a:spcPts val="1000"/>
              </a:spcAft>
              <a:buSzPct val="100000"/>
              <a:buChar char="•"/>
            </a:pPr>
            <a:r>
              <a:rPr lang="en-US" sz="1800" dirty="0">
                <a:solidFill>
                  <a:srgbClr val="2A2233"/>
                </a:solidFill>
                <a:latin typeface="Calibri" pitchFamily="34" charset="0"/>
                <a:ea typeface="Calibri" pitchFamily="34" charset="-122"/>
                <a:cs typeface="Calibri" pitchFamily="34" charset="-120"/>
              </a:rPr>
              <a:t>Deterministic and fast: the bag is small once features are computed; the head is sub-second.</a:t>
            </a:r>
            <a:endParaRPr lang="en-US" sz="1800" dirty="0"/>
          </a:p>
          <a:p>
            <a:pPr marL="203200" indent="-203200">
              <a:spcAft>
                <a:spcPts val="1000"/>
              </a:spcAft>
              <a:buSzPct val="100000"/>
              <a:buChar char="•"/>
            </a:pPr>
            <a:r>
              <a:rPr lang="en-US" sz="1800" dirty="0">
                <a:solidFill>
                  <a:srgbClr val="2A2233"/>
                </a:solidFill>
                <a:latin typeface="Calibri" pitchFamily="34" charset="0"/>
                <a:ea typeface="Calibri" pitchFamily="34" charset="-122"/>
                <a:cs typeface="Calibri" pitchFamily="34" charset="-120"/>
              </a:rPr>
              <a:t>The bottleneck is patch encoding, not the MIL head — same as training stage 1.</a:t>
            </a:r>
            <a:endParaRPr lang="en-US" sz="1800" dirty="0"/>
          </a:p>
        </p:txBody>
      </p:sp>
      <p:sp>
        <p:nvSpPr>
          <p:cNvPr id="20" name="Shape 18"/>
          <p:cNvSpPr/>
          <p:nvPr/>
        </p:nvSpPr>
        <p:spPr>
          <a:xfrm>
            <a:off x="6400800" y="3154680"/>
            <a:ext cx="5394960" cy="2926080"/>
          </a:xfrm>
          <a:prstGeom prst="rect">
            <a:avLst/>
          </a:prstGeom>
          <a:solidFill>
            <a:srgbClr val="2B2138"/>
          </a:solidFill>
          <a:ln w="12700">
            <a:solidFill>
              <a:srgbClr val="6B4E8F"/>
            </a:solidFill>
            <a:prstDash val="solid"/>
          </a:ln>
        </p:spPr>
        <p:txBody>
          <a:bodyPr/>
          <a:lstStyle/>
          <a:p>
            <a:endParaRPr lang="en-US"/>
          </a:p>
        </p:txBody>
      </p:sp>
      <p:sp>
        <p:nvSpPr>
          <p:cNvPr id="21" name="Text 19"/>
          <p:cNvSpPr/>
          <p:nvPr/>
        </p:nvSpPr>
        <p:spPr>
          <a:xfrm>
            <a:off x="6565392" y="3264408"/>
            <a:ext cx="5084064" cy="2706624"/>
          </a:xfrm>
          <a:prstGeom prst="rect">
            <a:avLst/>
          </a:prstGeom>
          <a:noFill/>
          <a:ln/>
        </p:spPr>
        <p:txBody>
          <a:bodyPr wrap="square" lIns="0" tIns="0" rIns="0" bIns="0" rtlCol="0" anchor="t"/>
          <a:lstStyle/>
          <a:p>
            <a:pPr marL="0" indent="0">
              <a:spcAft>
                <a:spcPts val="200"/>
              </a:spcAft>
              <a:buNone/>
            </a:pPr>
            <a:r>
              <a:rPr lang="en-US" sz="1400" dirty="0">
                <a:solidFill>
                  <a:srgbClr val="9A8CB0"/>
                </a:solidFill>
                <a:latin typeface="Courier New" pitchFamily="34" charset="0"/>
                <a:ea typeface="Courier New" pitchFamily="34" charset="-122"/>
                <a:cs typeface="Courier New" pitchFamily="34" charset="-120"/>
              </a:rPr>
              <a:t># notebook 03 — inference</a:t>
            </a:r>
            <a:endParaRPr lang="en-US" sz="1400" dirty="0"/>
          </a:p>
          <a:p>
            <a:pPr marL="0" indent="0">
              <a:spcAft>
                <a:spcPts val="200"/>
              </a:spcAft>
              <a:buNone/>
            </a:pPr>
            <a:r>
              <a:rPr lang="en-US" sz="1400" dirty="0">
                <a:solidFill>
                  <a:srgbClr val="EDE6F5"/>
                </a:solidFill>
                <a:latin typeface="Courier New" pitchFamily="34" charset="0"/>
                <a:ea typeface="Courier New" pitchFamily="34" charset="-122"/>
                <a:cs typeface="Courier New" pitchFamily="34" charset="-120"/>
              </a:rPr>
              <a:t>model.eval()</a:t>
            </a:r>
            <a:endParaRPr lang="en-US" sz="1400" dirty="0"/>
          </a:p>
          <a:p>
            <a:pPr marL="0" indent="0">
              <a:spcAft>
                <a:spcPts val="200"/>
              </a:spcAft>
              <a:buNone/>
            </a:pPr>
            <a:r>
              <a:rPr lang="en-US" sz="1400" dirty="0">
                <a:solidFill>
                  <a:srgbClr val="EDE6F5"/>
                </a:solidFill>
                <a:latin typeface="Courier New" pitchFamily="34" charset="0"/>
                <a:ea typeface="Courier New" pitchFamily="34" charset="-122"/>
                <a:cs typeface="Courier New" pitchFamily="34" charset="-120"/>
              </a:rPr>
              <a:t>with torch.no_grad():</a:t>
            </a:r>
            <a:endParaRPr lang="en-US" sz="1400" dirty="0"/>
          </a:p>
          <a:p>
            <a:pPr marL="0" indent="0">
              <a:spcAft>
                <a:spcPts val="200"/>
              </a:spcAft>
              <a:buNone/>
            </a:pPr>
            <a:r>
              <a:rPr lang="en-US" sz="1400" dirty="0">
                <a:solidFill>
                  <a:srgbClr val="EDE6F5"/>
                </a:solidFill>
                <a:latin typeface="Courier New" pitchFamily="34" charset="0"/>
                <a:ea typeface="Courier New" pitchFamily="34" charset="-122"/>
                <a:cs typeface="Courier New" pitchFamily="34" charset="-120"/>
              </a:rPr>
              <a:t>    bag = build_bag(new_wsi)   # prep + encode</a:t>
            </a:r>
            <a:endParaRPr lang="en-US" sz="1400" dirty="0"/>
          </a:p>
          <a:p>
            <a:pPr marL="0" indent="0">
              <a:spcAft>
                <a:spcPts val="200"/>
              </a:spcAft>
              <a:buNone/>
            </a:pPr>
            <a:r>
              <a:rPr lang="en-US" sz="1400" dirty="0">
                <a:solidFill>
                  <a:srgbClr val="EDE6F5"/>
                </a:solidFill>
                <a:latin typeface="Courier New" pitchFamily="34" charset="0"/>
                <a:ea typeface="Courier New" pitchFamily="34" charset="-122"/>
                <a:cs typeface="Courier New" pitchFamily="34" charset="-120"/>
              </a:rPr>
              <a:t>    logits, A, _ = model(bag)</a:t>
            </a:r>
            <a:endParaRPr lang="en-US" sz="1400" dirty="0"/>
          </a:p>
          <a:p>
            <a:pPr marL="0" indent="0">
              <a:spcAft>
                <a:spcPts val="200"/>
              </a:spcAft>
              <a:buNone/>
            </a:pPr>
            <a:r>
              <a:rPr lang="en-US" sz="1400" dirty="0">
                <a:solidFill>
                  <a:srgbClr val="EDE6F5"/>
                </a:solidFill>
                <a:latin typeface="Courier New" pitchFamily="34" charset="0"/>
                <a:ea typeface="Courier New" pitchFamily="34" charset="-122"/>
                <a:cs typeface="Courier New" pitchFamily="34" charset="-120"/>
              </a:rPr>
              <a:t>    prob = softmax(logits)[1].item()</a:t>
            </a:r>
            <a:endParaRPr lang="en-US" sz="1400" dirty="0"/>
          </a:p>
          <a:p>
            <a:pPr marL="0" indent="0">
              <a:spcAft>
                <a:spcPts val="200"/>
              </a:spcAft>
              <a:buNone/>
            </a:pPr>
            <a:endParaRPr lang="en-US" sz="1400" dirty="0"/>
          </a:p>
          <a:p>
            <a:pPr marL="0" indent="0">
              <a:spcAft>
                <a:spcPts val="200"/>
              </a:spcAft>
              <a:buNone/>
            </a:pPr>
            <a:r>
              <a:rPr lang="en-US" sz="1400" dirty="0">
                <a:solidFill>
                  <a:srgbClr val="EDE6F5"/>
                </a:solidFill>
                <a:latin typeface="Courier New" pitchFamily="34" charset="0"/>
                <a:ea typeface="Courier New" pitchFamily="34" charset="-122"/>
                <a:cs typeface="Courier New" pitchFamily="34" charset="-120"/>
              </a:rPr>
              <a:t>print(f'P(tumor) = {prob:.3f}')</a:t>
            </a:r>
            <a:endParaRPr lang="en-US" sz="1400" dirty="0"/>
          </a:p>
          <a:p>
            <a:pPr marL="0" indent="0">
              <a:spcAft>
                <a:spcPts val="200"/>
              </a:spcAft>
              <a:buNone/>
            </a:pPr>
            <a:r>
              <a:rPr lang="en-US" sz="1400" dirty="0">
                <a:solidFill>
                  <a:srgbClr val="9A8CB0"/>
                </a:solidFill>
                <a:latin typeface="Courier New" pitchFamily="34" charset="0"/>
                <a:ea typeface="Courier New" pitchFamily="34" charset="-122"/>
                <a:cs typeface="Courier New" pitchFamily="34" charset="-120"/>
              </a:rPr>
              <a:t># A: (N,) attention → heatmap (sec. 8)</a:t>
            </a:r>
            <a:endParaRPr lang="en-US" sz="1400" dirty="0"/>
          </a:p>
        </p:txBody>
      </p:sp>
      <p:sp>
        <p:nvSpPr>
          <p:cNvPr id="22" name="Text 20"/>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3" name="Text 21"/>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37</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INFERENCE · DEPLOYMENT</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Taking it off the laptop</a:t>
            </a:r>
            <a:endParaRPr lang="en-US" sz="2900" dirty="0"/>
          </a:p>
        </p:txBody>
      </p:sp>
      <p:sp>
        <p:nvSpPr>
          <p:cNvPr id="5" name="Shape 3"/>
          <p:cNvSpPr/>
          <p:nvPr/>
        </p:nvSpPr>
        <p:spPr>
          <a:xfrm>
            <a:off x="640080" y="1463040"/>
            <a:ext cx="3566160" cy="201168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463040"/>
            <a:ext cx="82296" cy="2011680"/>
          </a:xfrm>
          <a:prstGeom prst="rect">
            <a:avLst/>
          </a:prstGeom>
          <a:solidFill>
            <a:srgbClr val="4A2C6D"/>
          </a:solidFill>
          <a:ln/>
        </p:spPr>
        <p:txBody>
          <a:bodyPr/>
          <a:lstStyle/>
          <a:p>
            <a:endParaRPr lang="en-US"/>
          </a:p>
        </p:txBody>
      </p:sp>
      <p:sp>
        <p:nvSpPr>
          <p:cNvPr id="7" name="Text 5"/>
          <p:cNvSpPr/>
          <p:nvPr/>
        </p:nvSpPr>
        <p:spPr>
          <a:xfrm>
            <a:off x="877824" y="1609344"/>
            <a:ext cx="310896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Throughput</a:t>
            </a:r>
            <a:endParaRPr lang="en-US" sz="1700" dirty="0"/>
          </a:p>
        </p:txBody>
      </p:sp>
      <p:sp>
        <p:nvSpPr>
          <p:cNvPr id="8" name="Text 6"/>
          <p:cNvSpPr/>
          <p:nvPr/>
        </p:nvSpPr>
        <p:spPr>
          <a:xfrm>
            <a:off x="877824" y="2011680"/>
            <a:ext cx="3108960" cy="137160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Encoding 10k–50k patches/slide is the cost. Batch on GPU, fp16/AMP, multi-GPU shard by slide.</a:t>
            </a:r>
            <a:endParaRPr lang="en-US" sz="1450" dirty="0"/>
          </a:p>
        </p:txBody>
      </p:sp>
      <p:sp>
        <p:nvSpPr>
          <p:cNvPr id="9" name="Shape 7"/>
          <p:cNvSpPr/>
          <p:nvPr/>
        </p:nvSpPr>
        <p:spPr>
          <a:xfrm>
            <a:off x="4507992" y="1463040"/>
            <a:ext cx="3566160" cy="201168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4507992" y="1463040"/>
            <a:ext cx="82296" cy="2011680"/>
          </a:xfrm>
          <a:prstGeom prst="rect">
            <a:avLst/>
          </a:prstGeom>
          <a:solidFill>
            <a:srgbClr val="D6336C"/>
          </a:solidFill>
          <a:ln/>
        </p:spPr>
        <p:txBody>
          <a:bodyPr/>
          <a:lstStyle/>
          <a:p>
            <a:endParaRPr lang="en-US"/>
          </a:p>
        </p:txBody>
      </p:sp>
      <p:sp>
        <p:nvSpPr>
          <p:cNvPr id="11" name="Text 9"/>
          <p:cNvSpPr/>
          <p:nvPr/>
        </p:nvSpPr>
        <p:spPr>
          <a:xfrm>
            <a:off x="4745736" y="1609344"/>
            <a:ext cx="310896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Latency budget</a:t>
            </a:r>
            <a:endParaRPr lang="en-US" sz="1700" dirty="0"/>
          </a:p>
        </p:txBody>
      </p:sp>
      <p:sp>
        <p:nvSpPr>
          <p:cNvPr id="12" name="Text 10"/>
          <p:cNvSpPr/>
          <p:nvPr/>
        </p:nvSpPr>
        <p:spPr>
          <a:xfrm>
            <a:off x="4745736" y="2011680"/>
            <a:ext cx="3108960" cy="137160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Pre-compute features asynchronously when a slide is scanned; the MIL head adds milliseconds.</a:t>
            </a:r>
            <a:endParaRPr lang="en-US" sz="1450" dirty="0"/>
          </a:p>
        </p:txBody>
      </p:sp>
      <p:sp>
        <p:nvSpPr>
          <p:cNvPr id="13" name="Shape 11"/>
          <p:cNvSpPr/>
          <p:nvPr/>
        </p:nvSpPr>
        <p:spPr>
          <a:xfrm>
            <a:off x="8375904" y="1463040"/>
            <a:ext cx="3566160" cy="201168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8375904" y="1463040"/>
            <a:ext cx="82296" cy="2011680"/>
          </a:xfrm>
          <a:prstGeom prst="rect">
            <a:avLst/>
          </a:prstGeom>
          <a:solidFill>
            <a:srgbClr val="1C8C8C"/>
          </a:solidFill>
          <a:ln/>
        </p:spPr>
        <p:txBody>
          <a:bodyPr/>
          <a:lstStyle/>
          <a:p>
            <a:endParaRPr lang="en-US"/>
          </a:p>
        </p:txBody>
      </p:sp>
      <p:sp>
        <p:nvSpPr>
          <p:cNvPr id="15" name="Text 13"/>
          <p:cNvSpPr/>
          <p:nvPr/>
        </p:nvSpPr>
        <p:spPr>
          <a:xfrm>
            <a:off x="8613648" y="1609344"/>
            <a:ext cx="310896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Reproducibility</a:t>
            </a:r>
            <a:endParaRPr lang="en-US" sz="1700" dirty="0"/>
          </a:p>
        </p:txBody>
      </p:sp>
      <p:sp>
        <p:nvSpPr>
          <p:cNvPr id="16" name="Text 14"/>
          <p:cNvSpPr/>
          <p:nvPr/>
        </p:nvSpPr>
        <p:spPr>
          <a:xfrm>
            <a:off x="8613648" y="2011680"/>
            <a:ext cx="3108960" cy="137160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Pin encoder weights, mpp, patch size, and preprocessing. A different encoder = a different model.</a:t>
            </a:r>
            <a:endParaRPr lang="en-US" sz="1450" dirty="0"/>
          </a:p>
        </p:txBody>
      </p:sp>
      <p:sp>
        <p:nvSpPr>
          <p:cNvPr id="17" name="Shape 15"/>
          <p:cNvSpPr/>
          <p:nvPr/>
        </p:nvSpPr>
        <p:spPr>
          <a:xfrm>
            <a:off x="640080" y="3730752"/>
            <a:ext cx="3566160" cy="201168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40080" y="3730752"/>
            <a:ext cx="82296" cy="2011680"/>
          </a:xfrm>
          <a:prstGeom prst="rect">
            <a:avLst/>
          </a:prstGeom>
          <a:solidFill>
            <a:srgbClr val="C77D14"/>
          </a:solidFill>
          <a:ln/>
        </p:spPr>
        <p:txBody>
          <a:bodyPr/>
          <a:lstStyle/>
          <a:p>
            <a:endParaRPr lang="en-US"/>
          </a:p>
        </p:txBody>
      </p:sp>
      <p:sp>
        <p:nvSpPr>
          <p:cNvPr id="19" name="Text 17"/>
          <p:cNvSpPr/>
          <p:nvPr/>
        </p:nvSpPr>
        <p:spPr>
          <a:xfrm>
            <a:off x="877824" y="3877056"/>
            <a:ext cx="310896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Confidence &amp; abstention</a:t>
            </a:r>
            <a:endParaRPr lang="en-US" sz="1700" dirty="0"/>
          </a:p>
        </p:txBody>
      </p:sp>
      <p:sp>
        <p:nvSpPr>
          <p:cNvPr id="20" name="Text 18"/>
          <p:cNvSpPr/>
          <p:nvPr/>
        </p:nvSpPr>
        <p:spPr>
          <a:xfrm>
            <a:off x="877824" y="4279392"/>
            <a:ext cx="3108960" cy="137160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Calibrate probabilities; flag low-confidence or out-of-distribution slides for human review.</a:t>
            </a:r>
            <a:endParaRPr lang="en-US" sz="1450" dirty="0"/>
          </a:p>
        </p:txBody>
      </p:sp>
      <p:sp>
        <p:nvSpPr>
          <p:cNvPr id="21" name="Shape 19"/>
          <p:cNvSpPr/>
          <p:nvPr/>
        </p:nvSpPr>
        <p:spPr>
          <a:xfrm>
            <a:off x="4507992" y="3730752"/>
            <a:ext cx="3566160" cy="201168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4507992" y="3730752"/>
            <a:ext cx="82296" cy="2011680"/>
          </a:xfrm>
          <a:prstGeom prst="rect">
            <a:avLst/>
          </a:prstGeom>
          <a:solidFill>
            <a:srgbClr val="6B4E8F"/>
          </a:solidFill>
          <a:ln/>
        </p:spPr>
        <p:txBody>
          <a:bodyPr/>
          <a:lstStyle/>
          <a:p>
            <a:endParaRPr lang="en-US"/>
          </a:p>
        </p:txBody>
      </p:sp>
      <p:sp>
        <p:nvSpPr>
          <p:cNvPr id="23" name="Text 21"/>
          <p:cNvSpPr/>
          <p:nvPr/>
        </p:nvSpPr>
        <p:spPr>
          <a:xfrm>
            <a:off x="4745736" y="3877056"/>
            <a:ext cx="310896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Quality control</a:t>
            </a:r>
            <a:endParaRPr lang="en-US" sz="1700" dirty="0"/>
          </a:p>
        </p:txBody>
      </p:sp>
      <p:sp>
        <p:nvSpPr>
          <p:cNvPr id="24" name="Text 22"/>
          <p:cNvSpPr/>
          <p:nvPr/>
        </p:nvSpPr>
        <p:spPr>
          <a:xfrm>
            <a:off x="4745736" y="4279392"/>
            <a:ext cx="3108960" cy="137160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Detect blur, pen marks, tissue folds before scoring — garbage patches → garbage features.</a:t>
            </a:r>
            <a:endParaRPr lang="en-US" sz="1450" dirty="0"/>
          </a:p>
        </p:txBody>
      </p:sp>
      <p:sp>
        <p:nvSpPr>
          <p:cNvPr id="25" name="Shape 23"/>
          <p:cNvSpPr/>
          <p:nvPr/>
        </p:nvSpPr>
        <p:spPr>
          <a:xfrm>
            <a:off x="8375904" y="3730752"/>
            <a:ext cx="3566160" cy="201168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4"/>
          <p:cNvSpPr/>
          <p:nvPr/>
        </p:nvSpPr>
        <p:spPr>
          <a:xfrm>
            <a:off x="8375904" y="3730752"/>
            <a:ext cx="82296" cy="2011680"/>
          </a:xfrm>
          <a:prstGeom prst="rect">
            <a:avLst/>
          </a:prstGeom>
          <a:solidFill>
            <a:srgbClr val="D6336C"/>
          </a:solidFill>
          <a:ln/>
        </p:spPr>
        <p:txBody>
          <a:bodyPr/>
          <a:lstStyle/>
          <a:p>
            <a:endParaRPr lang="en-US"/>
          </a:p>
        </p:txBody>
      </p:sp>
      <p:sp>
        <p:nvSpPr>
          <p:cNvPr id="27" name="Text 25"/>
          <p:cNvSpPr/>
          <p:nvPr/>
        </p:nvSpPr>
        <p:spPr>
          <a:xfrm>
            <a:off x="8613648" y="3877056"/>
            <a:ext cx="310896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Regulatory &amp; audit</a:t>
            </a:r>
            <a:endParaRPr lang="en-US" sz="1700" dirty="0"/>
          </a:p>
        </p:txBody>
      </p:sp>
      <p:sp>
        <p:nvSpPr>
          <p:cNvPr id="28" name="Text 26"/>
          <p:cNvSpPr/>
          <p:nvPr/>
        </p:nvSpPr>
        <p:spPr>
          <a:xfrm>
            <a:off x="8613648" y="4279392"/>
            <a:ext cx="3108960" cy="137160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Log inputs, versions, and attention maps; clinical use needs validation + traceability.</a:t>
            </a:r>
            <a:endParaRPr lang="en-US" sz="1450" dirty="0"/>
          </a:p>
        </p:txBody>
      </p:sp>
      <p:sp>
        <p:nvSpPr>
          <p:cNvPr id="29" name="Text 2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0" name="Text 28"/>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38</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8</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Post-processing</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Turning attention into interpretable, case-level outputs</a:t>
            </a:r>
            <a:endParaRPr lang="en-US" sz="1800" dirty="0"/>
          </a:p>
        </p:txBody>
      </p:sp>
      <p:sp>
        <p:nvSpPr>
          <p:cNvPr id="8" name="Shape 6"/>
          <p:cNvSpPr/>
          <p:nvPr/>
        </p:nvSpPr>
        <p:spPr>
          <a:xfrm>
            <a:off x="2697480" y="4572000"/>
            <a:ext cx="3383280" cy="457200"/>
          </a:xfrm>
          <a:prstGeom prst="roundRect">
            <a:avLst>
              <a:gd name="adj" fmla="val 16000"/>
            </a:avLst>
          </a:prstGeom>
          <a:solidFill>
            <a:srgbClr val="1C8C8C"/>
          </a:solidFill>
          <a:ln/>
        </p:spPr>
        <p:txBody>
          <a:bodyPr/>
          <a:lstStyle/>
          <a:p>
            <a:endParaRPr lang="en-US"/>
          </a:p>
        </p:txBody>
      </p:sp>
      <p:sp>
        <p:nvSpPr>
          <p:cNvPr id="9" name="Text 7"/>
          <p:cNvSpPr/>
          <p:nvPr/>
        </p:nvSpPr>
        <p:spPr>
          <a:xfrm>
            <a:off x="2697480" y="4572000"/>
            <a:ext cx="338328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  Hands-on notebook included</a:t>
            </a:r>
            <a:endParaRPr lang="en-US" sz="145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11" name="Text 9"/>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39</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POST-PROCESSING · HEATMAPS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Attention → interpretable heatmaps</a:t>
            </a:r>
            <a:endParaRPr lang="en-US" sz="2900" dirty="0"/>
          </a:p>
        </p:txBody>
      </p:sp>
      <p:sp>
        <p:nvSpPr>
          <p:cNvPr id="5" name="Text 3"/>
          <p:cNvSpPr/>
          <p:nvPr/>
        </p:nvSpPr>
        <p:spPr>
          <a:xfrm>
            <a:off x="640080" y="1554480"/>
            <a:ext cx="5394960" cy="3291840"/>
          </a:xfrm>
          <a:prstGeom prst="rect">
            <a:avLst/>
          </a:prstGeom>
          <a:noFill/>
          <a:ln/>
        </p:spPr>
        <p:txBody>
          <a:bodyPr wrap="square" lIns="0" tIns="0" rIns="0" bIns="0" rtlCol="0" anchor="t"/>
          <a:lstStyle/>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Each patch already has an attention weight aᵢ from the forward pass.</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Scatter aᵢ back to the patch's (x,y) coordinate → an attention map over the slide.</a:t>
            </a:r>
            <a:endParaRPr lang="en-US" sz="1800" dirty="0"/>
          </a:p>
          <a:p>
            <a:pPr marL="203200" indent="-203200">
              <a:spcAft>
                <a:spcPts val="600"/>
              </a:spcAft>
              <a:buSzPct val="100000"/>
              <a:buChar char="•"/>
            </a:pPr>
            <a:r>
              <a:rPr lang="en-US" sz="1800" dirty="0">
                <a:solidFill>
                  <a:srgbClr val="2A2233"/>
                </a:solidFill>
                <a:latin typeface="Calibri" pitchFamily="34" charset="0"/>
                <a:ea typeface="Calibri" pitchFamily="34" charset="-122"/>
                <a:cs typeface="Calibri" pitchFamily="34" charset="-120"/>
              </a:rPr>
              <a:t>Normalize (percentile clip), apply a colormap, and alpha-blend over the slide thumbnail.</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Hotspots show the tissue regions that drove the prediction — pathologists can verify them.</a:t>
            </a:r>
            <a:endParaRPr lang="en-US" sz="1800" dirty="0"/>
          </a:p>
          <a:p>
            <a:pPr marL="203200" indent="-203200">
              <a:spcAft>
                <a:spcPts val="900"/>
              </a:spcAft>
              <a:buSzPct val="100000"/>
              <a:buChar char="•"/>
            </a:pPr>
            <a:r>
              <a:rPr lang="en-US" sz="1800" dirty="0">
                <a:solidFill>
                  <a:srgbClr val="2A2233"/>
                </a:solidFill>
                <a:latin typeface="Calibri" pitchFamily="34" charset="0"/>
                <a:ea typeface="Calibri" pitchFamily="34" charset="-122"/>
                <a:cs typeface="Calibri" pitchFamily="34" charset="-120"/>
              </a:rPr>
              <a:t>Caveat: attention ≠ causation. It localizes, but high-attention isn't a guarantee of tumor; validate.</a:t>
            </a:r>
            <a:endParaRPr lang="en-US" sz="1800" dirty="0"/>
          </a:p>
        </p:txBody>
      </p:sp>
      <p:sp>
        <p:nvSpPr>
          <p:cNvPr id="6" name="Shape 4"/>
          <p:cNvSpPr/>
          <p:nvPr/>
        </p:nvSpPr>
        <p:spPr>
          <a:xfrm>
            <a:off x="640080" y="4937760"/>
            <a:ext cx="5394960" cy="1188720"/>
          </a:xfrm>
          <a:prstGeom prst="rect">
            <a:avLst/>
          </a:prstGeom>
          <a:solidFill>
            <a:srgbClr val="2B2138"/>
          </a:solidFill>
          <a:ln w="12700">
            <a:solidFill>
              <a:srgbClr val="6B4E8F"/>
            </a:solidFill>
            <a:prstDash val="solid"/>
          </a:ln>
        </p:spPr>
        <p:txBody>
          <a:bodyPr/>
          <a:lstStyle/>
          <a:p>
            <a:endParaRPr lang="en-US"/>
          </a:p>
        </p:txBody>
      </p:sp>
      <p:sp>
        <p:nvSpPr>
          <p:cNvPr id="7" name="Text 5"/>
          <p:cNvSpPr/>
          <p:nvPr/>
        </p:nvSpPr>
        <p:spPr>
          <a:xfrm>
            <a:off x="804672" y="5047488"/>
            <a:ext cx="5084064" cy="969264"/>
          </a:xfrm>
          <a:prstGeom prst="rect">
            <a:avLst/>
          </a:prstGeom>
          <a:noFill/>
          <a:ln/>
        </p:spPr>
        <p:txBody>
          <a:bodyPr wrap="square" lIns="0" tIns="0" rIns="0" bIns="0" rtlCol="0" anchor="t"/>
          <a:lstStyle/>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scores = (A - A.min())/(A.max()-A.min())</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heat = paste_patches(coords, cmap(scores))</a:t>
            </a:r>
            <a:endParaRPr lang="en-US" sz="1350" dirty="0"/>
          </a:p>
          <a:p>
            <a:pPr marL="0" indent="0">
              <a:spcAft>
                <a:spcPts val="200"/>
              </a:spcAft>
              <a:buNone/>
            </a:pPr>
            <a:r>
              <a:rPr lang="en-US" sz="1350" dirty="0">
                <a:solidFill>
                  <a:srgbClr val="EDE6F5"/>
                </a:solidFill>
                <a:latin typeface="Courier New" pitchFamily="34" charset="0"/>
                <a:ea typeface="Courier New" pitchFamily="34" charset="-122"/>
                <a:cs typeface="Courier New" pitchFamily="34" charset="-120"/>
              </a:rPr>
              <a:t>overlay = blend(thumbnail, heat, alpha=0.5)</a:t>
            </a:r>
            <a:endParaRPr lang="en-US" sz="1350" dirty="0"/>
          </a:p>
        </p:txBody>
      </p:sp>
      <p:sp>
        <p:nvSpPr>
          <p:cNvPr id="8" name="Shape 6"/>
          <p:cNvSpPr/>
          <p:nvPr/>
        </p:nvSpPr>
        <p:spPr>
          <a:xfrm>
            <a:off x="6126480" y="1508760"/>
            <a:ext cx="566928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9" name="Text 7"/>
          <p:cNvSpPr/>
          <p:nvPr/>
        </p:nvSpPr>
        <p:spPr>
          <a:xfrm>
            <a:off x="635508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Attention overlaid on the slide</a:t>
            </a:r>
            <a:endParaRPr lang="en-US" sz="1400" dirty="0"/>
          </a:p>
        </p:txBody>
      </p:sp>
      <p:sp>
        <p:nvSpPr>
          <p:cNvPr id="10" name="Shape 8"/>
          <p:cNvSpPr/>
          <p:nvPr/>
        </p:nvSpPr>
        <p:spPr>
          <a:xfrm>
            <a:off x="6766560" y="2194560"/>
            <a:ext cx="4572000" cy="3383280"/>
          </a:xfrm>
          <a:prstGeom prst="ellipse">
            <a:avLst/>
          </a:prstGeom>
          <a:solidFill>
            <a:srgbClr val="EFE7F6"/>
          </a:solidFill>
          <a:ln w="12700">
            <a:solidFill>
              <a:srgbClr val="8A7F99"/>
            </a:solidFill>
            <a:prstDash val="solid"/>
          </a:ln>
        </p:spPr>
        <p:txBody>
          <a:bodyPr/>
          <a:lstStyle/>
          <a:p>
            <a:endParaRPr lang="en-US"/>
          </a:p>
        </p:txBody>
      </p:sp>
      <p:sp>
        <p:nvSpPr>
          <p:cNvPr id="11" name="Shape 9"/>
          <p:cNvSpPr/>
          <p:nvPr/>
        </p:nvSpPr>
        <p:spPr>
          <a:xfrm>
            <a:off x="8055864" y="2286000"/>
            <a:ext cx="347472" cy="347472"/>
          </a:xfrm>
          <a:prstGeom prst="rect">
            <a:avLst/>
          </a:prstGeom>
          <a:solidFill>
            <a:srgbClr val="F3A26B">
              <a:alpha val="85000"/>
            </a:srgbClr>
          </a:solidFill>
          <a:ln/>
        </p:spPr>
        <p:txBody>
          <a:bodyPr/>
          <a:lstStyle/>
          <a:p>
            <a:endParaRPr lang="en-US"/>
          </a:p>
        </p:txBody>
      </p:sp>
      <p:sp>
        <p:nvSpPr>
          <p:cNvPr id="12" name="Shape 10"/>
          <p:cNvSpPr/>
          <p:nvPr/>
        </p:nvSpPr>
        <p:spPr>
          <a:xfrm>
            <a:off x="8439912" y="2286000"/>
            <a:ext cx="347472" cy="347472"/>
          </a:xfrm>
          <a:prstGeom prst="rect">
            <a:avLst/>
          </a:prstGeom>
          <a:solidFill>
            <a:srgbClr val="F3A26B">
              <a:alpha val="85000"/>
            </a:srgbClr>
          </a:solidFill>
          <a:ln/>
        </p:spPr>
        <p:txBody>
          <a:bodyPr/>
          <a:lstStyle/>
          <a:p>
            <a:endParaRPr lang="en-US"/>
          </a:p>
        </p:txBody>
      </p:sp>
      <p:sp>
        <p:nvSpPr>
          <p:cNvPr id="13" name="Shape 11"/>
          <p:cNvSpPr/>
          <p:nvPr/>
        </p:nvSpPr>
        <p:spPr>
          <a:xfrm>
            <a:off x="8823960" y="2286000"/>
            <a:ext cx="347472" cy="347472"/>
          </a:xfrm>
          <a:prstGeom prst="rect">
            <a:avLst/>
          </a:prstGeom>
          <a:solidFill>
            <a:srgbClr val="F3A26B">
              <a:alpha val="85000"/>
            </a:srgbClr>
          </a:solidFill>
          <a:ln/>
        </p:spPr>
        <p:txBody>
          <a:bodyPr/>
          <a:lstStyle/>
          <a:p>
            <a:endParaRPr lang="en-US"/>
          </a:p>
        </p:txBody>
      </p:sp>
      <p:sp>
        <p:nvSpPr>
          <p:cNvPr id="14" name="Shape 12"/>
          <p:cNvSpPr/>
          <p:nvPr/>
        </p:nvSpPr>
        <p:spPr>
          <a:xfrm>
            <a:off x="9208008" y="2286000"/>
            <a:ext cx="347472" cy="347472"/>
          </a:xfrm>
          <a:prstGeom prst="rect">
            <a:avLst/>
          </a:prstGeom>
          <a:solidFill>
            <a:srgbClr val="F3A26B">
              <a:alpha val="85000"/>
            </a:srgbClr>
          </a:solidFill>
          <a:ln/>
        </p:spPr>
        <p:txBody>
          <a:bodyPr/>
          <a:lstStyle/>
          <a:p>
            <a:endParaRPr lang="en-US"/>
          </a:p>
        </p:txBody>
      </p:sp>
      <p:sp>
        <p:nvSpPr>
          <p:cNvPr id="15" name="Shape 13"/>
          <p:cNvSpPr/>
          <p:nvPr/>
        </p:nvSpPr>
        <p:spPr>
          <a:xfrm>
            <a:off x="9592056" y="2286000"/>
            <a:ext cx="347472" cy="347472"/>
          </a:xfrm>
          <a:prstGeom prst="rect">
            <a:avLst/>
          </a:prstGeom>
          <a:solidFill>
            <a:srgbClr val="F7E5A0">
              <a:alpha val="85000"/>
            </a:srgbClr>
          </a:solidFill>
          <a:ln/>
        </p:spPr>
        <p:txBody>
          <a:bodyPr/>
          <a:lstStyle/>
          <a:p>
            <a:endParaRPr lang="en-US"/>
          </a:p>
        </p:txBody>
      </p:sp>
      <p:sp>
        <p:nvSpPr>
          <p:cNvPr id="16" name="Shape 14"/>
          <p:cNvSpPr/>
          <p:nvPr/>
        </p:nvSpPr>
        <p:spPr>
          <a:xfrm>
            <a:off x="9976104" y="2286000"/>
            <a:ext cx="347472" cy="347472"/>
          </a:xfrm>
          <a:prstGeom prst="rect">
            <a:avLst/>
          </a:prstGeom>
          <a:solidFill>
            <a:srgbClr val="F7E5A0">
              <a:alpha val="85000"/>
            </a:srgbClr>
          </a:solidFill>
          <a:ln/>
        </p:spPr>
        <p:txBody>
          <a:bodyPr/>
          <a:lstStyle/>
          <a:p>
            <a:endParaRPr lang="en-US"/>
          </a:p>
        </p:txBody>
      </p:sp>
      <p:sp>
        <p:nvSpPr>
          <p:cNvPr id="17" name="Shape 15"/>
          <p:cNvSpPr/>
          <p:nvPr/>
        </p:nvSpPr>
        <p:spPr>
          <a:xfrm>
            <a:off x="7287768" y="2670048"/>
            <a:ext cx="347472" cy="347472"/>
          </a:xfrm>
          <a:prstGeom prst="rect">
            <a:avLst/>
          </a:prstGeom>
          <a:solidFill>
            <a:srgbClr val="F7E5A0">
              <a:alpha val="85000"/>
            </a:srgbClr>
          </a:solidFill>
          <a:ln/>
        </p:spPr>
        <p:txBody>
          <a:bodyPr/>
          <a:lstStyle/>
          <a:p>
            <a:endParaRPr lang="en-US"/>
          </a:p>
        </p:txBody>
      </p:sp>
      <p:sp>
        <p:nvSpPr>
          <p:cNvPr id="18" name="Shape 16"/>
          <p:cNvSpPr/>
          <p:nvPr/>
        </p:nvSpPr>
        <p:spPr>
          <a:xfrm>
            <a:off x="7671816" y="2670048"/>
            <a:ext cx="347472" cy="347472"/>
          </a:xfrm>
          <a:prstGeom prst="rect">
            <a:avLst/>
          </a:prstGeom>
          <a:solidFill>
            <a:srgbClr val="F3A26B">
              <a:alpha val="85000"/>
            </a:srgbClr>
          </a:solidFill>
          <a:ln/>
        </p:spPr>
        <p:txBody>
          <a:bodyPr/>
          <a:lstStyle/>
          <a:p>
            <a:endParaRPr lang="en-US"/>
          </a:p>
        </p:txBody>
      </p:sp>
      <p:sp>
        <p:nvSpPr>
          <p:cNvPr id="19" name="Shape 17"/>
          <p:cNvSpPr/>
          <p:nvPr/>
        </p:nvSpPr>
        <p:spPr>
          <a:xfrm>
            <a:off x="8055864" y="2670048"/>
            <a:ext cx="347472" cy="347472"/>
          </a:xfrm>
          <a:prstGeom prst="rect">
            <a:avLst/>
          </a:prstGeom>
          <a:solidFill>
            <a:srgbClr val="E0457B">
              <a:alpha val="85000"/>
            </a:srgbClr>
          </a:solidFill>
          <a:ln/>
        </p:spPr>
        <p:txBody>
          <a:bodyPr/>
          <a:lstStyle/>
          <a:p>
            <a:endParaRPr lang="en-US"/>
          </a:p>
        </p:txBody>
      </p:sp>
      <p:sp>
        <p:nvSpPr>
          <p:cNvPr id="20" name="Shape 18"/>
          <p:cNvSpPr/>
          <p:nvPr/>
        </p:nvSpPr>
        <p:spPr>
          <a:xfrm>
            <a:off x="8439912" y="2670048"/>
            <a:ext cx="347472" cy="347472"/>
          </a:xfrm>
          <a:prstGeom prst="rect">
            <a:avLst/>
          </a:prstGeom>
          <a:solidFill>
            <a:srgbClr val="E0457B">
              <a:alpha val="85000"/>
            </a:srgbClr>
          </a:solidFill>
          <a:ln/>
        </p:spPr>
        <p:txBody>
          <a:bodyPr/>
          <a:lstStyle/>
          <a:p>
            <a:endParaRPr lang="en-US"/>
          </a:p>
        </p:txBody>
      </p:sp>
      <p:sp>
        <p:nvSpPr>
          <p:cNvPr id="21" name="Shape 19"/>
          <p:cNvSpPr/>
          <p:nvPr/>
        </p:nvSpPr>
        <p:spPr>
          <a:xfrm>
            <a:off x="8823960" y="2670048"/>
            <a:ext cx="347472" cy="347472"/>
          </a:xfrm>
          <a:prstGeom prst="rect">
            <a:avLst/>
          </a:prstGeom>
          <a:solidFill>
            <a:srgbClr val="E0457B">
              <a:alpha val="85000"/>
            </a:srgbClr>
          </a:solidFill>
          <a:ln/>
        </p:spPr>
        <p:txBody>
          <a:bodyPr/>
          <a:lstStyle/>
          <a:p>
            <a:endParaRPr lang="en-US"/>
          </a:p>
        </p:txBody>
      </p:sp>
      <p:sp>
        <p:nvSpPr>
          <p:cNvPr id="22" name="Shape 20"/>
          <p:cNvSpPr/>
          <p:nvPr/>
        </p:nvSpPr>
        <p:spPr>
          <a:xfrm>
            <a:off x="9208008" y="2670048"/>
            <a:ext cx="347472" cy="347472"/>
          </a:xfrm>
          <a:prstGeom prst="rect">
            <a:avLst/>
          </a:prstGeom>
          <a:solidFill>
            <a:srgbClr val="E0457B">
              <a:alpha val="85000"/>
            </a:srgbClr>
          </a:solidFill>
          <a:ln/>
        </p:spPr>
        <p:txBody>
          <a:bodyPr/>
          <a:lstStyle/>
          <a:p>
            <a:endParaRPr lang="en-US"/>
          </a:p>
        </p:txBody>
      </p:sp>
      <p:sp>
        <p:nvSpPr>
          <p:cNvPr id="23" name="Shape 21"/>
          <p:cNvSpPr/>
          <p:nvPr/>
        </p:nvSpPr>
        <p:spPr>
          <a:xfrm>
            <a:off x="9592056" y="2670048"/>
            <a:ext cx="347472" cy="347472"/>
          </a:xfrm>
          <a:prstGeom prst="rect">
            <a:avLst/>
          </a:prstGeom>
          <a:solidFill>
            <a:srgbClr val="F7E5A0">
              <a:alpha val="85000"/>
            </a:srgbClr>
          </a:solidFill>
          <a:ln/>
        </p:spPr>
        <p:txBody>
          <a:bodyPr/>
          <a:lstStyle/>
          <a:p>
            <a:endParaRPr lang="en-US"/>
          </a:p>
        </p:txBody>
      </p:sp>
      <p:sp>
        <p:nvSpPr>
          <p:cNvPr id="24" name="Shape 22"/>
          <p:cNvSpPr/>
          <p:nvPr/>
        </p:nvSpPr>
        <p:spPr>
          <a:xfrm>
            <a:off x="9976104" y="2670048"/>
            <a:ext cx="347472" cy="347472"/>
          </a:xfrm>
          <a:prstGeom prst="rect">
            <a:avLst/>
          </a:prstGeom>
          <a:solidFill>
            <a:srgbClr val="F7E5A0">
              <a:alpha val="85000"/>
            </a:srgbClr>
          </a:solidFill>
          <a:ln/>
        </p:spPr>
        <p:txBody>
          <a:bodyPr/>
          <a:lstStyle/>
          <a:p>
            <a:endParaRPr lang="en-US"/>
          </a:p>
        </p:txBody>
      </p:sp>
      <p:sp>
        <p:nvSpPr>
          <p:cNvPr id="25" name="Shape 23"/>
          <p:cNvSpPr/>
          <p:nvPr/>
        </p:nvSpPr>
        <p:spPr>
          <a:xfrm>
            <a:off x="10360152" y="2670048"/>
            <a:ext cx="347472" cy="347472"/>
          </a:xfrm>
          <a:prstGeom prst="rect">
            <a:avLst/>
          </a:prstGeom>
          <a:solidFill>
            <a:srgbClr val="F7E5A0">
              <a:alpha val="85000"/>
            </a:srgbClr>
          </a:solidFill>
          <a:ln/>
        </p:spPr>
        <p:txBody>
          <a:bodyPr/>
          <a:lstStyle/>
          <a:p>
            <a:endParaRPr lang="en-US"/>
          </a:p>
        </p:txBody>
      </p:sp>
      <p:sp>
        <p:nvSpPr>
          <p:cNvPr id="26" name="Shape 24"/>
          <p:cNvSpPr/>
          <p:nvPr/>
        </p:nvSpPr>
        <p:spPr>
          <a:xfrm>
            <a:off x="6903720" y="3054096"/>
            <a:ext cx="347472" cy="347472"/>
          </a:xfrm>
          <a:prstGeom prst="rect">
            <a:avLst/>
          </a:prstGeom>
          <a:solidFill>
            <a:srgbClr val="F7E5A0">
              <a:alpha val="85000"/>
            </a:srgbClr>
          </a:solidFill>
          <a:ln/>
        </p:spPr>
        <p:txBody>
          <a:bodyPr/>
          <a:lstStyle/>
          <a:p>
            <a:endParaRPr lang="en-US"/>
          </a:p>
        </p:txBody>
      </p:sp>
      <p:sp>
        <p:nvSpPr>
          <p:cNvPr id="27" name="Shape 25"/>
          <p:cNvSpPr/>
          <p:nvPr/>
        </p:nvSpPr>
        <p:spPr>
          <a:xfrm>
            <a:off x="7287768" y="3054096"/>
            <a:ext cx="347472" cy="347472"/>
          </a:xfrm>
          <a:prstGeom prst="rect">
            <a:avLst/>
          </a:prstGeom>
          <a:solidFill>
            <a:srgbClr val="F7E5A0">
              <a:alpha val="85000"/>
            </a:srgbClr>
          </a:solidFill>
          <a:ln/>
        </p:spPr>
        <p:txBody>
          <a:bodyPr/>
          <a:lstStyle/>
          <a:p>
            <a:endParaRPr lang="en-US"/>
          </a:p>
        </p:txBody>
      </p:sp>
      <p:sp>
        <p:nvSpPr>
          <p:cNvPr id="28" name="Shape 26"/>
          <p:cNvSpPr/>
          <p:nvPr/>
        </p:nvSpPr>
        <p:spPr>
          <a:xfrm>
            <a:off x="7671816" y="3054096"/>
            <a:ext cx="347472" cy="347472"/>
          </a:xfrm>
          <a:prstGeom prst="rect">
            <a:avLst/>
          </a:prstGeom>
          <a:solidFill>
            <a:srgbClr val="F3A26B">
              <a:alpha val="85000"/>
            </a:srgbClr>
          </a:solidFill>
          <a:ln/>
        </p:spPr>
        <p:txBody>
          <a:bodyPr/>
          <a:lstStyle/>
          <a:p>
            <a:endParaRPr lang="en-US"/>
          </a:p>
        </p:txBody>
      </p:sp>
      <p:sp>
        <p:nvSpPr>
          <p:cNvPr id="29" name="Shape 27"/>
          <p:cNvSpPr/>
          <p:nvPr/>
        </p:nvSpPr>
        <p:spPr>
          <a:xfrm>
            <a:off x="8055864" y="3054096"/>
            <a:ext cx="347472" cy="347472"/>
          </a:xfrm>
          <a:prstGeom prst="rect">
            <a:avLst/>
          </a:prstGeom>
          <a:solidFill>
            <a:srgbClr val="E0457B">
              <a:alpha val="85000"/>
            </a:srgbClr>
          </a:solidFill>
          <a:ln/>
        </p:spPr>
        <p:txBody>
          <a:bodyPr/>
          <a:lstStyle/>
          <a:p>
            <a:endParaRPr lang="en-US"/>
          </a:p>
        </p:txBody>
      </p:sp>
      <p:sp>
        <p:nvSpPr>
          <p:cNvPr id="30" name="Shape 28"/>
          <p:cNvSpPr/>
          <p:nvPr/>
        </p:nvSpPr>
        <p:spPr>
          <a:xfrm>
            <a:off x="8439912" y="3054096"/>
            <a:ext cx="347472" cy="347472"/>
          </a:xfrm>
          <a:prstGeom prst="rect">
            <a:avLst/>
          </a:prstGeom>
          <a:solidFill>
            <a:srgbClr val="B5179E">
              <a:alpha val="85000"/>
            </a:srgbClr>
          </a:solidFill>
          <a:ln/>
        </p:spPr>
        <p:txBody>
          <a:bodyPr/>
          <a:lstStyle/>
          <a:p>
            <a:endParaRPr lang="en-US"/>
          </a:p>
        </p:txBody>
      </p:sp>
      <p:sp>
        <p:nvSpPr>
          <p:cNvPr id="31" name="Shape 29"/>
          <p:cNvSpPr/>
          <p:nvPr/>
        </p:nvSpPr>
        <p:spPr>
          <a:xfrm>
            <a:off x="8823960" y="3054096"/>
            <a:ext cx="347472" cy="347472"/>
          </a:xfrm>
          <a:prstGeom prst="rect">
            <a:avLst/>
          </a:prstGeom>
          <a:solidFill>
            <a:srgbClr val="B5179E">
              <a:alpha val="85000"/>
            </a:srgbClr>
          </a:solidFill>
          <a:ln/>
        </p:spPr>
        <p:txBody>
          <a:bodyPr/>
          <a:lstStyle/>
          <a:p>
            <a:endParaRPr lang="en-US"/>
          </a:p>
        </p:txBody>
      </p:sp>
      <p:sp>
        <p:nvSpPr>
          <p:cNvPr id="32" name="Shape 30"/>
          <p:cNvSpPr/>
          <p:nvPr/>
        </p:nvSpPr>
        <p:spPr>
          <a:xfrm>
            <a:off x="9208008" y="3054096"/>
            <a:ext cx="347472" cy="347472"/>
          </a:xfrm>
          <a:prstGeom prst="rect">
            <a:avLst/>
          </a:prstGeom>
          <a:solidFill>
            <a:srgbClr val="E0457B">
              <a:alpha val="85000"/>
            </a:srgbClr>
          </a:solidFill>
          <a:ln/>
        </p:spPr>
        <p:txBody>
          <a:bodyPr/>
          <a:lstStyle/>
          <a:p>
            <a:endParaRPr lang="en-US"/>
          </a:p>
        </p:txBody>
      </p:sp>
      <p:sp>
        <p:nvSpPr>
          <p:cNvPr id="33" name="Shape 31"/>
          <p:cNvSpPr/>
          <p:nvPr/>
        </p:nvSpPr>
        <p:spPr>
          <a:xfrm>
            <a:off x="9592056" y="3054096"/>
            <a:ext cx="347472" cy="347472"/>
          </a:xfrm>
          <a:prstGeom prst="rect">
            <a:avLst/>
          </a:prstGeom>
          <a:solidFill>
            <a:srgbClr val="F3A26B">
              <a:alpha val="85000"/>
            </a:srgbClr>
          </a:solidFill>
          <a:ln/>
        </p:spPr>
        <p:txBody>
          <a:bodyPr/>
          <a:lstStyle/>
          <a:p>
            <a:endParaRPr lang="en-US"/>
          </a:p>
        </p:txBody>
      </p:sp>
      <p:sp>
        <p:nvSpPr>
          <p:cNvPr id="34" name="Shape 32"/>
          <p:cNvSpPr/>
          <p:nvPr/>
        </p:nvSpPr>
        <p:spPr>
          <a:xfrm>
            <a:off x="9976104" y="3054096"/>
            <a:ext cx="347472" cy="347472"/>
          </a:xfrm>
          <a:prstGeom prst="rect">
            <a:avLst/>
          </a:prstGeom>
          <a:solidFill>
            <a:srgbClr val="F7E5A0">
              <a:alpha val="85000"/>
            </a:srgbClr>
          </a:solidFill>
          <a:ln/>
        </p:spPr>
        <p:txBody>
          <a:bodyPr/>
          <a:lstStyle/>
          <a:p>
            <a:endParaRPr lang="en-US"/>
          </a:p>
        </p:txBody>
      </p:sp>
      <p:sp>
        <p:nvSpPr>
          <p:cNvPr id="35" name="Shape 33"/>
          <p:cNvSpPr/>
          <p:nvPr/>
        </p:nvSpPr>
        <p:spPr>
          <a:xfrm>
            <a:off x="10360152" y="3054096"/>
            <a:ext cx="347472" cy="347472"/>
          </a:xfrm>
          <a:prstGeom prst="rect">
            <a:avLst/>
          </a:prstGeom>
          <a:solidFill>
            <a:srgbClr val="F7E5A0">
              <a:alpha val="85000"/>
            </a:srgbClr>
          </a:solidFill>
          <a:ln/>
        </p:spPr>
        <p:txBody>
          <a:bodyPr/>
          <a:lstStyle/>
          <a:p>
            <a:endParaRPr lang="en-US"/>
          </a:p>
        </p:txBody>
      </p:sp>
      <p:sp>
        <p:nvSpPr>
          <p:cNvPr id="36" name="Shape 34"/>
          <p:cNvSpPr/>
          <p:nvPr/>
        </p:nvSpPr>
        <p:spPr>
          <a:xfrm>
            <a:off x="10744200" y="3054096"/>
            <a:ext cx="347472" cy="347472"/>
          </a:xfrm>
          <a:prstGeom prst="rect">
            <a:avLst/>
          </a:prstGeom>
          <a:solidFill>
            <a:srgbClr val="F7E5A0">
              <a:alpha val="85000"/>
            </a:srgbClr>
          </a:solidFill>
          <a:ln/>
        </p:spPr>
        <p:txBody>
          <a:bodyPr/>
          <a:lstStyle/>
          <a:p>
            <a:endParaRPr lang="en-US"/>
          </a:p>
        </p:txBody>
      </p:sp>
      <p:sp>
        <p:nvSpPr>
          <p:cNvPr id="37" name="Shape 35"/>
          <p:cNvSpPr/>
          <p:nvPr/>
        </p:nvSpPr>
        <p:spPr>
          <a:xfrm>
            <a:off x="6903720" y="3438144"/>
            <a:ext cx="347472" cy="347472"/>
          </a:xfrm>
          <a:prstGeom prst="rect">
            <a:avLst/>
          </a:prstGeom>
          <a:solidFill>
            <a:srgbClr val="F7E5A0">
              <a:alpha val="85000"/>
            </a:srgbClr>
          </a:solidFill>
          <a:ln/>
        </p:spPr>
        <p:txBody>
          <a:bodyPr/>
          <a:lstStyle/>
          <a:p>
            <a:endParaRPr lang="en-US"/>
          </a:p>
        </p:txBody>
      </p:sp>
      <p:sp>
        <p:nvSpPr>
          <p:cNvPr id="38" name="Shape 36"/>
          <p:cNvSpPr/>
          <p:nvPr/>
        </p:nvSpPr>
        <p:spPr>
          <a:xfrm>
            <a:off x="7287768" y="3438144"/>
            <a:ext cx="347472" cy="347472"/>
          </a:xfrm>
          <a:prstGeom prst="rect">
            <a:avLst/>
          </a:prstGeom>
          <a:solidFill>
            <a:srgbClr val="F7E5A0">
              <a:alpha val="85000"/>
            </a:srgbClr>
          </a:solidFill>
          <a:ln/>
        </p:spPr>
        <p:txBody>
          <a:bodyPr/>
          <a:lstStyle/>
          <a:p>
            <a:endParaRPr lang="en-US"/>
          </a:p>
        </p:txBody>
      </p:sp>
      <p:sp>
        <p:nvSpPr>
          <p:cNvPr id="39" name="Shape 37"/>
          <p:cNvSpPr/>
          <p:nvPr/>
        </p:nvSpPr>
        <p:spPr>
          <a:xfrm>
            <a:off x="7671816" y="3438144"/>
            <a:ext cx="347472" cy="347472"/>
          </a:xfrm>
          <a:prstGeom prst="rect">
            <a:avLst/>
          </a:prstGeom>
          <a:solidFill>
            <a:srgbClr val="F3A26B">
              <a:alpha val="85000"/>
            </a:srgbClr>
          </a:solidFill>
          <a:ln/>
        </p:spPr>
        <p:txBody>
          <a:bodyPr/>
          <a:lstStyle/>
          <a:p>
            <a:endParaRPr lang="en-US"/>
          </a:p>
        </p:txBody>
      </p:sp>
      <p:sp>
        <p:nvSpPr>
          <p:cNvPr id="40" name="Shape 38"/>
          <p:cNvSpPr/>
          <p:nvPr/>
        </p:nvSpPr>
        <p:spPr>
          <a:xfrm>
            <a:off x="8055864" y="3438144"/>
            <a:ext cx="347472" cy="347472"/>
          </a:xfrm>
          <a:prstGeom prst="rect">
            <a:avLst/>
          </a:prstGeom>
          <a:solidFill>
            <a:srgbClr val="E0457B">
              <a:alpha val="85000"/>
            </a:srgbClr>
          </a:solidFill>
          <a:ln/>
        </p:spPr>
        <p:txBody>
          <a:bodyPr/>
          <a:lstStyle/>
          <a:p>
            <a:endParaRPr lang="en-US"/>
          </a:p>
        </p:txBody>
      </p:sp>
      <p:sp>
        <p:nvSpPr>
          <p:cNvPr id="41" name="Shape 39"/>
          <p:cNvSpPr/>
          <p:nvPr/>
        </p:nvSpPr>
        <p:spPr>
          <a:xfrm>
            <a:off x="8439912" y="3438144"/>
            <a:ext cx="347472" cy="347472"/>
          </a:xfrm>
          <a:prstGeom prst="rect">
            <a:avLst/>
          </a:prstGeom>
          <a:solidFill>
            <a:srgbClr val="E0457B">
              <a:alpha val="85000"/>
            </a:srgbClr>
          </a:solidFill>
          <a:ln/>
        </p:spPr>
        <p:txBody>
          <a:bodyPr/>
          <a:lstStyle/>
          <a:p>
            <a:endParaRPr lang="en-US"/>
          </a:p>
        </p:txBody>
      </p:sp>
      <p:sp>
        <p:nvSpPr>
          <p:cNvPr id="42" name="Shape 40"/>
          <p:cNvSpPr/>
          <p:nvPr/>
        </p:nvSpPr>
        <p:spPr>
          <a:xfrm>
            <a:off x="8823960" y="3438144"/>
            <a:ext cx="347472" cy="347472"/>
          </a:xfrm>
          <a:prstGeom prst="rect">
            <a:avLst/>
          </a:prstGeom>
          <a:solidFill>
            <a:srgbClr val="E0457B">
              <a:alpha val="85000"/>
            </a:srgbClr>
          </a:solidFill>
          <a:ln/>
        </p:spPr>
        <p:txBody>
          <a:bodyPr/>
          <a:lstStyle/>
          <a:p>
            <a:endParaRPr lang="en-US"/>
          </a:p>
        </p:txBody>
      </p:sp>
      <p:sp>
        <p:nvSpPr>
          <p:cNvPr id="43" name="Shape 41"/>
          <p:cNvSpPr/>
          <p:nvPr/>
        </p:nvSpPr>
        <p:spPr>
          <a:xfrm>
            <a:off x="9208008" y="3438144"/>
            <a:ext cx="347472" cy="347472"/>
          </a:xfrm>
          <a:prstGeom prst="rect">
            <a:avLst/>
          </a:prstGeom>
          <a:solidFill>
            <a:srgbClr val="F3A26B">
              <a:alpha val="85000"/>
            </a:srgbClr>
          </a:solidFill>
          <a:ln/>
        </p:spPr>
        <p:txBody>
          <a:bodyPr/>
          <a:lstStyle/>
          <a:p>
            <a:endParaRPr lang="en-US"/>
          </a:p>
        </p:txBody>
      </p:sp>
      <p:sp>
        <p:nvSpPr>
          <p:cNvPr id="44" name="Shape 42"/>
          <p:cNvSpPr/>
          <p:nvPr/>
        </p:nvSpPr>
        <p:spPr>
          <a:xfrm>
            <a:off x="9592056" y="3438144"/>
            <a:ext cx="347472" cy="347472"/>
          </a:xfrm>
          <a:prstGeom prst="rect">
            <a:avLst/>
          </a:prstGeom>
          <a:solidFill>
            <a:srgbClr val="F7E5A0">
              <a:alpha val="85000"/>
            </a:srgbClr>
          </a:solidFill>
          <a:ln/>
        </p:spPr>
        <p:txBody>
          <a:bodyPr/>
          <a:lstStyle/>
          <a:p>
            <a:endParaRPr lang="en-US"/>
          </a:p>
        </p:txBody>
      </p:sp>
      <p:sp>
        <p:nvSpPr>
          <p:cNvPr id="45" name="Shape 43"/>
          <p:cNvSpPr/>
          <p:nvPr/>
        </p:nvSpPr>
        <p:spPr>
          <a:xfrm>
            <a:off x="9976104" y="3438144"/>
            <a:ext cx="347472" cy="347472"/>
          </a:xfrm>
          <a:prstGeom prst="rect">
            <a:avLst/>
          </a:prstGeom>
          <a:solidFill>
            <a:srgbClr val="F7E5A0">
              <a:alpha val="85000"/>
            </a:srgbClr>
          </a:solidFill>
          <a:ln/>
        </p:spPr>
        <p:txBody>
          <a:bodyPr/>
          <a:lstStyle/>
          <a:p>
            <a:endParaRPr lang="en-US"/>
          </a:p>
        </p:txBody>
      </p:sp>
      <p:sp>
        <p:nvSpPr>
          <p:cNvPr id="46" name="Shape 44"/>
          <p:cNvSpPr/>
          <p:nvPr/>
        </p:nvSpPr>
        <p:spPr>
          <a:xfrm>
            <a:off x="10360152" y="3438144"/>
            <a:ext cx="347472" cy="347472"/>
          </a:xfrm>
          <a:prstGeom prst="rect">
            <a:avLst/>
          </a:prstGeom>
          <a:solidFill>
            <a:srgbClr val="F7E5A0">
              <a:alpha val="85000"/>
            </a:srgbClr>
          </a:solidFill>
          <a:ln/>
        </p:spPr>
        <p:txBody>
          <a:bodyPr/>
          <a:lstStyle/>
          <a:p>
            <a:endParaRPr lang="en-US"/>
          </a:p>
        </p:txBody>
      </p:sp>
      <p:sp>
        <p:nvSpPr>
          <p:cNvPr id="47" name="Shape 45"/>
          <p:cNvSpPr/>
          <p:nvPr/>
        </p:nvSpPr>
        <p:spPr>
          <a:xfrm>
            <a:off x="10744200" y="3438144"/>
            <a:ext cx="347472" cy="347472"/>
          </a:xfrm>
          <a:prstGeom prst="rect">
            <a:avLst/>
          </a:prstGeom>
          <a:solidFill>
            <a:srgbClr val="F7E5A0">
              <a:alpha val="85000"/>
            </a:srgbClr>
          </a:solidFill>
          <a:ln/>
        </p:spPr>
        <p:txBody>
          <a:bodyPr/>
          <a:lstStyle/>
          <a:p>
            <a:endParaRPr lang="en-US"/>
          </a:p>
        </p:txBody>
      </p:sp>
      <p:sp>
        <p:nvSpPr>
          <p:cNvPr id="48" name="Shape 46"/>
          <p:cNvSpPr/>
          <p:nvPr/>
        </p:nvSpPr>
        <p:spPr>
          <a:xfrm>
            <a:off x="6903720" y="3822192"/>
            <a:ext cx="347472" cy="347472"/>
          </a:xfrm>
          <a:prstGeom prst="rect">
            <a:avLst/>
          </a:prstGeom>
          <a:solidFill>
            <a:srgbClr val="F7E5A0">
              <a:alpha val="85000"/>
            </a:srgbClr>
          </a:solidFill>
          <a:ln/>
        </p:spPr>
        <p:txBody>
          <a:bodyPr/>
          <a:lstStyle/>
          <a:p>
            <a:endParaRPr lang="en-US"/>
          </a:p>
        </p:txBody>
      </p:sp>
      <p:sp>
        <p:nvSpPr>
          <p:cNvPr id="49" name="Shape 47"/>
          <p:cNvSpPr/>
          <p:nvPr/>
        </p:nvSpPr>
        <p:spPr>
          <a:xfrm>
            <a:off x="7287768" y="3822192"/>
            <a:ext cx="347472" cy="347472"/>
          </a:xfrm>
          <a:prstGeom prst="rect">
            <a:avLst/>
          </a:prstGeom>
          <a:solidFill>
            <a:srgbClr val="F7E5A0">
              <a:alpha val="85000"/>
            </a:srgbClr>
          </a:solidFill>
          <a:ln/>
        </p:spPr>
        <p:txBody>
          <a:bodyPr/>
          <a:lstStyle/>
          <a:p>
            <a:endParaRPr lang="en-US"/>
          </a:p>
        </p:txBody>
      </p:sp>
      <p:sp>
        <p:nvSpPr>
          <p:cNvPr id="50" name="Shape 48"/>
          <p:cNvSpPr/>
          <p:nvPr/>
        </p:nvSpPr>
        <p:spPr>
          <a:xfrm>
            <a:off x="7671816" y="3822192"/>
            <a:ext cx="347472" cy="347472"/>
          </a:xfrm>
          <a:prstGeom prst="rect">
            <a:avLst/>
          </a:prstGeom>
          <a:solidFill>
            <a:srgbClr val="F3A26B">
              <a:alpha val="85000"/>
            </a:srgbClr>
          </a:solidFill>
          <a:ln/>
        </p:spPr>
        <p:txBody>
          <a:bodyPr/>
          <a:lstStyle/>
          <a:p>
            <a:endParaRPr lang="en-US"/>
          </a:p>
        </p:txBody>
      </p:sp>
      <p:sp>
        <p:nvSpPr>
          <p:cNvPr id="51" name="Shape 49"/>
          <p:cNvSpPr/>
          <p:nvPr/>
        </p:nvSpPr>
        <p:spPr>
          <a:xfrm>
            <a:off x="8055864" y="3822192"/>
            <a:ext cx="347472" cy="347472"/>
          </a:xfrm>
          <a:prstGeom prst="rect">
            <a:avLst/>
          </a:prstGeom>
          <a:solidFill>
            <a:srgbClr val="F3A26B">
              <a:alpha val="85000"/>
            </a:srgbClr>
          </a:solidFill>
          <a:ln/>
        </p:spPr>
        <p:txBody>
          <a:bodyPr/>
          <a:lstStyle/>
          <a:p>
            <a:endParaRPr lang="en-US"/>
          </a:p>
        </p:txBody>
      </p:sp>
      <p:sp>
        <p:nvSpPr>
          <p:cNvPr id="52" name="Shape 50"/>
          <p:cNvSpPr/>
          <p:nvPr/>
        </p:nvSpPr>
        <p:spPr>
          <a:xfrm>
            <a:off x="8439912" y="3822192"/>
            <a:ext cx="347472" cy="347472"/>
          </a:xfrm>
          <a:prstGeom prst="rect">
            <a:avLst/>
          </a:prstGeom>
          <a:solidFill>
            <a:srgbClr val="F3A26B">
              <a:alpha val="85000"/>
            </a:srgbClr>
          </a:solidFill>
          <a:ln/>
        </p:spPr>
        <p:txBody>
          <a:bodyPr/>
          <a:lstStyle/>
          <a:p>
            <a:endParaRPr lang="en-US"/>
          </a:p>
        </p:txBody>
      </p:sp>
      <p:sp>
        <p:nvSpPr>
          <p:cNvPr id="53" name="Shape 51"/>
          <p:cNvSpPr/>
          <p:nvPr/>
        </p:nvSpPr>
        <p:spPr>
          <a:xfrm>
            <a:off x="8823960" y="3822192"/>
            <a:ext cx="347472" cy="347472"/>
          </a:xfrm>
          <a:prstGeom prst="rect">
            <a:avLst/>
          </a:prstGeom>
          <a:solidFill>
            <a:srgbClr val="F3A26B">
              <a:alpha val="85000"/>
            </a:srgbClr>
          </a:solidFill>
          <a:ln/>
        </p:spPr>
        <p:txBody>
          <a:bodyPr/>
          <a:lstStyle/>
          <a:p>
            <a:endParaRPr lang="en-US"/>
          </a:p>
        </p:txBody>
      </p:sp>
      <p:sp>
        <p:nvSpPr>
          <p:cNvPr id="54" name="Shape 52"/>
          <p:cNvSpPr/>
          <p:nvPr/>
        </p:nvSpPr>
        <p:spPr>
          <a:xfrm>
            <a:off x="9208008" y="3822192"/>
            <a:ext cx="347472" cy="347472"/>
          </a:xfrm>
          <a:prstGeom prst="rect">
            <a:avLst/>
          </a:prstGeom>
          <a:solidFill>
            <a:srgbClr val="F3A26B">
              <a:alpha val="85000"/>
            </a:srgbClr>
          </a:solidFill>
          <a:ln/>
        </p:spPr>
        <p:txBody>
          <a:bodyPr/>
          <a:lstStyle/>
          <a:p>
            <a:endParaRPr lang="en-US"/>
          </a:p>
        </p:txBody>
      </p:sp>
      <p:sp>
        <p:nvSpPr>
          <p:cNvPr id="55" name="Shape 53"/>
          <p:cNvSpPr/>
          <p:nvPr/>
        </p:nvSpPr>
        <p:spPr>
          <a:xfrm>
            <a:off x="9592056" y="3822192"/>
            <a:ext cx="347472" cy="347472"/>
          </a:xfrm>
          <a:prstGeom prst="rect">
            <a:avLst/>
          </a:prstGeom>
          <a:solidFill>
            <a:srgbClr val="F7E5A0">
              <a:alpha val="85000"/>
            </a:srgbClr>
          </a:solidFill>
          <a:ln/>
        </p:spPr>
        <p:txBody>
          <a:bodyPr/>
          <a:lstStyle/>
          <a:p>
            <a:endParaRPr lang="en-US"/>
          </a:p>
        </p:txBody>
      </p:sp>
      <p:sp>
        <p:nvSpPr>
          <p:cNvPr id="56" name="Shape 54"/>
          <p:cNvSpPr/>
          <p:nvPr/>
        </p:nvSpPr>
        <p:spPr>
          <a:xfrm>
            <a:off x="9976104" y="3822192"/>
            <a:ext cx="347472" cy="347472"/>
          </a:xfrm>
          <a:prstGeom prst="rect">
            <a:avLst/>
          </a:prstGeom>
          <a:solidFill>
            <a:srgbClr val="F7E5A0">
              <a:alpha val="85000"/>
            </a:srgbClr>
          </a:solidFill>
          <a:ln/>
        </p:spPr>
        <p:txBody>
          <a:bodyPr/>
          <a:lstStyle/>
          <a:p>
            <a:endParaRPr lang="en-US"/>
          </a:p>
        </p:txBody>
      </p:sp>
      <p:sp>
        <p:nvSpPr>
          <p:cNvPr id="57" name="Shape 55"/>
          <p:cNvSpPr/>
          <p:nvPr/>
        </p:nvSpPr>
        <p:spPr>
          <a:xfrm>
            <a:off x="10360152" y="3822192"/>
            <a:ext cx="347472" cy="347472"/>
          </a:xfrm>
          <a:prstGeom prst="rect">
            <a:avLst/>
          </a:prstGeom>
          <a:solidFill>
            <a:srgbClr val="F7E5A0">
              <a:alpha val="85000"/>
            </a:srgbClr>
          </a:solidFill>
          <a:ln/>
        </p:spPr>
        <p:txBody>
          <a:bodyPr/>
          <a:lstStyle/>
          <a:p>
            <a:endParaRPr lang="en-US"/>
          </a:p>
        </p:txBody>
      </p:sp>
      <p:sp>
        <p:nvSpPr>
          <p:cNvPr id="58" name="Shape 56"/>
          <p:cNvSpPr/>
          <p:nvPr/>
        </p:nvSpPr>
        <p:spPr>
          <a:xfrm>
            <a:off x="10744200" y="3822192"/>
            <a:ext cx="347472" cy="347472"/>
          </a:xfrm>
          <a:prstGeom prst="rect">
            <a:avLst/>
          </a:prstGeom>
          <a:solidFill>
            <a:srgbClr val="F7E5A0">
              <a:alpha val="85000"/>
            </a:srgbClr>
          </a:solidFill>
          <a:ln/>
        </p:spPr>
        <p:txBody>
          <a:bodyPr/>
          <a:lstStyle/>
          <a:p>
            <a:endParaRPr lang="en-US"/>
          </a:p>
        </p:txBody>
      </p:sp>
      <p:sp>
        <p:nvSpPr>
          <p:cNvPr id="59" name="Shape 57"/>
          <p:cNvSpPr/>
          <p:nvPr/>
        </p:nvSpPr>
        <p:spPr>
          <a:xfrm>
            <a:off x="6903720" y="4206240"/>
            <a:ext cx="347472" cy="347472"/>
          </a:xfrm>
          <a:prstGeom prst="rect">
            <a:avLst/>
          </a:prstGeom>
          <a:solidFill>
            <a:srgbClr val="F7E5A0">
              <a:alpha val="85000"/>
            </a:srgbClr>
          </a:solidFill>
          <a:ln/>
        </p:spPr>
        <p:txBody>
          <a:bodyPr/>
          <a:lstStyle/>
          <a:p>
            <a:endParaRPr lang="en-US"/>
          </a:p>
        </p:txBody>
      </p:sp>
      <p:sp>
        <p:nvSpPr>
          <p:cNvPr id="60" name="Shape 58"/>
          <p:cNvSpPr/>
          <p:nvPr/>
        </p:nvSpPr>
        <p:spPr>
          <a:xfrm>
            <a:off x="7287768" y="4206240"/>
            <a:ext cx="347472" cy="347472"/>
          </a:xfrm>
          <a:prstGeom prst="rect">
            <a:avLst/>
          </a:prstGeom>
          <a:solidFill>
            <a:srgbClr val="F3A26B">
              <a:alpha val="85000"/>
            </a:srgbClr>
          </a:solidFill>
          <a:ln/>
        </p:spPr>
        <p:txBody>
          <a:bodyPr/>
          <a:lstStyle/>
          <a:p>
            <a:endParaRPr lang="en-US"/>
          </a:p>
        </p:txBody>
      </p:sp>
      <p:sp>
        <p:nvSpPr>
          <p:cNvPr id="61" name="Shape 59"/>
          <p:cNvSpPr/>
          <p:nvPr/>
        </p:nvSpPr>
        <p:spPr>
          <a:xfrm>
            <a:off x="7671816" y="4206240"/>
            <a:ext cx="347472" cy="347472"/>
          </a:xfrm>
          <a:prstGeom prst="rect">
            <a:avLst/>
          </a:prstGeom>
          <a:solidFill>
            <a:srgbClr val="F3A26B">
              <a:alpha val="85000"/>
            </a:srgbClr>
          </a:solidFill>
          <a:ln/>
        </p:spPr>
        <p:txBody>
          <a:bodyPr/>
          <a:lstStyle/>
          <a:p>
            <a:endParaRPr lang="en-US"/>
          </a:p>
        </p:txBody>
      </p:sp>
      <p:sp>
        <p:nvSpPr>
          <p:cNvPr id="62" name="Shape 60"/>
          <p:cNvSpPr/>
          <p:nvPr/>
        </p:nvSpPr>
        <p:spPr>
          <a:xfrm>
            <a:off x="8055864" y="4206240"/>
            <a:ext cx="347472" cy="347472"/>
          </a:xfrm>
          <a:prstGeom prst="rect">
            <a:avLst/>
          </a:prstGeom>
          <a:solidFill>
            <a:srgbClr val="F3A26B">
              <a:alpha val="85000"/>
            </a:srgbClr>
          </a:solidFill>
          <a:ln/>
        </p:spPr>
        <p:txBody>
          <a:bodyPr/>
          <a:lstStyle/>
          <a:p>
            <a:endParaRPr lang="en-US"/>
          </a:p>
        </p:txBody>
      </p:sp>
      <p:sp>
        <p:nvSpPr>
          <p:cNvPr id="63" name="Shape 61"/>
          <p:cNvSpPr/>
          <p:nvPr/>
        </p:nvSpPr>
        <p:spPr>
          <a:xfrm>
            <a:off x="8439912" y="4206240"/>
            <a:ext cx="347472" cy="347472"/>
          </a:xfrm>
          <a:prstGeom prst="rect">
            <a:avLst/>
          </a:prstGeom>
          <a:solidFill>
            <a:srgbClr val="F7E5A0">
              <a:alpha val="85000"/>
            </a:srgbClr>
          </a:solidFill>
          <a:ln/>
        </p:spPr>
        <p:txBody>
          <a:bodyPr/>
          <a:lstStyle/>
          <a:p>
            <a:endParaRPr lang="en-US"/>
          </a:p>
        </p:txBody>
      </p:sp>
      <p:sp>
        <p:nvSpPr>
          <p:cNvPr id="64" name="Shape 62"/>
          <p:cNvSpPr/>
          <p:nvPr/>
        </p:nvSpPr>
        <p:spPr>
          <a:xfrm>
            <a:off x="8823960" y="4206240"/>
            <a:ext cx="347472" cy="347472"/>
          </a:xfrm>
          <a:prstGeom prst="rect">
            <a:avLst/>
          </a:prstGeom>
          <a:solidFill>
            <a:srgbClr val="F7E5A0">
              <a:alpha val="85000"/>
            </a:srgbClr>
          </a:solidFill>
          <a:ln/>
        </p:spPr>
        <p:txBody>
          <a:bodyPr/>
          <a:lstStyle/>
          <a:p>
            <a:endParaRPr lang="en-US"/>
          </a:p>
        </p:txBody>
      </p:sp>
      <p:sp>
        <p:nvSpPr>
          <p:cNvPr id="65" name="Shape 63"/>
          <p:cNvSpPr/>
          <p:nvPr/>
        </p:nvSpPr>
        <p:spPr>
          <a:xfrm>
            <a:off x="9208008" y="4206240"/>
            <a:ext cx="347472" cy="347472"/>
          </a:xfrm>
          <a:prstGeom prst="rect">
            <a:avLst/>
          </a:prstGeom>
          <a:solidFill>
            <a:srgbClr val="F7E5A0">
              <a:alpha val="85000"/>
            </a:srgbClr>
          </a:solidFill>
          <a:ln/>
        </p:spPr>
        <p:txBody>
          <a:bodyPr/>
          <a:lstStyle/>
          <a:p>
            <a:endParaRPr lang="en-US"/>
          </a:p>
        </p:txBody>
      </p:sp>
      <p:sp>
        <p:nvSpPr>
          <p:cNvPr id="66" name="Shape 64"/>
          <p:cNvSpPr/>
          <p:nvPr/>
        </p:nvSpPr>
        <p:spPr>
          <a:xfrm>
            <a:off x="9592056" y="4206240"/>
            <a:ext cx="347472" cy="347472"/>
          </a:xfrm>
          <a:prstGeom prst="rect">
            <a:avLst/>
          </a:prstGeom>
          <a:solidFill>
            <a:srgbClr val="F7E5A0">
              <a:alpha val="85000"/>
            </a:srgbClr>
          </a:solidFill>
          <a:ln/>
        </p:spPr>
        <p:txBody>
          <a:bodyPr/>
          <a:lstStyle/>
          <a:p>
            <a:endParaRPr lang="en-US"/>
          </a:p>
        </p:txBody>
      </p:sp>
      <p:sp>
        <p:nvSpPr>
          <p:cNvPr id="67" name="Shape 65"/>
          <p:cNvSpPr/>
          <p:nvPr/>
        </p:nvSpPr>
        <p:spPr>
          <a:xfrm>
            <a:off x="9976104" y="4206240"/>
            <a:ext cx="347472" cy="347472"/>
          </a:xfrm>
          <a:prstGeom prst="rect">
            <a:avLst/>
          </a:prstGeom>
          <a:solidFill>
            <a:srgbClr val="F7E5A0">
              <a:alpha val="85000"/>
            </a:srgbClr>
          </a:solidFill>
          <a:ln/>
        </p:spPr>
        <p:txBody>
          <a:bodyPr/>
          <a:lstStyle/>
          <a:p>
            <a:endParaRPr lang="en-US"/>
          </a:p>
        </p:txBody>
      </p:sp>
      <p:sp>
        <p:nvSpPr>
          <p:cNvPr id="68" name="Shape 66"/>
          <p:cNvSpPr/>
          <p:nvPr/>
        </p:nvSpPr>
        <p:spPr>
          <a:xfrm>
            <a:off x="10360152" y="4206240"/>
            <a:ext cx="347472" cy="347472"/>
          </a:xfrm>
          <a:prstGeom prst="rect">
            <a:avLst/>
          </a:prstGeom>
          <a:solidFill>
            <a:srgbClr val="F7E5A0">
              <a:alpha val="85000"/>
            </a:srgbClr>
          </a:solidFill>
          <a:ln/>
        </p:spPr>
        <p:txBody>
          <a:bodyPr/>
          <a:lstStyle/>
          <a:p>
            <a:endParaRPr lang="en-US"/>
          </a:p>
        </p:txBody>
      </p:sp>
      <p:sp>
        <p:nvSpPr>
          <p:cNvPr id="69" name="Shape 67"/>
          <p:cNvSpPr/>
          <p:nvPr/>
        </p:nvSpPr>
        <p:spPr>
          <a:xfrm>
            <a:off x="10744200" y="4206240"/>
            <a:ext cx="347472" cy="347472"/>
          </a:xfrm>
          <a:prstGeom prst="rect">
            <a:avLst/>
          </a:prstGeom>
          <a:solidFill>
            <a:srgbClr val="F7E5A0">
              <a:alpha val="85000"/>
            </a:srgbClr>
          </a:solidFill>
          <a:ln/>
        </p:spPr>
        <p:txBody>
          <a:bodyPr/>
          <a:lstStyle/>
          <a:p>
            <a:endParaRPr lang="en-US"/>
          </a:p>
        </p:txBody>
      </p:sp>
      <p:sp>
        <p:nvSpPr>
          <p:cNvPr id="70" name="Shape 68"/>
          <p:cNvSpPr/>
          <p:nvPr/>
        </p:nvSpPr>
        <p:spPr>
          <a:xfrm>
            <a:off x="7287768" y="4590288"/>
            <a:ext cx="347472" cy="347472"/>
          </a:xfrm>
          <a:prstGeom prst="rect">
            <a:avLst/>
          </a:prstGeom>
          <a:solidFill>
            <a:srgbClr val="F3A26B">
              <a:alpha val="85000"/>
            </a:srgbClr>
          </a:solidFill>
          <a:ln/>
        </p:spPr>
        <p:txBody>
          <a:bodyPr/>
          <a:lstStyle/>
          <a:p>
            <a:endParaRPr lang="en-US"/>
          </a:p>
        </p:txBody>
      </p:sp>
      <p:sp>
        <p:nvSpPr>
          <p:cNvPr id="71" name="Shape 69"/>
          <p:cNvSpPr/>
          <p:nvPr/>
        </p:nvSpPr>
        <p:spPr>
          <a:xfrm>
            <a:off x="7671816" y="4590288"/>
            <a:ext cx="347472" cy="347472"/>
          </a:xfrm>
          <a:prstGeom prst="rect">
            <a:avLst/>
          </a:prstGeom>
          <a:solidFill>
            <a:srgbClr val="F3A26B">
              <a:alpha val="85000"/>
            </a:srgbClr>
          </a:solidFill>
          <a:ln/>
        </p:spPr>
        <p:txBody>
          <a:bodyPr/>
          <a:lstStyle/>
          <a:p>
            <a:endParaRPr lang="en-US"/>
          </a:p>
        </p:txBody>
      </p:sp>
      <p:sp>
        <p:nvSpPr>
          <p:cNvPr id="72" name="Shape 70"/>
          <p:cNvSpPr/>
          <p:nvPr/>
        </p:nvSpPr>
        <p:spPr>
          <a:xfrm>
            <a:off x="8055864" y="4590288"/>
            <a:ext cx="347472" cy="347472"/>
          </a:xfrm>
          <a:prstGeom prst="rect">
            <a:avLst/>
          </a:prstGeom>
          <a:solidFill>
            <a:srgbClr val="F7E5A0">
              <a:alpha val="85000"/>
            </a:srgbClr>
          </a:solidFill>
          <a:ln/>
        </p:spPr>
        <p:txBody>
          <a:bodyPr/>
          <a:lstStyle/>
          <a:p>
            <a:endParaRPr lang="en-US"/>
          </a:p>
        </p:txBody>
      </p:sp>
      <p:sp>
        <p:nvSpPr>
          <p:cNvPr id="73" name="Shape 71"/>
          <p:cNvSpPr/>
          <p:nvPr/>
        </p:nvSpPr>
        <p:spPr>
          <a:xfrm>
            <a:off x="8439912" y="4590288"/>
            <a:ext cx="347472" cy="347472"/>
          </a:xfrm>
          <a:prstGeom prst="rect">
            <a:avLst/>
          </a:prstGeom>
          <a:solidFill>
            <a:srgbClr val="F7E5A0">
              <a:alpha val="85000"/>
            </a:srgbClr>
          </a:solidFill>
          <a:ln/>
        </p:spPr>
        <p:txBody>
          <a:bodyPr/>
          <a:lstStyle/>
          <a:p>
            <a:endParaRPr lang="en-US"/>
          </a:p>
        </p:txBody>
      </p:sp>
      <p:sp>
        <p:nvSpPr>
          <p:cNvPr id="74" name="Shape 72"/>
          <p:cNvSpPr/>
          <p:nvPr/>
        </p:nvSpPr>
        <p:spPr>
          <a:xfrm>
            <a:off x="8823960" y="4590288"/>
            <a:ext cx="347472" cy="347472"/>
          </a:xfrm>
          <a:prstGeom prst="rect">
            <a:avLst/>
          </a:prstGeom>
          <a:solidFill>
            <a:srgbClr val="F7E5A0">
              <a:alpha val="85000"/>
            </a:srgbClr>
          </a:solidFill>
          <a:ln/>
        </p:spPr>
        <p:txBody>
          <a:bodyPr/>
          <a:lstStyle/>
          <a:p>
            <a:endParaRPr lang="en-US"/>
          </a:p>
        </p:txBody>
      </p:sp>
      <p:sp>
        <p:nvSpPr>
          <p:cNvPr id="75" name="Shape 73"/>
          <p:cNvSpPr/>
          <p:nvPr/>
        </p:nvSpPr>
        <p:spPr>
          <a:xfrm>
            <a:off x="9208008" y="4590288"/>
            <a:ext cx="347472" cy="347472"/>
          </a:xfrm>
          <a:prstGeom prst="rect">
            <a:avLst/>
          </a:prstGeom>
          <a:solidFill>
            <a:srgbClr val="F7E5A0">
              <a:alpha val="85000"/>
            </a:srgbClr>
          </a:solidFill>
          <a:ln/>
        </p:spPr>
        <p:txBody>
          <a:bodyPr/>
          <a:lstStyle/>
          <a:p>
            <a:endParaRPr lang="en-US"/>
          </a:p>
        </p:txBody>
      </p:sp>
      <p:sp>
        <p:nvSpPr>
          <p:cNvPr id="76" name="Shape 74"/>
          <p:cNvSpPr/>
          <p:nvPr/>
        </p:nvSpPr>
        <p:spPr>
          <a:xfrm>
            <a:off x="9592056" y="4590288"/>
            <a:ext cx="347472" cy="347472"/>
          </a:xfrm>
          <a:prstGeom prst="rect">
            <a:avLst/>
          </a:prstGeom>
          <a:solidFill>
            <a:srgbClr val="F7E5A0">
              <a:alpha val="85000"/>
            </a:srgbClr>
          </a:solidFill>
          <a:ln/>
        </p:spPr>
        <p:txBody>
          <a:bodyPr/>
          <a:lstStyle/>
          <a:p>
            <a:endParaRPr lang="en-US"/>
          </a:p>
        </p:txBody>
      </p:sp>
      <p:sp>
        <p:nvSpPr>
          <p:cNvPr id="77" name="Shape 75"/>
          <p:cNvSpPr/>
          <p:nvPr/>
        </p:nvSpPr>
        <p:spPr>
          <a:xfrm>
            <a:off x="9976104" y="4590288"/>
            <a:ext cx="347472" cy="347472"/>
          </a:xfrm>
          <a:prstGeom prst="rect">
            <a:avLst/>
          </a:prstGeom>
          <a:solidFill>
            <a:srgbClr val="F7E5A0">
              <a:alpha val="85000"/>
            </a:srgbClr>
          </a:solidFill>
          <a:ln/>
        </p:spPr>
        <p:txBody>
          <a:bodyPr/>
          <a:lstStyle/>
          <a:p>
            <a:endParaRPr lang="en-US"/>
          </a:p>
        </p:txBody>
      </p:sp>
      <p:sp>
        <p:nvSpPr>
          <p:cNvPr id="78" name="Shape 76"/>
          <p:cNvSpPr/>
          <p:nvPr/>
        </p:nvSpPr>
        <p:spPr>
          <a:xfrm>
            <a:off x="10360152" y="4590288"/>
            <a:ext cx="347472" cy="347472"/>
          </a:xfrm>
          <a:prstGeom prst="rect">
            <a:avLst/>
          </a:prstGeom>
          <a:solidFill>
            <a:srgbClr val="F7E5A0">
              <a:alpha val="85000"/>
            </a:srgbClr>
          </a:solidFill>
          <a:ln/>
        </p:spPr>
        <p:txBody>
          <a:bodyPr/>
          <a:lstStyle/>
          <a:p>
            <a:endParaRPr lang="en-US"/>
          </a:p>
        </p:txBody>
      </p:sp>
      <p:sp>
        <p:nvSpPr>
          <p:cNvPr id="79" name="Shape 77"/>
          <p:cNvSpPr/>
          <p:nvPr/>
        </p:nvSpPr>
        <p:spPr>
          <a:xfrm>
            <a:off x="7671816" y="4974336"/>
            <a:ext cx="347472" cy="347472"/>
          </a:xfrm>
          <a:prstGeom prst="rect">
            <a:avLst/>
          </a:prstGeom>
          <a:solidFill>
            <a:srgbClr val="F3A26B">
              <a:alpha val="85000"/>
            </a:srgbClr>
          </a:solidFill>
          <a:ln/>
        </p:spPr>
        <p:txBody>
          <a:bodyPr/>
          <a:lstStyle/>
          <a:p>
            <a:endParaRPr lang="en-US"/>
          </a:p>
        </p:txBody>
      </p:sp>
      <p:sp>
        <p:nvSpPr>
          <p:cNvPr id="80" name="Shape 78"/>
          <p:cNvSpPr/>
          <p:nvPr/>
        </p:nvSpPr>
        <p:spPr>
          <a:xfrm>
            <a:off x="8055864" y="4974336"/>
            <a:ext cx="347472" cy="347472"/>
          </a:xfrm>
          <a:prstGeom prst="rect">
            <a:avLst/>
          </a:prstGeom>
          <a:solidFill>
            <a:srgbClr val="F7E5A0">
              <a:alpha val="85000"/>
            </a:srgbClr>
          </a:solidFill>
          <a:ln/>
        </p:spPr>
        <p:txBody>
          <a:bodyPr/>
          <a:lstStyle/>
          <a:p>
            <a:endParaRPr lang="en-US"/>
          </a:p>
        </p:txBody>
      </p:sp>
      <p:sp>
        <p:nvSpPr>
          <p:cNvPr id="81" name="Shape 79"/>
          <p:cNvSpPr/>
          <p:nvPr/>
        </p:nvSpPr>
        <p:spPr>
          <a:xfrm>
            <a:off x="8439912" y="4974336"/>
            <a:ext cx="347472" cy="347472"/>
          </a:xfrm>
          <a:prstGeom prst="rect">
            <a:avLst/>
          </a:prstGeom>
          <a:solidFill>
            <a:srgbClr val="F7E5A0">
              <a:alpha val="85000"/>
            </a:srgbClr>
          </a:solidFill>
          <a:ln/>
        </p:spPr>
        <p:txBody>
          <a:bodyPr/>
          <a:lstStyle/>
          <a:p>
            <a:endParaRPr lang="en-US"/>
          </a:p>
        </p:txBody>
      </p:sp>
      <p:sp>
        <p:nvSpPr>
          <p:cNvPr id="82" name="Shape 80"/>
          <p:cNvSpPr/>
          <p:nvPr/>
        </p:nvSpPr>
        <p:spPr>
          <a:xfrm>
            <a:off x="8823960" y="4974336"/>
            <a:ext cx="347472" cy="347472"/>
          </a:xfrm>
          <a:prstGeom prst="rect">
            <a:avLst/>
          </a:prstGeom>
          <a:solidFill>
            <a:srgbClr val="F7E5A0">
              <a:alpha val="85000"/>
            </a:srgbClr>
          </a:solidFill>
          <a:ln/>
        </p:spPr>
        <p:txBody>
          <a:bodyPr/>
          <a:lstStyle/>
          <a:p>
            <a:endParaRPr lang="en-US"/>
          </a:p>
        </p:txBody>
      </p:sp>
      <p:sp>
        <p:nvSpPr>
          <p:cNvPr id="83" name="Shape 81"/>
          <p:cNvSpPr/>
          <p:nvPr/>
        </p:nvSpPr>
        <p:spPr>
          <a:xfrm>
            <a:off x="9208008" y="4974336"/>
            <a:ext cx="347472" cy="347472"/>
          </a:xfrm>
          <a:prstGeom prst="rect">
            <a:avLst/>
          </a:prstGeom>
          <a:solidFill>
            <a:srgbClr val="F7E5A0">
              <a:alpha val="85000"/>
            </a:srgbClr>
          </a:solidFill>
          <a:ln/>
        </p:spPr>
        <p:txBody>
          <a:bodyPr/>
          <a:lstStyle/>
          <a:p>
            <a:endParaRPr lang="en-US"/>
          </a:p>
        </p:txBody>
      </p:sp>
      <p:sp>
        <p:nvSpPr>
          <p:cNvPr id="84" name="Shape 82"/>
          <p:cNvSpPr/>
          <p:nvPr/>
        </p:nvSpPr>
        <p:spPr>
          <a:xfrm>
            <a:off x="9592056" y="4974336"/>
            <a:ext cx="347472" cy="347472"/>
          </a:xfrm>
          <a:prstGeom prst="rect">
            <a:avLst/>
          </a:prstGeom>
          <a:solidFill>
            <a:srgbClr val="F7E5A0">
              <a:alpha val="85000"/>
            </a:srgbClr>
          </a:solidFill>
          <a:ln/>
        </p:spPr>
        <p:txBody>
          <a:bodyPr/>
          <a:lstStyle/>
          <a:p>
            <a:endParaRPr lang="en-US"/>
          </a:p>
        </p:txBody>
      </p:sp>
      <p:sp>
        <p:nvSpPr>
          <p:cNvPr id="85" name="Shape 83"/>
          <p:cNvSpPr/>
          <p:nvPr/>
        </p:nvSpPr>
        <p:spPr>
          <a:xfrm>
            <a:off x="9976104" y="4974336"/>
            <a:ext cx="347472" cy="347472"/>
          </a:xfrm>
          <a:prstGeom prst="rect">
            <a:avLst/>
          </a:prstGeom>
          <a:solidFill>
            <a:srgbClr val="F7E5A0">
              <a:alpha val="85000"/>
            </a:srgbClr>
          </a:solidFill>
          <a:ln/>
        </p:spPr>
        <p:txBody>
          <a:bodyPr/>
          <a:lstStyle/>
          <a:p>
            <a:endParaRPr lang="en-US"/>
          </a:p>
        </p:txBody>
      </p:sp>
      <p:sp>
        <p:nvSpPr>
          <p:cNvPr id="86" name="Shape 84"/>
          <p:cNvSpPr/>
          <p:nvPr/>
        </p:nvSpPr>
        <p:spPr>
          <a:xfrm>
            <a:off x="6949440" y="5715000"/>
            <a:ext cx="411480" cy="201168"/>
          </a:xfrm>
          <a:prstGeom prst="rect">
            <a:avLst/>
          </a:prstGeom>
          <a:solidFill>
            <a:srgbClr val="F7E5A0"/>
          </a:solidFill>
          <a:ln/>
        </p:spPr>
        <p:txBody>
          <a:bodyPr/>
          <a:lstStyle/>
          <a:p>
            <a:endParaRPr lang="en-US"/>
          </a:p>
        </p:txBody>
      </p:sp>
      <p:sp>
        <p:nvSpPr>
          <p:cNvPr id="87" name="Shape 85"/>
          <p:cNvSpPr/>
          <p:nvPr/>
        </p:nvSpPr>
        <p:spPr>
          <a:xfrm>
            <a:off x="7360920" y="5715000"/>
            <a:ext cx="411480" cy="201168"/>
          </a:xfrm>
          <a:prstGeom prst="rect">
            <a:avLst/>
          </a:prstGeom>
          <a:solidFill>
            <a:srgbClr val="F3A26B"/>
          </a:solidFill>
          <a:ln/>
        </p:spPr>
        <p:txBody>
          <a:bodyPr/>
          <a:lstStyle/>
          <a:p>
            <a:endParaRPr lang="en-US"/>
          </a:p>
        </p:txBody>
      </p:sp>
      <p:sp>
        <p:nvSpPr>
          <p:cNvPr id="88" name="Shape 86"/>
          <p:cNvSpPr/>
          <p:nvPr/>
        </p:nvSpPr>
        <p:spPr>
          <a:xfrm>
            <a:off x="7772400" y="5715000"/>
            <a:ext cx="411480" cy="201168"/>
          </a:xfrm>
          <a:prstGeom prst="rect">
            <a:avLst/>
          </a:prstGeom>
          <a:solidFill>
            <a:srgbClr val="E0457B"/>
          </a:solidFill>
          <a:ln/>
        </p:spPr>
        <p:txBody>
          <a:bodyPr/>
          <a:lstStyle/>
          <a:p>
            <a:endParaRPr lang="en-US"/>
          </a:p>
        </p:txBody>
      </p:sp>
      <p:sp>
        <p:nvSpPr>
          <p:cNvPr id="89" name="Shape 87"/>
          <p:cNvSpPr/>
          <p:nvPr/>
        </p:nvSpPr>
        <p:spPr>
          <a:xfrm>
            <a:off x="8183880" y="5715000"/>
            <a:ext cx="411480" cy="201168"/>
          </a:xfrm>
          <a:prstGeom prst="rect">
            <a:avLst/>
          </a:prstGeom>
          <a:solidFill>
            <a:srgbClr val="B5179E"/>
          </a:solidFill>
          <a:ln/>
        </p:spPr>
        <p:txBody>
          <a:bodyPr/>
          <a:lstStyle/>
          <a:p>
            <a:endParaRPr lang="en-US"/>
          </a:p>
        </p:txBody>
      </p:sp>
      <p:sp>
        <p:nvSpPr>
          <p:cNvPr id="90" name="Text 88"/>
          <p:cNvSpPr/>
          <p:nvPr/>
        </p:nvSpPr>
        <p:spPr>
          <a:xfrm>
            <a:off x="8686800" y="5687568"/>
            <a:ext cx="2743200" cy="256032"/>
          </a:xfrm>
          <a:prstGeom prst="rect">
            <a:avLst/>
          </a:prstGeom>
          <a:noFill/>
          <a:ln/>
        </p:spPr>
        <p:txBody>
          <a:bodyPr wrap="square" lIns="0" tIns="0" rIns="0" bIns="0" rtlCol="0" anchor="ctr"/>
          <a:lstStyle/>
          <a:p>
            <a:pPr marL="0" indent="0">
              <a:buNone/>
            </a:pPr>
            <a:r>
              <a:rPr lang="en-US" sz="1250" dirty="0">
                <a:solidFill>
                  <a:srgbClr val="8A7F99"/>
                </a:solidFill>
                <a:latin typeface="Calibri" pitchFamily="34" charset="0"/>
                <a:ea typeface="Calibri" pitchFamily="34" charset="-122"/>
                <a:cs typeface="Calibri" pitchFamily="34" charset="-120"/>
              </a:rPr>
              <a:t>low → high attention</a:t>
            </a:r>
            <a:endParaRPr lang="en-US" sz="1250" dirty="0"/>
          </a:p>
        </p:txBody>
      </p:sp>
      <p:sp>
        <p:nvSpPr>
          <p:cNvPr id="91" name="Text 89"/>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92" name="Text 90"/>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40</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POST-PROCESSING · BEYOND ONE SLIDE</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Top-k review &amp; case-level aggregation</a:t>
            </a:r>
            <a:endParaRPr lang="en-US" sz="2900" dirty="0"/>
          </a:p>
        </p:txBody>
      </p:sp>
      <p:sp>
        <p:nvSpPr>
          <p:cNvPr id="5" name="Shape 3"/>
          <p:cNvSpPr/>
          <p:nvPr/>
        </p:nvSpPr>
        <p:spPr>
          <a:xfrm>
            <a:off x="640080" y="1508760"/>
            <a:ext cx="548640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4617720"/>
          </a:xfrm>
          <a:prstGeom prst="rect">
            <a:avLst/>
          </a:prstGeom>
          <a:solidFill>
            <a:srgbClr val="D6336C"/>
          </a:solidFill>
          <a:ln/>
        </p:spPr>
        <p:txBody>
          <a:bodyPr/>
          <a:lstStyle/>
          <a:p>
            <a:endParaRPr lang="en-US"/>
          </a:p>
        </p:txBody>
      </p:sp>
      <p:sp>
        <p:nvSpPr>
          <p:cNvPr id="7" name="Text 5"/>
          <p:cNvSpPr/>
          <p:nvPr/>
        </p:nvSpPr>
        <p:spPr>
          <a:xfrm>
            <a:off x="896112" y="1664208"/>
            <a:ext cx="5029200" cy="365760"/>
          </a:xfrm>
          <a:prstGeom prst="rect">
            <a:avLst/>
          </a:prstGeom>
          <a:noFill/>
          <a:ln/>
        </p:spPr>
        <p:txBody>
          <a:bodyPr wrap="square" lIns="0" tIns="0" rIns="0" bIns="0" rtlCol="0" anchor="ctr"/>
          <a:lstStyle/>
          <a:p>
            <a:pPr marL="0" indent="0">
              <a:buNone/>
            </a:pPr>
            <a:r>
              <a:rPr lang="en-US" sz="1800" b="1" dirty="0">
                <a:solidFill>
                  <a:srgbClr val="D6336C"/>
                </a:solidFill>
                <a:latin typeface="Calibri" pitchFamily="34" charset="0"/>
                <a:ea typeface="Calibri" pitchFamily="34" charset="-122"/>
                <a:cs typeface="Calibri" pitchFamily="34" charset="-120"/>
              </a:rPr>
              <a:t>Top-k patch retrieval</a:t>
            </a:r>
            <a:endParaRPr lang="en-US" sz="1800" dirty="0"/>
          </a:p>
        </p:txBody>
      </p:sp>
      <p:sp>
        <p:nvSpPr>
          <p:cNvPr id="8" name="Text 6"/>
          <p:cNvSpPr/>
          <p:nvPr/>
        </p:nvSpPr>
        <p:spPr>
          <a:xfrm>
            <a:off x="896112" y="2148840"/>
            <a:ext cx="5029200" cy="201168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Sort patches by attention; surface the top-k tiles as a visual evidence panel.</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Lets a pathologist audit the model's reasoning in seconds, without scanning the whole slide.</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Also powers similar-case retrieval and dataset QC (find mislabeled / artifact tiles).</a:t>
            </a:r>
            <a:endParaRPr lang="en-US" sz="1750" dirty="0"/>
          </a:p>
        </p:txBody>
      </p:sp>
      <p:sp>
        <p:nvSpPr>
          <p:cNvPr id="9" name="Shape 7"/>
          <p:cNvSpPr/>
          <p:nvPr/>
        </p:nvSpPr>
        <p:spPr>
          <a:xfrm>
            <a:off x="896112" y="4343400"/>
            <a:ext cx="1051560" cy="1051560"/>
          </a:xfrm>
          <a:prstGeom prst="rect">
            <a:avLst/>
          </a:prstGeom>
          <a:solidFill>
            <a:srgbClr val="B5179E"/>
          </a:solidFill>
          <a:ln w="25400">
            <a:solidFill>
              <a:srgbClr val="FFFFFF"/>
            </a:solidFill>
            <a:prstDash val="solid"/>
          </a:ln>
        </p:spPr>
        <p:txBody>
          <a:bodyPr/>
          <a:lstStyle/>
          <a:p>
            <a:endParaRPr lang="en-US"/>
          </a:p>
        </p:txBody>
      </p:sp>
      <p:sp>
        <p:nvSpPr>
          <p:cNvPr id="10" name="Text 8"/>
          <p:cNvSpPr/>
          <p:nvPr/>
        </p:nvSpPr>
        <p:spPr>
          <a:xfrm>
            <a:off x="896112" y="5413248"/>
            <a:ext cx="1051560" cy="228600"/>
          </a:xfrm>
          <a:prstGeom prst="rect">
            <a:avLst/>
          </a:prstGeom>
          <a:noFill/>
          <a:ln/>
        </p:spPr>
        <p:txBody>
          <a:bodyPr wrap="square" lIns="0" tIns="0" rIns="0" bIns="0" rtlCol="0" anchor="ctr"/>
          <a:lstStyle/>
          <a:p>
            <a:pPr marL="0" indent="0" algn="ctr">
              <a:buNone/>
            </a:pPr>
            <a:r>
              <a:rPr lang="en-US" sz="1200" dirty="0">
                <a:solidFill>
                  <a:srgbClr val="8A7F99"/>
                </a:solidFill>
                <a:latin typeface="Courier New" pitchFamily="34" charset="0"/>
                <a:ea typeface="Courier New" pitchFamily="34" charset="-122"/>
                <a:cs typeface="Courier New" pitchFamily="34" charset="-120"/>
              </a:rPr>
              <a:t>a=0.34</a:t>
            </a:r>
            <a:endParaRPr lang="en-US" sz="1200" dirty="0"/>
          </a:p>
        </p:txBody>
      </p:sp>
      <p:sp>
        <p:nvSpPr>
          <p:cNvPr id="11" name="Shape 9"/>
          <p:cNvSpPr/>
          <p:nvPr/>
        </p:nvSpPr>
        <p:spPr>
          <a:xfrm>
            <a:off x="2121408" y="4343400"/>
            <a:ext cx="1051560" cy="1051560"/>
          </a:xfrm>
          <a:prstGeom prst="rect">
            <a:avLst/>
          </a:prstGeom>
          <a:solidFill>
            <a:srgbClr val="D6336C"/>
          </a:solidFill>
          <a:ln w="25400">
            <a:solidFill>
              <a:srgbClr val="FFFFFF"/>
            </a:solidFill>
            <a:prstDash val="solid"/>
          </a:ln>
        </p:spPr>
        <p:txBody>
          <a:bodyPr/>
          <a:lstStyle/>
          <a:p>
            <a:endParaRPr lang="en-US"/>
          </a:p>
        </p:txBody>
      </p:sp>
      <p:sp>
        <p:nvSpPr>
          <p:cNvPr id="12" name="Text 10"/>
          <p:cNvSpPr/>
          <p:nvPr/>
        </p:nvSpPr>
        <p:spPr>
          <a:xfrm>
            <a:off x="2121408" y="5413248"/>
            <a:ext cx="1051560" cy="228600"/>
          </a:xfrm>
          <a:prstGeom prst="rect">
            <a:avLst/>
          </a:prstGeom>
          <a:noFill/>
          <a:ln/>
        </p:spPr>
        <p:txBody>
          <a:bodyPr wrap="square" lIns="0" tIns="0" rIns="0" bIns="0" rtlCol="0" anchor="ctr"/>
          <a:lstStyle/>
          <a:p>
            <a:pPr marL="0" indent="0" algn="ctr">
              <a:buNone/>
            </a:pPr>
            <a:r>
              <a:rPr lang="en-US" sz="1200" dirty="0">
                <a:solidFill>
                  <a:srgbClr val="8A7F99"/>
                </a:solidFill>
                <a:latin typeface="Courier New" pitchFamily="34" charset="0"/>
                <a:ea typeface="Courier New" pitchFamily="34" charset="-122"/>
                <a:cs typeface="Courier New" pitchFamily="34" charset="-120"/>
              </a:rPr>
              <a:t>a=0.28</a:t>
            </a:r>
            <a:endParaRPr lang="en-US" sz="1200" dirty="0"/>
          </a:p>
        </p:txBody>
      </p:sp>
      <p:sp>
        <p:nvSpPr>
          <p:cNvPr id="13" name="Shape 11"/>
          <p:cNvSpPr/>
          <p:nvPr/>
        </p:nvSpPr>
        <p:spPr>
          <a:xfrm>
            <a:off x="3346704" y="4343400"/>
            <a:ext cx="1051560" cy="1051560"/>
          </a:xfrm>
          <a:prstGeom prst="rect">
            <a:avLst/>
          </a:prstGeom>
          <a:solidFill>
            <a:srgbClr val="E0457B"/>
          </a:solidFill>
          <a:ln w="25400">
            <a:solidFill>
              <a:srgbClr val="FFFFFF"/>
            </a:solidFill>
            <a:prstDash val="solid"/>
          </a:ln>
        </p:spPr>
        <p:txBody>
          <a:bodyPr/>
          <a:lstStyle/>
          <a:p>
            <a:endParaRPr lang="en-US"/>
          </a:p>
        </p:txBody>
      </p:sp>
      <p:sp>
        <p:nvSpPr>
          <p:cNvPr id="14" name="Text 12"/>
          <p:cNvSpPr/>
          <p:nvPr/>
        </p:nvSpPr>
        <p:spPr>
          <a:xfrm>
            <a:off x="3346704" y="5413248"/>
            <a:ext cx="1051560" cy="228600"/>
          </a:xfrm>
          <a:prstGeom prst="rect">
            <a:avLst/>
          </a:prstGeom>
          <a:noFill/>
          <a:ln/>
        </p:spPr>
        <p:txBody>
          <a:bodyPr wrap="square" lIns="0" tIns="0" rIns="0" bIns="0" rtlCol="0" anchor="ctr"/>
          <a:lstStyle/>
          <a:p>
            <a:pPr marL="0" indent="0" algn="ctr">
              <a:buNone/>
            </a:pPr>
            <a:r>
              <a:rPr lang="en-US" sz="1200" dirty="0">
                <a:solidFill>
                  <a:srgbClr val="8A7F99"/>
                </a:solidFill>
                <a:latin typeface="Courier New" pitchFamily="34" charset="0"/>
                <a:ea typeface="Courier New" pitchFamily="34" charset="-122"/>
                <a:cs typeface="Courier New" pitchFamily="34" charset="-120"/>
              </a:rPr>
              <a:t>a=0.22</a:t>
            </a:r>
            <a:endParaRPr lang="en-US" sz="1200" dirty="0"/>
          </a:p>
        </p:txBody>
      </p:sp>
      <p:sp>
        <p:nvSpPr>
          <p:cNvPr id="15" name="Shape 13"/>
          <p:cNvSpPr/>
          <p:nvPr/>
        </p:nvSpPr>
        <p:spPr>
          <a:xfrm>
            <a:off x="4572000" y="4343400"/>
            <a:ext cx="1051560" cy="1051560"/>
          </a:xfrm>
          <a:prstGeom prst="rect">
            <a:avLst/>
          </a:prstGeom>
          <a:solidFill>
            <a:srgbClr val="E86A92"/>
          </a:solidFill>
          <a:ln w="25400">
            <a:solidFill>
              <a:srgbClr val="FFFFFF"/>
            </a:solidFill>
            <a:prstDash val="solid"/>
          </a:ln>
        </p:spPr>
        <p:txBody>
          <a:bodyPr/>
          <a:lstStyle/>
          <a:p>
            <a:endParaRPr lang="en-US"/>
          </a:p>
        </p:txBody>
      </p:sp>
      <p:sp>
        <p:nvSpPr>
          <p:cNvPr id="16" name="Text 14"/>
          <p:cNvSpPr/>
          <p:nvPr/>
        </p:nvSpPr>
        <p:spPr>
          <a:xfrm>
            <a:off x="4572000" y="5413248"/>
            <a:ext cx="1051560" cy="228600"/>
          </a:xfrm>
          <a:prstGeom prst="rect">
            <a:avLst/>
          </a:prstGeom>
          <a:noFill/>
          <a:ln/>
        </p:spPr>
        <p:txBody>
          <a:bodyPr wrap="square" lIns="0" tIns="0" rIns="0" bIns="0" rtlCol="0" anchor="ctr"/>
          <a:lstStyle/>
          <a:p>
            <a:pPr marL="0" indent="0" algn="ctr">
              <a:buNone/>
            </a:pPr>
            <a:r>
              <a:rPr lang="en-US" sz="1200" dirty="0">
                <a:solidFill>
                  <a:srgbClr val="8A7F99"/>
                </a:solidFill>
                <a:latin typeface="Courier New" pitchFamily="34" charset="0"/>
                <a:ea typeface="Courier New" pitchFamily="34" charset="-122"/>
                <a:cs typeface="Courier New" pitchFamily="34" charset="-120"/>
              </a:rPr>
              <a:t>a=0.16</a:t>
            </a:r>
            <a:endParaRPr lang="en-US" sz="1200" dirty="0"/>
          </a:p>
        </p:txBody>
      </p:sp>
      <p:sp>
        <p:nvSpPr>
          <p:cNvPr id="17" name="Text 15"/>
          <p:cNvSpPr/>
          <p:nvPr/>
        </p:nvSpPr>
        <p:spPr>
          <a:xfrm>
            <a:off x="896112" y="5669280"/>
            <a:ext cx="4846320" cy="274320"/>
          </a:xfrm>
          <a:prstGeom prst="rect">
            <a:avLst/>
          </a:prstGeom>
          <a:noFill/>
          <a:ln/>
        </p:spPr>
        <p:txBody>
          <a:bodyPr wrap="square" lIns="0" tIns="0" rIns="0" bIns="0" rtlCol="0" anchor="ctr"/>
          <a:lstStyle/>
          <a:p>
            <a:pPr marL="0" indent="0">
              <a:buNone/>
            </a:pPr>
            <a:r>
              <a:rPr lang="en-US" sz="1300" i="1" dirty="0">
                <a:solidFill>
                  <a:srgbClr val="8A7F99"/>
                </a:solidFill>
                <a:latin typeface="Calibri" pitchFamily="34" charset="0"/>
                <a:ea typeface="Calibri" pitchFamily="34" charset="-122"/>
                <a:cs typeface="Calibri" pitchFamily="34" charset="-120"/>
              </a:rPr>
              <a:t>top-attended evidence tiles</a:t>
            </a:r>
            <a:endParaRPr lang="en-US" sz="1300" dirty="0"/>
          </a:p>
        </p:txBody>
      </p:sp>
      <p:sp>
        <p:nvSpPr>
          <p:cNvPr id="18" name="Shape 16"/>
          <p:cNvSpPr/>
          <p:nvPr/>
        </p:nvSpPr>
        <p:spPr>
          <a:xfrm>
            <a:off x="6355080" y="1508760"/>
            <a:ext cx="544068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9" name="Shape 17"/>
          <p:cNvSpPr/>
          <p:nvPr/>
        </p:nvSpPr>
        <p:spPr>
          <a:xfrm>
            <a:off x="6355080" y="1508760"/>
            <a:ext cx="82296" cy="4617720"/>
          </a:xfrm>
          <a:prstGeom prst="rect">
            <a:avLst/>
          </a:prstGeom>
          <a:solidFill>
            <a:srgbClr val="1C8C8C"/>
          </a:solidFill>
          <a:ln/>
        </p:spPr>
        <p:txBody>
          <a:bodyPr/>
          <a:lstStyle/>
          <a:p>
            <a:endParaRPr lang="en-US"/>
          </a:p>
        </p:txBody>
      </p:sp>
      <p:sp>
        <p:nvSpPr>
          <p:cNvPr id="20" name="Text 18"/>
          <p:cNvSpPr/>
          <p:nvPr/>
        </p:nvSpPr>
        <p:spPr>
          <a:xfrm>
            <a:off x="6611112" y="1664208"/>
            <a:ext cx="5029200" cy="365760"/>
          </a:xfrm>
          <a:prstGeom prst="rect">
            <a:avLst/>
          </a:prstGeom>
          <a:noFill/>
          <a:ln/>
        </p:spPr>
        <p:txBody>
          <a:bodyPr wrap="square" lIns="0" tIns="0" rIns="0" bIns="0" rtlCol="0" anchor="ctr"/>
          <a:lstStyle/>
          <a:p>
            <a:pPr marL="0" indent="0">
              <a:buNone/>
            </a:pPr>
            <a:r>
              <a:rPr lang="en-US" sz="1800" b="1" dirty="0">
                <a:solidFill>
                  <a:srgbClr val="1C8C8C"/>
                </a:solidFill>
                <a:latin typeface="Calibri" pitchFamily="34" charset="0"/>
                <a:ea typeface="Calibri" pitchFamily="34" charset="-122"/>
                <a:cs typeface="Calibri" pitchFamily="34" charset="-120"/>
              </a:rPr>
              <a:t>Slide → patient → decision</a:t>
            </a:r>
            <a:endParaRPr lang="en-US" sz="1800" dirty="0"/>
          </a:p>
        </p:txBody>
      </p:sp>
      <p:sp>
        <p:nvSpPr>
          <p:cNvPr id="21" name="Text 19"/>
          <p:cNvSpPr/>
          <p:nvPr/>
        </p:nvSpPr>
        <p:spPr>
          <a:xfrm>
            <a:off x="6611112" y="2148840"/>
            <a:ext cx="4983480" cy="237744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A patient often has multiple slides/blocks — aggregate slide scores to a case decision.</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Common rules: max (any positive slide ⇒ positive), mean, or a learned second-stage model.</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Apply an operating-point threshold chosen on validation (not test) for the final call.</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Report at the level the clinic acts on — usually the patient, not the slide.</a:t>
            </a:r>
            <a:endParaRPr lang="en-US" sz="1750" dirty="0"/>
          </a:p>
        </p:txBody>
      </p:sp>
      <p:sp>
        <p:nvSpPr>
          <p:cNvPr id="22" name="Shape 20"/>
          <p:cNvSpPr/>
          <p:nvPr/>
        </p:nvSpPr>
        <p:spPr>
          <a:xfrm>
            <a:off x="6766560" y="4846320"/>
            <a:ext cx="1371600" cy="292608"/>
          </a:xfrm>
          <a:prstGeom prst="rect">
            <a:avLst/>
          </a:prstGeom>
          <a:solidFill>
            <a:srgbClr val="6B4E8F"/>
          </a:solidFill>
          <a:ln/>
        </p:spPr>
        <p:txBody>
          <a:bodyPr/>
          <a:lstStyle/>
          <a:p>
            <a:endParaRPr lang="en-US"/>
          </a:p>
        </p:txBody>
      </p:sp>
      <p:sp>
        <p:nvSpPr>
          <p:cNvPr id="23" name="Text 21"/>
          <p:cNvSpPr/>
          <p:nvPr/>
        </p:nvSpPr>
        <p:spPr>
          <a:xfrm>
            <a:off x="6766560" y="4846320"/>
            <a:ext cx="1371600" cy="292608"/>
          </a:xfrm>
          <a:prstGeom prst="rect">
            <a:avLst/>
          </a:prstGeom>
          <a:noFill/>
          <a:ln/>
        </p:spPr>
        <p:txBody>
          <a:bodyPr wrap="square" lIns="0" tIns="0" rIns="0" bIns="0" rtlCol="0" anchor="ctr"/>
          <a:lstStyle/>
          <a:p>
            <a:pPr marL="0" indent="0" algn="ctr">
              <a:buNone/>
            </a:pPr>
            <a:r>
              <a:rPr lang="en-US" sz="1150" dirty="0">
                <a:solidFill>
                  <a:srgbClr val="FFFFFF"/>
                </a:solidFill>
                <a:latin typeface="Courier New" pitchFamily="34" charset="0"/>
                <a:ea typeface="Courier New" pitchFamily="34" charset="-122"/>
                <a:cs typeface="Courier New" pitchFamily="34" charset="-120"/>
              </a:rPr>
              <a:t>slide 1: 0.82</a:t>
            </a:r>
            <a:endParaRPr lang="en-US" sz="1150" dirty="0"/>
          </a:p>
        </p:txBody>
      </p:sp>
      <p:sp>
        <p:nvSpPr>
          <p:cNvPr id="24" name="Shape 22"/>
          <p:cNvSpPr/>
          <p:nvPr/>
        </p:nvSpPr>
        <p:spPr>
          <a:xfrm>
            <a:off x="6766560" y="5230368"/>
            <a:ext cx="1371600" cy="292608"/>
          </a:xfrm>
          <a:prstGeom prst="rect">
            <a:avLst/>
          </a:prstGeom>
          <a:solidFill>
            <a:srgbClr val="6B4E8F"/>
          </a:solidFill>
          <a:ln/>
        </p:spPr>
        <p:txBody>
          <a:bodyPr/>
          <a:lstStyle/>
          <a:p>
            <a:endParaRPr lang="en-US"/>
          </a:p>
        </p:txBody>
      </p:sp>
      <p:sp>
        <p:nvSpPr>
          <p:cNvPr id="25" name="Text 23"/>
          <p:cNvSpPr/>
          <p:nvPr/>
        </p:nvSpPr>
        <p:spPr>
          <a:xfrm>
            <a:off x="6766560" y="5230368"/>
            <a:ext cx="1371600" cy="292608"/>
          </a:xfrm>
          <a:prstGeom prst="rect">
            <a:avLst/>
          </a:prstGeom>
          <a:noFill/>
          <a:ln/>
        </p:spPr>
        <p:txBody>
          <a:bodyPr wrap="square" lIns="0" tIns="0" rIns="0" bIns="0" rtlCol="0" anchor="ctr"/>
          <a:lstStyle/>
          <a:p>
            <a:pPr marL="0" indent="0" algn="ctr">
              <a:buNone/>
            </a:pPr>
            <a:r>
              <a:rPr lang="en-US" sz="1150" dirty="0">
                <a:solidFill>
                  <a:srgbClr val="FFFFFF"/>
                </a:solidFill>
                <a:latin typeface="Courier New" pitchFamily="34" charset="0"/>
                <a:ea typeface="Courier New" pitchFamily="34" charset="-122"/>
                <a:cs typeface="Courier New" pitchFamily="34" charset="-120"/>
              </a:rPr>
              <a:t>slide 2: 0.12</a:t>
            </a:r>
            <a:endParaRPr lang="en-US" sz="1150" dirty="0"/>
          </a:p>
        </p:txBody>
      </p:sp>
      <p:sp>
        <p:nvSpPr>
          <p:cNvPr id="26" name="Shape 24"/>
          <p:cNvSpPr/>
          <p:nvPr/>
        </p:nvSpPr>
        <p:spPr>
          <a:xfrm>
            <a:off x="6766560" y="5614416"/>
            <a:ext cx="1371600" cy="292608"/>
          </a:xfrm>
          <a:prstGeom prst="rect">
            <a:avLst/>
          </a:prstGeom>
          <a:solidFill>
            <a:srgbClr val="6B4E8F"/>
          </a:solidFill>
          <a:ln/>
        </p:spPr>
        <p:txBody>
          <a:bodyPr/>
          <a:lstStyle/>
          <a:p>
            <a:endParaRPr lang="en-US"/>
          </a:p>
        </p:txBody>
      </p:sp>
      <p:sp>
        <p:nvSpPr>
          <p:cNvPr id="27" name="Text 25"/>
          <p:cNvSpPr/>
          <p:nvPr/>
        </p:nvSpPr>
        <p:spPr>
          <a:xfrm>
            <a:off x="6766560" y="5614416"/>
            <a:ext cx="1371600" cy="292608"/>
          </a:xfrm>
          <a:prstGeom prst="rect">
            <a:avLst/>
          </a:prstGeom>
          <a:noFill/>
          <a:ln/>
        </p:spPr>
        <p:txBody>
          <a:bodyPr wrap="square" lIns="0" tIns="0" rIns="0" bIns="0" rtlCol="0" anchor="ctr"/>
          <a:lstStyle/>
          <a:p>
            <a:pPr marL="0" indent="0" algn="ctr">
              <a:buNone/>
            </a:pPr>
            <a:r>
              <a:rPr lang="en-US" sz="1150" dirty="0">
                <a:solidFill>
                  <a:srgbClr val="FFFFFF"/>
                </a:solidFill>
                <a:latin typeface="Courier New" pitchFamily="34" charset="0"/>
                <a:ea typeface="Courier New" pitchFamily="34" charset="-122"/>
                <a:cs typeface="Courier New" pitchFamily="34" charset="-120"/>
              </a:rPr>
              <a:t>slide 3: 0.67</a:t>
            </a:r>
            <a:endParaRPr lang="en-US" sz="1150" dirty="0"/>
          </a:p>
        </p:txBody>
      </p:sp>
      <p:sp>
        <p:nvSpPr>
          <p:cNvPr id="28" name="Shape 26"/>
          <p:cNvSpPr/>
          <p:nvPr/>
        </p:nvSpPr>
        <p:spPr>
          <a:xfrm>
            <a:off x="8183880" y="5230368"/>
            <a:ext cx="457200" cy="0"/>
          </a:xfrm>
          <a:prstGeom prst="line">
            <a:avLst/>
          </a:prstGeom>
          <a:noFill/>
          <a:ln w="25400">
            <a:solidFill>
              <a:srgbClr val="8A7F99"/>
            </a:solidFill>
            <a:prstDash val="solid"/>
            <a:tailEnd type="triangle"/>
          </a:ln>
        </p:spPr>
        <p:txBody>
          <a:bodyPr/>
          <a:lstStyle/>
          <a:p>
            <a:endParaRPr lang="en-US"/>
          </a:p>
        </p:txBody>
      </p:sp>
      <p:sp>
        <p:nvSpPr>
          <p:cNvPr id="29" name="Shape 27"/>
          <p:cNvSpPr/>
          <p:nvPr/>
        </p:nvSpPr>
        <p:spPr>
          <a:xfrm>
            <a:off x="8686800" y="4983480"/>
            <a:ext cx="2743200" cy="548640"/>
          </a:xfrm>
          <a:prstGeom prst="roundRect">
            <a:avLst>
              <a:gd name="adj" fmla="val 10000"/>
            </a:avLst>
          </a:prstGeom>
          <a:solidFill>
            <a:srgbClr val="D6336C"/>
          </a:solidFill>
          <a:ln/>
        </p:spPr>
        <p:txBody>
          <a:bodyPr/>
          <a:lstStyle/>
          <a:p>
            <a:endParaRPr lang="en-US"/>
          </a:p>
        </p:txBody>
      </p:sp>
      <p:sp>
        <p:nvSpPr>
          <p:cNvPr id="30" name="Text 28"/>
          <p:cNvSpPr/>
          <p:nvPr/>
        </p:nvSpPr>
        <p:spPr>
          <a:xfrm>
            <a:off x="8686800" y="4983480"/>
            <a:ext cx="274320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max → patient = positive</a:t>
            </a:r>
            <a:endParaRPr lang="en-US" sz="1350" dirty="0"/>
          </a:p>
        </p:txBody>
      </p:sp>
      <p:sp>
        <p:nvSpPr>
          <p:cNvPr id="31" name="Text 29"/>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2" name="Text 30"/>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41</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9</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Evaluation &amp; Visualization</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Measuring performance honestly and seeing what the model learned</a:t>
            </a:r>
            <a:endParaRPr lang="en-US" sz="1800" dirty="0"/>
          </a:p>
        </p:txBody>
      </p:sp>
      <p:sp>
        <p:nvSpPr>
          <p:cNvPr id="8" name="Shape 6"/>
          <p:cNvSpPr/>
          <p:nvPr/>
        </p:nvSpPr>
        <p:spPr>
          <a:xfrm>
            <a:off x="2697480" y="4572000"/>
            <a:ext cx="3383280" cy="457200"/>
          </a:xfrm>
          <a:prstGeom prst="roundRect">
            <a:avLst>
              <a:gd name="adj" fmla="val 16000"/>
            </a:avLst>
          </a:prstGeom>
          <a:solidFill>
            <a:srgbClr val="1C8C8C"/>
          </a:solidFill>
          <a:ln/>
        </p:spPr>
        <p:txBody>
          <a:bodyPr/>
          <a:lstStyle/>
          <a:p>
            <a:endParaRPr lang="en-US"/>
          </a:p>
        </p:txBody>
      </p:sp>
      <p:sp>
        <p:nvSpPr>
          <p:cNvPr id="9" name="Text 7"/>
          <p:cNvSpPr/>
          <p:nvPr/>
        </p:nvSpPr>
        <p:spPr>
          <a:xfrm>
            <a:off x="2697480" y="4572000"/>
            <a:ext cx="3383280" cy="45720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  Hands-on notebook included</a:t>
            </a:r>
            <a:endParaRPr lang="en-US" sz="145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11" name="Text 9"/>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42</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EVALUATION · METRICS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Metrics that actually matter</a:t>
            </a:r>
            <a:endParaRPr lang="en-US" sz="2900" dirty="0"/>
          </a:p>
        </p:txBody>
      </p:sp>
      <p:sp>
        <p:nvSpPr>
          <p:cNvPr id="5" name="Shape 3"/>
          <p:cNvSpPr/>
          <p:nvPr/>
        </p:nvSpPr>
        <p:spPr>
          <a:xfrm>
            <a:off x="640080"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463040"/>
            <a:ext cx="82296" cy="1993392"/>
          </a:xfrm>
          <a:prstGeom prst="rect">
            <a:avLst/>
          </a:prstGeom>
          <a:solidFill>
            <a:srgbClr val="D6336C"/>
          </a:solidFill>
          <a:ln/>
        </p:spPr>
        <p:txBody>
          <a:bodyPr/>
          <a:lstStyle/>
          <a:p>
            <a:endParaRPr lang="en-US"/>
          </a:p>
        </p:txBody>
      </p:sp>
      <p:sp>
        <p:nvSpPr>
          <p:cNvPr id="7" name="Text 5"/>
          <p:cNvSpPr/>
          <p:nvPr/>
        </p:nvSpPr>
        <p:spPr>
          <a:xfrm>
            <a:off x="877824" y="1609344"/>
            <a:ext cx="3108960" cy="365760"/>
          </a:xfrm>
          <a:prstGeom prst="rect">
            <a:avLst/>
          </a:prstGeom>
          <a:noFill/>
          <a:ln/>
        </p:spPr>
        <p:txBody>
          <a:bodyPr wrap="square" lIns="0" tIns="0" rIns="0" bIns="0" rtlCol="0" anchor="ctr"/>
          <a:lstStyle/>
          <a:p>
            <a:pPr marL="0" indent="0">
              <a:buNone/>
            </a:pPr>
            <a:r>
              <a:rPr lang="en-US" sz="1700" b="1" dirty="0">
                <a:solidFill>
                  <a:srgbClr val="D6336C"/>
                </a:solidFill>
                <a:latin typeface="Calibri" pitchFamily="34" charset="0"/>
                <a:ea typeface="Calibri" pitchFamily="34" charset="-122"/>
                <a:cs typeface="Calibri" pitchFamily="34" charset="-120"/>
              </a:rPr>
              <a:t>AUROC</a:t>
            </a:r>
            <a:endParaRPr lang="en-US" sz="1700" dirty="0"/>
          </a:p>
        </p:txBody>
      </p:sp>
      <p:sp>
        <p:nvSpPr>
          <p:cNvPr id="8" name="Text 6"/>
          <p:cNvSpPr/>
          <p:nvPr/>
        </p:nvSpPr>
        <p:spPr>
          <a:xfrm>
            <a:off x="877824" y="2029968"/>
            <a:ext cx="3108960" cy="13258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Threshold-free ranking quality; robust to imbalance. The default headline metric for MIL.</a:t>
            </a:r>
            <a:endParaRPr lang="en-US" sz="1450" dirty="0"/>
          </a:p>
        </p:txBody>
      </p:sp>
      <p:sp>
        <p:nvSpPr>
          <p:cNvPr id="9" name="Shape 7"/>
          <p:cNvSpPr/>
          <p:nvPr/>
        </p:nvSpPr>
        <p:spPr>
          <a:xfrm>
            <a:off x="4507992"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4507992" y="1463040"/>
            <a:ext cx="82296" cy="1993392"/>
          </a:xfrm>
          <a:prstGeom prst="rect">
            <a:avLst/>
          </a:prstGeom>
          <a:solidFill>
            <a:srgbClr val="4A2C6D"/>
          </a:solidFill>
          <a:ln/>
        </p:spPr>
        <p:txBody>
          <a:bodyPr/>
          <a:lstStyle/>
          <a:p>
            <a:endParaRPr lang="en-US"/>
          </a:p>
        </p:txBody>
      </p:sp>
      <p:sp>
        <p:nvSpPr>
          <p:cNvPr id="11" name="Text 9"/>
          <p:cNvSpPr/>
          <p:nvPr/>
        </p:nvSpPr>
        <p:spPr>
          <a:xfrm>
            <a:off x="4745736" y="1609344"/>
            <a:ext cx="3108960" cy="365760"/>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Balanced accuracy</a:t>
            </a:r>
            <a:endParaRPr lang="en-US" sz="1700" dirty="0"/>
          </a:p>
        </p:txBody>
      </p:sp>
      <p:sp>
        <p:nvSpPr>
          <p:cNvPr id="12" name="Text 10"/>
          <p:cNvSpPr/>
          <p:nvPr/>
        </p:nvSpPr>
        <p:spPr>
          <a:xfrm>
            <a:off x="4745736" y="2029968"/>
            <a:ext cx="3108960" cy="13258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Mean of per-class recall — the honest accuracy when positives are rare.</a:t>
            </a:r>
            <a:endParaRPr lang="en-US" sz="1450" dirty="0"/>
          </a:p>
        </p:txBody>
      </p:sp>
      <p:sp>
        <p:nvSpPr>
          <p:cNvPr id="13" name="Shape 11"/>
          <p:cNvSpPr/>
          <p:nvPr/>
        </p:nvSpPr>
        <p:spPr>
          <a:xfrm>
            <a:off x="8375904"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8375904" y="1463040"/>
            <a:ext cx="82296" cy="1993392"/>
          </a:xfrm>
          <a:prstGeom prst="rect">
            <a:avLst/>
          </a:prstGeom>
          <a:solidFill>
            <a:srgbClr val="1C8C8C"/>
          </a:solidFill>
          <a:ln/>
        </p:spPr>
        <p:txBody>
          <a:bodyPr/>
          <a:lstStyle/>
          <a:p>
            <a:endParaRPr lang="en-US"/>
          </a:p>
        </p:txBody>
      </p:sp>
      <p:sp>
        <p:nvSpPr>
          <p:cNvPr id="15" name="Text 13"/>
          <p:cNvSpPr/>
          <p:nvPr/>
        </p:nvSpPr>
        <p:spPr>
          <a:xfrm>
            <a:off x="8613648" y="1609344"/>
            <a:ext cx="3108960" cy="365760"/>
          </a:xfrm>
          <a:prstGeom prst="rect">
            <a:avLst/>
          </a:prstGeom>
          <a:noFill/>
          <a:ln/>
        </p:spPr>
        <p:txBody>
          <a:bodyPr wrap="square" lIns="0" tIns="0" rIns="0" bIns="0" rtlCol="0" anchor="ctr"/>
          <a:lstStyle/>
          <a:p>
            <a:pPr marL="0" indent="0">
              <a:buNone/>
            </a:pPr>
            <a:r>
              <a:rPr lang="en-US" sz="1700" b="1" dirty="0">
                <a:solidFill>
                  <a:srgbClr val="1C8C8C"/>
                </a:solidFill>
                <a:latin typeface="Calibri" pitchFamily="34" charset="0"/>
                <a:ea typeface="Calibri" pitchFamily="34" charset="-122"/>
                <a:cs typeface="Calibri" pitchFamily="34" charset="-120"/>
              </a:rPr>
              <a:t>AUPRC</a:t>
            </a:r>
            <a:endParaRPr lang="en-US" sz="1700" dirty="0"/>
          </a:p>
        </p:txBody>
      </p:sp>
      <p:sp>
        <p:nvSpPr>
          <p:cNvPr id="16" name="Text 14"/>
          <p:cNvSpPr/>
          <p:nvPr/>
        </p:nvSpPr>
        <p:spPr>
          <a:xfrm>
            <a:off x="8613648" y="2029968"/>
            <a:ext cx="3108960" cy="13258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Precision–recall area; more informative than AUROC under heavy imbalance.</a:t>
            </a:r>
            <a:endParaRPr lang="en-US" sz="1450" dirty="0"/>
          </a:p>
        </p:txBody>
      </p:sp>
      <p:sp>
        <p:nvSpPr>
          <p:cNvPr id="17" name="Shape 15"/>
          <p:cNvSpPr/>
          <p:nvPr/>
        </p:nvSpPr>
        <p:spPr>
          <a:xfrm>
            <a:off x="640080" y="3712464"/>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40080" y="3712464"/>
            <a:ext cx="82296" cy="1993392"/>
          </a:xfrm>
          <a:prstGeom prst="rect">
            <a:avLst/>
          </a:prstGeom>
          <a:solidFill>
            <a:srgbClr val="6B4E8F"/>
          </a:solidFill>
          <a:ln/>
        </p:spPr>
        <p:txBody>
          <a:bodyPr/>
          <a:lstStyle/>
          <a:p>
            <a:endParaRPr lang="en-US"/>
          </a:p>
        </p:txBody>
      </p:sp>
      <p:sp>
        <p:nvSpPr>
          <p:cNvPr id="19" name="Text 17"/>
          <p:cNvSpPr/>
          <p:nvPr/>
        </p:nvSpPr>
        <p:spPr>
          <a:xfrm>
            <a:off x="877824" y="3858768"/>
            <a:ext cx="3108960" cy="365760"/>
          </a:xfrm>
          <a:prstGeom prst="rect">
            <a:avLst/>
          </a:prstGeom>
          <a:noFill/>
          <a:ln/>
        </p:spPr>
        <p:txBody>
          <a:bodyPr wrap="square" lIns="0" tIns="0" rIns="0" bIns="0" rtlCol="0" anchor="ctr"/>
          <a:lstStyle/>
          <a:p>
            <a:pPr marL="0" indent="0">
              <a:buNone/>
            </a:pPr>
            <a:r>
              <a:rPr lang="en-US" sz="1700" b="1" dirty="0">
                <a:solidFill>
                  <a:srgbClr val="6B4E8F"/>
                </a:solidFill>
                <a:latin typeface="Calibri" pitchFamily="34" charset="0"/>
                <a:ea typeface="Calibri" pitchFamily="34" charset="-122"/>
                <a:cs typeface="Calibri" pitchFamily="34" charset="-120"/>
              </a:rPr>
              <a:t>F1 / sens / spec</a:t>
            </a:r>
            <a:endParaRPr lang="en-US" sz="1700" dirty="0"/>
          </a:p>
        </p:txBody>
      </p:sp>
      <p:sp>
        <p:nvSpPr>
          <p:cNvPr id="20" name="Text 18"/>
          <p:cNvSpPr/>
          <p:nvPr/>
        </p:nvSpPr>
        <p:spPr>
          <a:xfrm>
            <a:off x="877824" y="4279392"/>
            <a:ext cx="3108960" cy="13258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At a chosen operating point; report the threshold and how you picked it (on val).</a:t>
            </a:r>
            <a:endParaRPr lang="en-US" sz="1450" dirty="0"/>
          </a:p>
        </p:txBody>
      </p:sp>
      <p:sp>
        <p:nvSpPr>
          <p:cNvPr id="21" name="Shape 19"/>
          <p:cNvSpPr/>
          <p:nvPr/>
        </p:nvSpPr>
        <p:spPr>
          <a:xfrm>
            <a:off x="4507992" y="3712464"/>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4507992" y="3712464"/>
            <a:ext cx="82296" cy="1993392"/>
          </a:xfrm>
          <a:prstGeom prst="rect">
            <a:avLst/>
          </a:prstGeom>
          <a:solidFill>
            <a:srgbClr val="C77D14"/>
          </a:solidFill>
          <a:ln/>
        </p:spPr>
        <p:txBody>
          <a:bodyPr/>
          <a:lstStyle/>
          <a:p>
            <a:endParaRPr lang="en-US"/>
          </a:p>
        </p:txBody>
      </p:sp>
      <p:sp>
        <p:nvSpPr>
          <p:cNvPr id="23" name="Text 21"/>
          <p:cNvSpPr/>
          <p:nvPr/>
        </p:nvSpPr>
        <p:spPr>
          <a:xfrm>
            <a:off x="4745736" y="3858768"/>
            <a:ext cx="3108960" cy="365760"/>
          </a:xfrm>
          <a:prstGeom prst="rect">
            <a:avLst/>
          </a:prstGeom>
          <a:noFill/>
          <a:ln/>
        </p:spPr>
        <p:txBody>
          <a:bodyPr wrap="square" lIns="0" tIns="0" rIns="0" bIns="0" rtlCol="0" anchor="ctr"/>
          <a:lstStyle/>
          <a:p>
            <a:pPr marL="0" indent="0">
              <a:buNone/>
            </a:pPr>
            <a:r>
              <a:rPr lang="en-US" sz="1700" b="1" dirty="0">
                <a:solidFill>
                  <a:srgbClr val="C77D14"/>
                </a:solidFill>
                <a:latin typeface="Calibri" pitchFamily="34" charset="0"/>
                <a:ea typeface="Calibri" pitchFamily="34" charset="-122"/>
                <a:cs typeface="Calibri" pitchFamily="34" charset="-120"/>
              </a:rPr>
              <a:t>Mean ± std over folds</a:t>
            </a:r>
            <a:endParaRPr lang="en-US" sz="1700" dirty="0"/>
          </a:p>
        </p:txBody>
      </p:sp>
      <p:sp>
        <p:nvSpPr>
          <p:cNvPr id="24" name="Text 22"/>
          <p:cNvSpPr/>
          <p:nvPr/>
        </p:nvSpPr>
        <p:spPr>
          <a:xfrm>
            <a:off x="4745736" y="4279392"/>
            <a:ext cx="3108960" cy="13258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Always report variability across CV folds / seeds, not a single lucky number.</a:t>
            </a:r>
            <a:endParaRPr lang="en-US" sz="1450" dirty="0"/>
          </a:p>
        </p:txBody>
      </p:sp>
      <p:sp>
        <p:nvSpPr>
          <p:cNvPr id="25" name="Shape 23"/>
          <p:cNvSpPr/>
          <p:nvPr/>
        </p:nvSpPr>
        <p:spPr>
          <a:xfrm>
            <a:off x="8375904" y="3712464"/>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4"/>
          <p:cNvSpPr/>
          <p:nvPr/>
        </p:nvSpPr>
        <p:spPr>
          <a:xfrm>
            <a:off x="8375904" y="3712464"/>
            <a:ext cx="82296" cy="1993392"/>
          </a:xfrm>
          <a:prstGeom prst="rect">
            <a:avLst/>
          </a:prstGeom>
          <a:solidFill>
            <a:srgbClr val="D6336C"/>
          </a:solidFill>
          <a:ln/>
        </p:spPr>
        <p:txBody>
          <a:bodyPr/>
          <a:lstStyle/>
          <a:p>
            <a:endParaRPr lang="en-US"/>
          </a:p>
        </p:txBody>
      </p:sp>
      <p:sp>
        <p:nvSpPr>
          <p:cNvPr id="27" name="Text 25"/>
          <p:cNvSpPr/>
          <p:nvPr/>
        </p:nvSpPr>
        <p:spPr>
          <a:xfrm>
            <a:off x="8613648" y="3858768"/>
            <a:ext cx="3108960" cy="365760"/>
          </a:xfrm>
          <a:prstGeom prst="rect">
            <a:avLst/>
          </a:prstGeom>
          <a:noFill/>
          <a:ln/>
        </p:spPr>
        <p:txBody>
          <a:bodyPr wrap="square" lIns="0" tIns="0" rIns="0" bIns="0" rtlCol="0" anchor="ctr"/>
          <a:lstStyle/>
          <a:p>
            <a:pPr marL="0" indent="0">
              <a:buNone/>
            </a:pPr>
            <a:r>
              <a:rPr lang="en-US" sz="1700" b="1" dirty="0">
                <a:solidFill>
                  <a:srgbClr val="D6336C"/>
                </a:solidFill>
                <a:latin typeface="Calibri" pitchFamily="34" charset="0"/>
                <a:ea typeface="Calibri" pitchFamily="34" charset="-122"/>
                <a:cs typeface="Calibri" pitchFamily="34" charset="-120"/>
              </a:rPr>
              <a:t>External-cohort metric</a:t>
            </a:r>
            <a:endParaRPr lang="en-US" sz="1700" dirty="0"/>
          </a:p>
        </p:txBody>
      </p:sp>
      <p:sp>
        <p:nvSpPr>
          <p:cNvPr id="28" name="Text 26"/>
          <p:cNvSpPr/>
          <p:nvPr/>
        </p:nvSpPr>
        <p:spPr>
          <a:xfrm>
            <a:off x="8613648" y="4279392"/>
            <a:ext cx="3108960" cy="1325880"/>
          </a:xfrm>
          <a:prstGeom prst="rect">
            <a:avLst/>
          </a:prstGeom>
          <a:noFill/>
          <a:ln/>
        </p:spPr>
        <p:txBody>
          <a:bodyPr wrap="square" lIns="0" tIns="0" rIns="0" bIns="0" rtlCol="0" anchor="t"/>
          <a:lstStyle/>
          <a:p>
            <a:pPr marL="0" indent="0">
              <a:buNone/>
            </a:pPr>
            <a:r>
              <a:rPr lang="en-US" sz="1450" dirty="0">
                <a:solidFill>
                  <a:srgbClr val="2A2233"/>
                </a:solidFill>
                <a:latin typeface="Calibri" pitchFamily="34" charset="0"/>
                <a:ea typeface="Calibri" pitchFamily="34" charset="-122"/>
                <a:cs typeface="Calibri" pitchFamily="34" charset="-120"/>
              </a:rPr>
              <a:t>The number that predicts real-world behavior: a different hospital / scanner.</a:t>
            </a:r>
            <a:endParaRPr lang="en-US" sz="1450" dirty="0"/>
          </a:p>
        </p:txBody>
      </p:sp>
      <p:sp>
        <p:nvSpPr>
          <p:cNvPr id="29" name="Text 2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0" name="Text 28"/>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43</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EVALUATION · VISUALIZATION</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Seeing what the model learned</a:t>
            </a:r>
            <a:endParaRPr lang="en-US" sz="2900" dirty="0"/>
          </a:p>
        </p:txBody>
      </p:sp>
      <p:sp>
        <p:nvSpPr>
          <p:cNvPr id="5" name="Shape 3"/>
          <p:cNvSpPr/>
          <p:nvPr/>
        </p:nvSpPr>
        <p:spPr>
          <a:xfrm>
            <a:off x="640080" y="1508760"/>
            <a:ext cx="548640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508760"/>
            <a:ext cx="82296" cy="4617720"/>
          </a:xfrm>
          <a:prstGeom prst="rect">
            <a:avLst/>
          </a:prstGeom>
          <a:solidFill>
            <a:srgbClr val="D6336C"/>
          </a:solidFill>
          <a:ln/>
        </p:spPr>
        <p:txBody>
          <a:bodyPr/>
          <a:lstStyle/>
          <a:p>
            <a:endParaRPr lang="en-US"/>
          </a:p>
        </p:txBody>
      </p:sp>
      <p:sp>
        <p:nvSpPr>
          <p:cNvPr id="7" name="Text 5"/>
          <p:cNvSpPr/>
          <p:nvPr/>
        </p:nvSpPr>
        <p:spPr>
          <a:xfrm>
            <a:off x="896112" y="1664208"/>
            <a:ext cx="4572000" cy="365760"/>
          </a:xfrm>
          <a:prstGeom prst="rect">
            <a:avLst/>
          </a:prstGeom>
          <a:noFill/>
          <a:ln/>
        </p:spPr>
        <p:txBody>
          <a:bodyPr wrap="square" lIns="0" tIns="0" rIns="0" bIns="0" rtlCol="0" anchor="ctr"/>
          <a:lstStyle/>
          <a:p>
            <a:pPr marL="0" indent="0">
              <a:buNone/>
            </a:pPr>
            <a:r>
              <a:rPr lang="en-US" sz="1800" b="1" dirty="0">
                <a:solidFill>
                  <a:srgbClr val="D6336C"/>
                </a:solidFill>
                <a:latin typeface="Calibri" pitchFamily="34" charset="0"/>
                <a:ea typeface="Calibri" pitchFamily="34" charset="-122"/>
                <a:cs typeface="Calibri" pitchFamily="34" charset="-120"/>
              </a:rPr>
              <a:t>Attention overlays</a:t>
            </a:r>
            <a:endParaRPr lang="en-US" sz="1800" dirty="0"/>
          </a:p>
        </p:txBody>
      </p:sp>
      <p:sp>
        <p:nvSpPr>
          <p:cNvPr id="8" name="Text 6"/>
          <p:cNvSpPr/>
          <p:nvPr/>
        </p:nvSpPr>
        <p:spPr>
          <a:xfrm>
            <a:off x="896112" y="2103120"/>
            <a:ext cx="5029200" cy="173736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Qualitative check: do hotspots land on tumor (vs stroma/artifact)?</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A model with great AUC but nonsensical attention is a red flag — likely a shortcut.</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Pathologist review of overlays builds trust and catches bias.</a:t>
            </a:r>
            <a:endParaRPr lang="en-US" sz="1750" dirty="0"/>
          </a:p>
        </p:txBody>
      </p:sp>
      <p:sp>
        <p:nvSpPr>
          <p:cNvPr id="9" name="Text 7"/>
          <p:cNvSpPr/>
          <p:nvPr/>
        </p:nvSpPr>
        <p:spPr>
          <a:xfrm>
            <a:off x="896112" y="4023360"/>
            <a:ext cx="4572000" cy="365760"/>
          </a:xfrm>
          <a:prstGeom prst="rect">
            <a:avLst/>
          </a:prstGeom>
          <a:noFill/>
          <a:ln/>
        </p:spPr>
        <p:txBody>
          <a:bodyPr wrap="square" lIns="0" tIns="0" rIns="0" bIns="0" rtlCol="0" anchor="ctr"/>
          <a:lstStyle/>
          <a:p>
            <a:pPr marL="0" indent="0">
              <a:buNone/>
            </a:pPr>
            <a:r>
              <a:rPr lang="en-US" sz="1800" b="1" dirty="0">
                <a:solidFill>
                  <a:srgbClr val="1C8C8C"/>
                </a:solidFill>
                <a:latin typeface="Calibri" pitchFamily="34" charset="0"/>
                <a:ea typeface="Calibri" pitchFamily="34" charset="-122"/>
                <a:cs typeface="Calibri" pitchFamily="34" charset="-120"/>
              </a:rPr>
              <a:t>UMAP of patch embeddings</a:t>
            </a:r>
            <a:endParaRPr lang="en-US" sz="1800" dirty="0"/>
          </a:p>
        </p:txBody>
      </p:sp>
      <p:sp>
        <p:nvSpPr>
          <p:cNvPr id="10" name="Text 8"/>
          <p:cNvSpPr/>
          <p:nvPr/>
        </p:nvSpPr>
        <p:spPr>
          <a:xfrm>
            <a:off x="896112" y="4434840"/>
            <a:ext cx="5029200" cy="164592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Project hᵢ to 2-D, color by attention or predicted class.</a:t>
            </a:r>
            <a:endParaRPr lang="en-US" sz="1750" dirty="0"/>
          </a:p>
          <a:p>
            <a:pPr marL="203200" indent="-203200">
              <a:spcAft>
                <a:spcPts val="800"/>
              </a:spcAft>
              <a:buSzPct val="100000"/>
              <a:buChar char="•"/>
            </a:pPr>
            <a:r>
              <a:rPr lang="en-US" sz="1750" dirty="0">
                <a:solidFill>
                  <a:srgbClr val="2A2233"/>
                </a:solidFill>
                <a:latin typeface="Calibri" pitchFamily="34" charset="0"/>
                <a:ea typeface="Calibri" pitchFamily="34" charset="-122"/>
                <a:cs typeface="Calibri" pitchFamily="34" charset="-120"/>
              </a:rPr>
              <a:t>Reveals whether the encoder separates tissue types; sanity-checks the feature space.</a:t>
            </a:r>
            <a:endParaRPr lang="en-US" sz="1750" dirty="0"/>
          </a:p>
        </p:txBody>
      </p:sp>
      <p:sp>
        <p:nvSpPr>
          <p:cNvPr id="11" name="Shape 9"/>
          <p:cNvSpPr/>
          <p:nvPr/>
        </p:nvSpPr>
        <p:spPr>
          <a:xfrm>
            <a:off x="6355080" y="1508760"/>
            <a:ext cx="544068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2" name="Text 10"/>
          <p:cNvSpPr/>
          <p:nvPr/>
        </p:nvSpPr>
        <p:spPr>
          <a:xfrm>
            <a:off x="6583680" y="1627632"/>
            <a:ext cx="502920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UMAP — patch embedding space</a:t>
            </a:r>
            <a:endParaRPr lang="en-US" sz="1400" dirty="0"/>
          </a:p>
        </p:txBody>
      </p:sp>
      <p:sp>
        <p:nvSpPr>
          <p:cNvPr id="13" name="Shape 11"/>
          <p:cNvSpPr/>
          <p:nvPr/>
        </p:nvSpPr>
        <p:spPr>
          <a:xfrm>
            <a:off x="8618606" y="2887016"/>
            <a:ext cx="109728" cy="109728"/>
          </a:xfrm>
          <a:prstGeom prst="ellipse">
            <a:avLst/>
          </a:prstGeom>
          <a:solidFill>
            <a:srgbClr val="6B4E8F">
              <a:alpha val="75000"/>
            </a:srgbClr>
          </a:solidFill>
          <a:ln/>
        </p:spPr>
        <p:txBody>
          <a:bodyPr/>
          <a:lstStyle/>
          <a:p>
            <a:endParaRPr lang="en-US"/>
          </a:p>
        </p:txBody>
      </p:sp>
      <p:sp>
        <p:nvSpPr>
          <p:cNvPr id="14" name="Shape 12"/>
          <p:cNvSpPr/>
          <p:nvPr/>
        </p:nvSpPr>
        <p:spPr>
          <a:xfrm>
            <a:off x="8042850" y="3671445"/>
            <a:ext cx="109728" cy="109728"/>
          </a:xfrm>
          <a:prstGeom prst="ellipse">
            <a:avLst/>
          </a:prstGeom>
          <a:solidFill>
            <a:srgbClr val="6B4E8F">
              <a:alpha val="75000"/>
            </a:srgbClr>
          </a:solidFill>
          <a:ln/>
        </p:spPr>
        <p:txBody>
          <a:bodyPr/>
          <a:lstStyle/>
          <a:p>
            <a:endParaRPr lang="en-US"/>
          </a:p>
        </p:txBody>
      </p:sp>
      <p:sp>
        <p:nvSpPr>
          <p:cNvPr id="15" name="Shape 13"/>
          <p:cNvSpPr/>
          <p:nvPr/>
        </p:nvSpPr>
        <p:spPr>
          <a:xfrm>
            <a:off x="7490609" y="2946944"/>
            <a:ext cx="109728" cy="109728"/>
          </a:xfrm>
          <a:prstGeom prst="ellipse">
            <a:avLst/>
          </a:prstGeom>
          <a:solidFill>
            <a:srgbClr val="6B4E8F">
              <a:alpha val="75000"/>
            </a:srgbClr>
          </a:solidFill>
          <a:ln/>
        </p:spPr>
        <p:txBody>
          <a:bodyPr/>
          <a:lstStyle/>
          <a:p>
            <a:endParaRPr lang="en-US"/>
          </a:p>
        </p:txBody>
      </p:sp>
      <p:sp>
        <p:nvSpPr>
          <p:cNvPr id="16" name="Shape 14"/>
          <p:cNvSpPr/>
          <p:nvPr/>
        </p:nvSpPr>
        <p:spPr>
          <a:xfrm>
            <a:off x="7722010" y="2399162"/>
            <a:ext cx="109728" cy="109728"/>
          </a:xfrm>
          <a:prstGeom prst="ellipse">
            <a:avLst/>
          </a:prstGeom>
          <a:solidFill>
            <a:srgbClr val="6B4E8F">
              <a:alpha val="75000"/>
            </a:srgbClr>
          </a:solidFill>
          <a:ln/>
        </p:spPr>
        <p:txBody>
          <a:bodyPr/>
          <a:lstStyle/>
          <a:p>
            <a:endParaRPr lang="en-US"/>
          </a:p>
        </p:txBody>
      </p:sp>
      <p:sp>
        <p:nvSpPr>
          <p:cNvPr id="17" name="Shape 15"/>
          <p:cNvSpPr/>
          <p:nvPr/>
        </p:nvSpPr>
        <p:spPr>
          <a:xfrm>
            <a:off x="7809516" y="2992019"/>
            <a:ext cx="109728" cy="109728"/>
          </a:xfrm>
          <a:prstGeom prst="ellipse">
            <a:avLst/>
          </a:prstGeom>
          <a:solidFill>
            <a:srgbClr val="6B4E8F">
              <a:alpha val="75000"/>
            </a:srgbClr>
          </a:solidFill>
          <a:ln/>
        </p:spPr>
        <p:txBody>
          <a:bodyPr/>
          <a:lstStyle/>
          <a:p>
            <a:endParaRPr lang="en-US"/>
          </a:p>
        </p:txBody>
      </p:sp>
      <p:sp>
        <p:nvSpPr>
          <p:cNvPr id="18" name="Shape 16"/>
          <p:cNvSpPr/>
          <p:nvPr/>
        </p:nvSpPr>
        <p:spPr>
          <a:xfrm>
            <a:off x="7294247" y="3011735"/>
            <a:ext cx="109728" cy="109728"/>
          </a:xfrm>
          <a:prstGeom prst="ellipse">
            <a:avLst/>
          </a:prstGeom>
          <a:solidFill>
            <a:srgbClr val="6B4E8F">
              <a:alpha val="75000"/>
            </a:srgbClr>
          </a:solidFill>
          <a:ln/>
        </p:spPr>
        <p:txBody>
          <a:bodyPr/>
          <a:lstStyle/>
          <a:p>
            <a:endParaRPr lang="en-US"/>
          </a:p>
        </p:txBody>
      </p:sp>
      <p:sp>
        <p:nvSpPr>
          <p:cNvPr id="19" name="Shape 17"/>
          <p:cNvSpPr/>
          <p:nvPr/>
        </p:nvSpPr>
        <p:spPr>
          <a:xfrm>
            <a:off x="7784033" y="2567057"/>
            <a:ext cx="109728" cy="109728"/>
          </a:xfrm>
          <a:prstGeom prst="ellipse">
            <a:avLst/>
          </a:prstGeom>
          <a:solidFill>
            <a:srgbClr val="6B4E8F">
              <a:alpha val="75000"/>
            </a:srgbClr>
          </a:solidFill>
          <a:ln/>
        </p:spPr>
        <p:txBody>
          <a:bodyPr/>
          <a:lstStyle/>
          <a:p>
            <a:endParaRPr lang="en-US"/>
          </a:p>
        </p:txBody>
      </p:sp>
      <p:sp>
        <p:nvSpPr>
          <p:cNvPr id="20" name="Shape 18"/>
          <p:cNvSpPr/>
          <p:nvPr/>
        </p:nvSpPr>
        <p:spPr>
          <a:xfrm>
            <a:off x="7450970" y="3465347"/>
            <a:ext cx="109728" cy="109728"/>
          </a:xfrm>
          <a:prstGeom prst="ellipse">
            <a:avLst/>
          </a:prstGeom>
          <a:solidFill>
            <a:srgbClr val="6B4E8F">
              <a:alpha val="75000"/>
            </a:srgbClr>
          </a:solidFill>
          <a:ln/>
        </p:spPr>
        <p:txBody>
          <a:bodyPr/>
          <a:lstStyle/>
          <a:p>
            <a:endParaRPr lang="en-US"/>
          </a:p>
        </p:txBody>
      </p:sp>
      <p:sp>
        <p:nvSpPr>
          <p:cNvPr id="21" name="Shape 19"/>
          <p:cNvSpPr/>
          <p:nvPr/>
        </p:nvSpPr>
        <p:spPr>
          <a:xfrm>
            <a:off x="7814551" y="3141265"/>
            <a:ext cx="109728" cy="109728"/>
          </a:xfrm>
          <a:prstGeom prst="ellipse">
            <a:avLst/>
          </a:prstGeom>
          <a:solidFill>
            <a:srgbClr val="6B4E8F">
              <a:alpha val="75000"/>
            </a:srgbClr>
          </a:solidFill>
          <a:ln/>
        </p:spPr>
        <p:txBody>
          <a:bodyPr/>
          <a:lstStyle/>
          <a:p>
            <a:endParaRPr lang="en-US"/>
          </a:p>
        </p:txBody>
      </p:sp>
      <p:sp>
        <p:nvSpPr>
          <p:cNvPr id="22" name="Shape 20"/>
          <p:cNvSpPr/>
          <p:nvPr/>
        </p:nvSpPr>
        <p:spPr>
          <a:xfrm>
            <a:off x="7518994" y="3507128"/>
            <a:ext cx="109728" cy="109728"/>
          </a:xfrm>
          <a:prstGeom prst="ellipse">
            <a:avLst/>
          </a:prstGeom>
          <a:solidFill>
            <a:srgbClr val="6B4E8F">
              <a:alpha val="75000"/>
            </a:srgbClr>
          </a:solidFill>
          <a:ln/>
        </p:spPr>
        <p:txBody>
          <a:bodyPr/>
          <a:lstStyle/>
          <a:p>
            <a:endParaRPr lang="en-US"/>
          </a:p>
        </p:txBody>
      </p:sp>
      <p:sp>
        <p:nvSpPr>
          <p:cNvPr id="23" name="Shape 21"/>
          <p:cNvSpPr/>
          <p:nvPr/>
        </p:nvSpPr>
        <p:spPr>
          <a:xfrm>
            <a:off x="7475889" y="2539718"/>
            <a:ext cx="109728" cy="109728"/>
          </a:xfrm>
          <a:prstGeom prst="ellipse">
            <a:avLst/>
          </a:prstGeom>
          <a:solidFill>
            <a:srgbClr val="6B4E8F">
              <a:alpha val="75000"/>
            </a:srgbClr>
          </a:solidFill>
          <a:ln/>
        </p:spPr>
        <p:txBody>
          <a:bodyPr/>
          <a:lstStyle/>
          <a:p>
            <a:endParaRPr lang="en-US"/>
          </a:p>
        </p:txBody>
      </p:sp>
      <p:sp>
        <p:nvSpPr>
          <p:cNvPr id="24" name="Shape 22"/>
          <p:cNvSpPr/>
          <p:nvPr/>
        </p:nvSpPr>
        <p:spPr>
          <a:xfrm>
            <a:off x="8318030" y="2620464"/>
            <a:ext cx="109728" cy="109728"/>
          </a:xfrm>
          <a:prstGeom prst="ellipse">
            <a:avLst/>
          </a:prstGeom>
          <a:solidFill>
            <a:srgbClr val="6B4E8F">
              <a:alpha val="75000"/>
            </a:srgbClr>
          </a:solidFill>
          <a:ln/>
        </p:spPr>
        <p:txBody>
          <a:bodyPr/>
          <a:lstStyle/>
          <a:p>
            <a:endParaRPr lang="en-US"/>
          </a:p>
        </p:txBody>
      </p:sp>
      <p:sp>
        <p:nvSpPr>
          <p:cNvPr id="25" name="Shape 23"/>
          <p:cNvSpPr/>
          <p:nvPr/>
        </p:nvSpPr>
        <p:spPr>
          <a:xfrm>
            <a:off x="7664203" y="2799454"/>
            <a:ext cx="109728" cy="109728"/>
          </a:xfrm>
          <a:prstGeom prst="ellipse">
            <a:avLst/>
          </a:prstGeom>
          <a:solidFill>
            <a:srgbClr val="6B4E8F">
              <a:alpha val="75000"/>
            </a:srgbClr>
          </a:solidFill>
          <a:ln/>
        </p:spPr>
        <p:txBody>
          <a:bodyPr/>
          <a:lstStyle/>
          <a:p>
            <a:endParaRPr lang="en-US"/>
          </a:p>
        </p:txBody>
      </p:sp>
      <p:sp>
        <p:nvSpPr>
          <p:cNvPr id="26" name="Shape 24"/>
          <p:cNvSpPr/>
          <p:nvPr/>
        </p:nvSpPr>
        <p:spPr>
          <a:xfrm>
            <a:off x="7882234" y="3695692"/>
            <a:ext cx="109728" cy="109728"/>
          </a:xfrm>
          <a:prstGeom prst="ellipse">
            <a:avLst/>
          </a:prstGeom>
          <a:solidFill>
            <a:srgbClr val="6B4E8F">
              <a:alpha val="75000"/>
            </a:srgbClr>
          </a:solidFill>
          <a:ln/>
        </p:spPr>
        <p:txBody>
          <a:bodyPr/>
          <a:lstStyle/>
          <a:p>
            <a:endParaRPr lang="en-US"/>
          </a:p>
        </p:txBody>
      </p:sp>
      <p:sp>
        <p:nvSpPr>
          <p:cNvPr id="27" name="Shape 25"/>
          <p:cNvSpPr/>
          <p:nvPr/>
        </p:nvSpPr>
        <p:spPr>
          <a:xfrm>
            <a:off x="7413217" y="2862970"/>
            <a:ext cx="109728" cy="109728"/>
          </a:xfrm>
          <a:prstGeom prst="ellipse">
            <a:avLst/>
          </a:prstGeom>
          <a:solidFill>
            <a:srgbClr val="6B4E8F">
              <a:alpha val="75000"/>
            </a:srgbClr>
          </a:solidFill>
          <a:ln/>
        </p:spPr>
        <p:txBody>
          <a:bodyPr/>
          <a:lstStyle/>
          <a:p>
            <a:endParaRPr lang="en-US"/>
          </a:p>
        </p:txBody>
      </p:sp>
      <p:sp>
        <p:nvSpPr>
          <p:cNvPr id="28" name="Shape 26"/>
          <p:cNvSpPr/>
          <p:nvPr/>
        </p:nvSpPr>
        <p:spPr>
          <a:xfrm>
            <a:off x="8404515" y="3388456"/>
            <a:ext cx="109728" cy="109728"/>
          </a:xfrm>
          <a:prstGeom prst="ellipse">
            <a:avLst/>
          </a:prstGeom>
          <a:solidFill>
            <a:srgbClr val="6B4E8F">
              <a:alpha val="75000"/>
            </a:srgbClr>
          </a:solidFill>
          <a:ln/>
        </p:spPr>
        <p:txBody>
          <a:bodyPr/>
          <a:lstStyle/>
          <a:p>
            <a:endParaRPr lang="en-US"/>
          </a:p>
        </p:txBody>
      </p:sp>
      <p:sp>
        <p:nvSpPr>
          <p:cNvPr id="29" name="Shape 27"/>
          <p:cNvSpPr/>
          <p:nvPr/>
        </p:nvSpPr>
        <p:spPr>
          <a:xfrm>
            <a:off x="7966984" y="3198046"/>
            <a:ext cx="109728" cy="109728"/>
          </a:xfrm>
          <a:prstGeom prst="ellipse">
            <a:avLst/>
          </a:prstGeom>
          <a:solidFill>
            <a:srgbClr val="6B4E8F">
              <a:alpha val="75000"/>
            </a:srgbClr>
          </a:solidFill>
          <a:ln/>
        </p:spPr>
        <p:txBody>
          <a:bodyPr/>
          <a:lstStyle/>
          <a:p>
            <a:endParaRPr lang="en-US"/>
          </a:p>
        </p:txBody>
      </p:sp>
      <p:sp>
        <p:nvSpPr>
          <p:cNvPr id="30" name="Shape 28"/>
          <p:cNvSpPr/>
          <p:nvPr/>
        </p:nvSpPr>
        <p:spPr>
          <a:xfrm>
            <a:off x="7417362" y="3112272"/>
            <a:ext cx="109728" cy="109728"/>
          </a:xfrm>
          <a:prstGeom prst="ellipse">
            <a:avLst/>
          </a:prstGeom>
          <a:solidFill>
            <a:srgbClr val="6B4E8F">
              <a:alpha val="75000"/>
            </a:srgbClr>
          </a:solidFill>
          <a:ln/>
        </p:spPr>
        <p:txBody>
          <a:bodyPr/>
          <a:lstStyle/>
          <a:p>
            <a:endParaRPr lang="en-US"/>
          </a:p>
        </p:txBody>
      </p:sp>
      <p:sp>
        <p:nvSpPr>
          <p:cNvPr id="31" name="Shape 29"/>
          <p:cNvSpPr/>
          <p:nvPr/>
        </p:nvSpPr>
        <p:spPr>
          <a:xfrm>
            <a:off x="8352159" y="3550716"/>
            <a:ext cx="109728" cy="109728"/>
          </a:xfrm>
          <a:prstGeom prst="ellipse">
            <a:avLst/>
          </a:prstGeom>
          <a:solidFill>
            <a:srgbClr val="6B4E8F">
              <a:alpha val="75000"/>
            </a:srgbClr>
          </a:solidFill>
          <a:ln/>
        </p:spPr>
        <p:txBody>
          <a:bodyPr/>
          <a:lstStyle/>
          <a:p>
            <a:endParaRPr lang="en-US"/>
          </a:p>
        </p:txBody>
      </p:sp>
      <p:sp>
        <p:nvSpPr>
          <p:cNvPr id="32" name="Shape 30"/>
          <p:cNvSpPr/>
          <p:nvPr/>
        </p:nvSpPr>
        <p:spPr>
          <a:xfrm>
            <a:off x="7660600" y="3232729"/>
            <a:ext cx="109728" cy="109728"/>
          </a:xfrm>
          <a:prstGeom prst="ellipse">
            <a:avLst/>
          </a:prstGeom>
          <a:solidFill>
            <a:srgbClr val="6B4E8F">
              <a:alpha val="75000"/>
            </a:srgbClr>
          </a:solidFill>
          <a:ln/>
        </p:spPr>
        <p:txBody>
          <a:bodyPr/>
          <a:lstStyle/>
          <a:p>
            <a:endParaRPr lang="en-US"/>
          </a:p>
        </p:txBody>
      </p:sp>
      <p:sp>
        <p:nvSpPr>
          <p:cNvPr id="33" name="Shape 31"/>
          <p:cNvSpPr/>
          <p:nvPr/>
        </p:nvSpPr>
        <p:spPr>
          <a:xfrm>
            <a:off x="7535675" y="3820961"/>
            <a:ext cx="109728" cy="109728"/>
          </a:xfrm>
          <a:prstGeom prst="ellipse">
            <a:avLst/>
          </a:prstGeom>
          <a:solidFill>
            <a:srgbClr val="6B4E8F">
              <a:alpha val="75000"/>
            </a:srgbClr>
          </a:solidFill>
          <a:ln/>
        </p:spPr>
        <p:txBody>
          <a:bodyPr/>
          <a:lstStyle/>
          <a:p>
            <a:endParaRPr lang="en-US"/>
          </a:p>
        </p:txBody>
      </p:sp>
      <p:sp>
        <p:nvSpPr>
          <p:cNvPr id="34" name="Shape 32"/>
          <p:cNvSpPr/>
          <p:nvPr/>
        </p:nvSpPr>
        <p:spPr>
          <a:xfrm>
            <a:off x="7762427" y="2179045"/>
            <a:ext cx="109728" cy="109728"/>
          </a:xfrm>
          <a:prstGeom prst="ellipse">
            <a:avLst/>
          </a:prstGeom>
          <a:solidFill>
            <a:srgbClr val="6B4E8F">
              <a:alpha val="75000"/>
            </a:srgbClr>
          </a:solidFill>
          <a:ln/>
        </p:spPr>
        <p:txBody>
          <a:bodyPr/>
          <a:lstStyle/>
          <a:p>
            <a:endParaRPr lang="en-US"/>
          </a:p>
        </p:txBody>
      </p:sp>
      <p:sp>
        <p:nvSpPr>
          <p:cNvPr id="35" name="Shape 33"/>
          <p:cNvSpPr/>
          <p:nvPr/>
        </p:nvSpPr>
        <p:spPr>
          <a:xfrm>
            <a:off x="7778221" y="2929366"/>
            <a:ext cx="109728" cy="109728"/>
          </a:xfrm>
          <a:prstGeom prst="ellipse">
            <a:avLst/>
          </a:prstGeom>
          <a:solidFill>
            <a:srgbClr val="6B4E8F">
              <a:alpha val="75000"/>
            </a:srgbClr>
          </a:solidFill>
          <a:ln/>
        </p:spPr>
        <p:txBody>
          <a:bodyPr/>
          <a:lstStyle/>
          <a:p>
            <a:endParaRPr lang="en-US"/>
          </a:p>
        </p:txBody>
      </p:sp>
      <p:sp>
        <p:nvSpPr>
          <p:cNvPr id="36" name="Shape 34"/>
          <p:cNvSpPr/>
          <p:nvPr/>
        </p:nvSpPr>
        <p:spPr>
          <a:xfrm>
            <a:off x="8158277" y="2618068"/>
            <a:ext cx="109728" cy="109728"/>
          </a:xfrm>
          <a:prstGeom prst="ellipse">
            <a:avLst/>
          </a:prstGeom>
          <a:solidFill>
            <a:srgbClr val="6B4E8F">
              <a:alpha val="75000"/>
            </a:srgbClr>
          </a:solidFill>
          <a:ln/>
        </p:spPr>
        <p:txBody>
          <a:bodyPr/>
          <a:lstStyle/>
          <a:p>
            <a:endParaRPr lang="en-US"/>
          </a:p>
        </p:txBody>
      </p:sp>
      <p:sp>
        <p:nvSpPr>
          <p:cNvPr id="37" name="Shape 35"/>
          <p:cNvSpPr/>
          <p:nvPr/>
        </p:nvSpPr>
        <p:spPr>
          <a:xfrm>
            <a:off x="7620526" y="2252459"/>
            <a:ext cx="109728" cy="109728"/>
          </a:xfrm>
          <a:prstGeom prst="ellipse">
            <a:avLst/>
          </a:prstGeom>
          <a:solidFill>
            <a:srgbClr val="6B4E8F">
              <a:alpha val="75000"/>
            </a:srgbClr>
          </a:solidFill>
          <a:ln/>
        </p:spPr>
        <p:txBody>
          <a:bodyPr/>
          <a:lstStyle/>
          <a:p>
            <a:endParaRPr lang="en-US"/>
          </a:p>
        </p:txBody>
      </p:sp>
      <p:sp>
        <p:nvSpPr>
          <p:cNvPr id="38" name="Shape 36"/>
          <p:cNvSpPr/>
          <p:nvPr/>
        </p:nvSpPr>
        <p:spPr>
          <a:xfrm>
            <a:off x="7725418" y="3461919"/>
            <a:ext cx="109728" cy="109728"/>
          </a:xfrm>
          <a:prstGeom prst="ellipse">
            <a:avLst/>
          </a:prstGeom>
          <a:solidFill>
            <a:srgbClr val="6B4E8F">
              <a:alpha val="75000"/>
            </a:srgbClr>
          </a:solidFill>
          <a:ln/>
        </p:spPr>
        <p:txBody>
          <a:bodyPr/>
          <a:lstStyle/>
          <a:p>
            <a:endParaRPr lang="en-US"/>
          </a:p>
        </p:txBody>
      </p:sp>
      <p:sp>
        <p:nvSpPr>
          <p:cNvPr id="39" name="Shape 37"/>
          <p:cNvSpPr/>
          <p:nvPr/>
        </p:nvSpPr>
        <p:spPr>
          <a:xfrm>
            <a:off x="8310604" y="3546019"/>
            <a:ext cx="109728" cy="109728"/>
          </a:xfrm>
          <a:prstGeom prst="ellipse">
            <a:avLst/>
          </a:prstGeom>
          <a:solidFill>
            <a:srgbClr val="6B4E8F">
              <a:alpha val="75000"/>
            </a:srgbClr>
          </a:solidFill>
          <a:ln/>
        </p:spPr>
        <p:txBody>
          <a:bodyPr/>
          <a:lstStyle/>
          <a:p>
            <a:endParaRPr lang="en-US"/>
          </a:p>
        </p:txBody>
      </p:sp>
      <p:sp>
        <p:nvSpPr>
          <p:cNvPr id="40" name="Shape 38"/>
          <p:cNvSpPr/>
          <p:nvPr/>
        </p:nvSpPr>
        <p:spPr>
          <a:xfrm>
            <a:off x="7586038" y="2850046"/>
            <a:ext cx="109728" cy="109728"/>
          </a:xfrm>
          <a:prstGeom prst="ellipse">
            <a:avLst/>
          </a:prstGeom>
          <a:solidFill>
            <a:srgbClr val="6B4E8F">
              <a:alpha val="75000"/>
            </a:srgbClr>
          </a:solidFill>
          <a:ln/>
        </p:spPr>
        <p:txBody>
          <a:bodyPr/>
          <a:lstStyle/>
          <a:p>
            <a:endParaRPr lang="en-US"/>
          </a:p>
        </p:txBody>
      </p:sp>
      <p:sp>
        <p:nvSpPr>
          <p:cNvPr id="41" name="Shape 39"/>
          <p:cNvSpPr/>
          <p:nvPr/>
        </p:nvSpPr>
        <p:spPr>
          <a:xfrm>
            <a:off x="8524062" y="2467757"/>
            <a:ext cx="109728" cy="109728"/>
          </a:xfrm>
          <a:prstGeom prst="ellipse">
            <a:avLst/>
          </a:prstGeom>
          <a:solidFill>
            <a:srgbClr val="6B4E8F">
              <a:alpha val="75000"/>
            </a:srgbClr>
          </a:solidFill>
          <a:ln/>
        </p:spPr>
        <p:txBody>
          <a:bodyPr/>
          <a:lstStyle/>
          <a:p>
            <a:endParaRPr lang="en-US"/>
          </a:p>
        </p:txBody>
      </p:sp>
      <p:sp>
        <p:nvSpPr>
          <p:cNvPr id="42" name="Shape 40"/>
          <p:cNvSpPr/>
          <p:nvPr/>
        </p:nvSpPr>
        <p:spPr>
          <a:xfrm>
            <a:off x="7302372" y="3247246"/>
            <a:ext cx="109728" cy="109728"/>
          </a:xfrm>
          <a:prstGeom prst="ellipse">
            <a:avLst/>
          </a:prstGeom>
          <a:solidFill>
            <a:srgbClr val="6B4E8F">
              <a:alpha val="75000"/>
            </a:srgbClr>
          </a:solidFill>
          <a:ln/>
        </p:spPr>
        <p:txBody>
          <a:bodyPr/>
          <a:lstStyle/>
          <a:p>
            <a:endParaRPr lang="en-US"/>
          </a:p>
        </p:txBody>
      </p:sp>
      <p:sp>
        <p:nvSpPr>
          <p:cNvPr id="43" name="Shape 41"/>
          <p:cNvSpPr/>
          <p:nvPr/>
        </p:nvSpPr>
        <p:spPr>
          <a:xfrm>
            <a:off x="7537956" y="3727509"/>
            <a:ext cx="109728" cy="109728"/>
          </a:xfrm>
          <a:prstGeom prst="ellipse">
            <a:avLst/>
          </a:prstGeom>
          <a:solidFill>
            <a:srgbClr val="6B4E8F">
              <a:alpha val="75000"/>
            </a:srgbClr>
          </a:solidFill>
          <a:ln/>
        </p:spPr>
        <p:txBody>
          <a:bodyPr/>
          <a:lstStyle/>
          <a:p>
            <a:endParaRPr lang="en-US"/>
          </a:p>
        </p:txBody>
      </p:sp>
      <p:sp>
        <p:nvSpPr>
          <p:cNvPr id="44" name="Shape 42"/>
          <p:cNvSpPr/>
          <p:nvPr/>
        </p:nvSpPr>
        <p:spPr>
          <a:xfrm>
            <a:off x="7168400" y="3173226"/>
            <a:ext cx="109728" cy="109728"/>
          </a:xfrm>
          <a:prstGeom prst="ellipse">
            <a:avLst/>
          </a:prstGeom>
          <a:solidFill>
            <a:srgbClr val="6B4E8F">
              <a:alpha val="75000"/>
            </a:srgbClr>
          </a:solidFill>
          <a:ln/>
        </p:spPr>
        <p:txBody>
          <a:bodyPr/>
          <a:lstStyle/>
          <a:p>
            <a:endParaRPr lang="en-US"/>
          </a:p>
        </p:txBody>
      </p:sp>
      <p:sp>
        <p:nvSpPr>
          <p:cNvPr id="45" name="Shape 43"/>
          <p:cNvSpPr/>
          <p:nvPr/>
        </p:nvSpPr>
        <p:spPr>
          <a:xfrm>
            <a:off x="7557704" y="2721484"/>
            <a:ext cx="109728" cy="109728"/>
          </a:xfrm>
          <a:prstGeom prst="ellipse">
            <a:avLst/>
          </a:prstGeom>
          <a:solidFill>
            <a:srgbClr val="6B4E8F">
              <a:alpha val="75000"/>
            </a:srgbClr>
          </a:solidFill>
          <a:ln/>
        </p:spPr>
        <p:txBody>
          <a:bodyPr/>
          <a:lstStyle/>
          <a:p>
            <a:endParaRPr lang="en-US"/>
          </a:p>
        </p:txBody>
      </p:sp>
      <p:sp>
        <p:nvSpPr>
          <p:cNvPr id="46" name="Shape 44"/>
          <p:cNvSpPr/>
          <p:nvPr/>
        </p:nvSpPr>
        <p:spPr>
          <a:xfrm>
            <a:off x="7354682" y="2373531"/>
            <a:ext cx="109728" cy="109728"/>
          </a:xfrm>
          <a:prstGeom prst="ellipse">
            <a:avLst/>
          </a:prstGeom>
          <a:solidFill>
            <a:srgbClr val="6B4E8F">
              <a:alpha val="75000"/>
            </a:srgbClr>
          </a:solidFill>
          <a:ln/>
        </p:spPr>
        <p:txBody>
          <a:bodyPr/>
          <a:lstStyle/>
          <a:p>
            <a:endParaRPr lang="en-US"/>
          </a:p>
        </p:txBody>
      </p:sp>
      <p:sp>
        <p:nvSpPr>
          <p:cNvPr id="47" name="Shape 45"/>
          <p:cNvSpPr/>
          <p:nvPr/>
        </p:nvSpPr>
        <p:spPr>
          <a:xfrm>
            <a:off x="7860313" y="2600316"/>
            <a:ext cx="109728" cy="109728"/>
          </a:xfrm>
          <a:prstGeom prst="ellipse">
            <a:avLst/>
          </a:prstGeom>
          <a:solidFill>
            <a:srgbClr val="6B4E8F">
              <a:alpha val="75000"/>
            </a:srgbClr>
          </a:solidFill>
          <a:ln/>
        </p:spPr>
        <p:txBody>
          <a:bodyPr/>
          <a:lstStyle/>
          <a:p>
            <a:endParaRPr lang="en-US"/>
          </a:p>
        </p:txBody>
      </p:sp>
      <p:sp>
        <p:nvSpPr>
          <p:cNvPr id="48" name="Shape 46"/>
          <p:cNvSpPr/>
          <p:nvPr/>
        </p:nvSpPr>
        <p:spPr>
          <a:xfrm>
            <a:off x="7596607" y="2748604"/>
            <a:ext cx="109728" cy="109728"/>
          </a:xfrm>
          <a:prstGeom prst="ellipse">
            <a:avLst/>
          </a:prstGeom>
          <a:solidFill>
            <a:srgbClr val="6B4E8F">
              <a:alpha val="75000"/>
            </a:srgbClr>
          </a:solidFill>
          <a:ln/>
        </p:spPr>
        <p:txBody>
          <a:bodyPr/>
          <a:lstStyle/>
          <a:p>
            <a:endParaRPr lang="en-US"/>
          </a:p>
        </p:txBody>
      </p:sp>
      <p:sp>
        <p:nvSpPr>
          <p:cNvPr id="49" name="Shape 47"/>
          <p:cNvSpPr/>
          <p:nvPr/>
        </p:nvSpPr>
        <p:spPr>
          <a:xfrm>
            <a:off x="8140035" y="2870313"/>
            <a:ext cx="109728" cy="109728"/>
          </a:xfrm>
          <a:prstGeom prst="ellipse">
            <a:avLst/>
          </a:prstGeom>
          <a:solidFill>
            <a:srgbClr val="6B4E8F">
              <a:alpha val="75000"/>
            </a:srgbClr>
          </a:solidFill>
          <a:ln/>
        </p:spPr>
        <p:txBody>
          <a:bodyPr/>
          <a:lstStyle/>
          <a:p>
            <a:endParaRPr lang="en-US"/>
          </a:p>
        </p:txBody>
      </p:sp>
      <p:sp>
        <p:nvSpPr>
          <p:cNvPr id="50" name="Shape 48"/>
          <p:cNvSpPr/>
          <p:nvPr/>
        </p:nvSpPr>
        <p:spPr>
          <a:xfrm>
            <a:off x="7737106" y="3485293"/>
            <a:ext cx="109728" cy="109728"/>
          </a:xfrm>
          <a:prstGeom prst="ellipse">
            <a:avLst/>
          </a:prstGeom>
          <a:solidFill>
            <a:srgbClr val="6B4E8F">
              <a:alpha val="75000"/>
            </a:srgbClr>
          </a:solidFill>
          <a:ln/>
        </p:spPr>
        <p:txBody>
          <a:bodyPr/>
          <a:lstStyle/>
          <a:p>
            <a:endParaRPr lang="en-US"/>
          </a:p>
        </p:txBody>
      </p:sp>
      <p:sp>
        <p:nvSpPr>
          <p:cNvPr id="51" name="Shape 49"/>
          <p:cNvSpPr/>
          <p:nvPr/>
        </p:nvSpPr>
        <p:spPr>
          <a:xfrm>
            <a:off x="9964841" y="3184396"/>
            <a:ext cx="109728" cy="109728"/>
          </a:xfrm>
          <a:prstGeom prst="ellipse">
            <a:avLst/>
          </a:prstGeom>
          <a:solidFill>
            <a:srgbClr val="D6336C">
              <a:alpha val="75000"/>
            </a:srgbClr>
          </a:solidFill>
          <a:ln/>
        </p:spPr>
        <p:txBody>
          <a:bodyPr/>
          <a:lstStyle/>
          <a:p>
            <a:endParaRPr lang="en-US"/>
          </a:p>
        </p:txBody>
      </p:sp>
      <p:sp>
        <p:nvSpPr>
          <p:cNvPr id="52" name="Shape 50"/>
          <p:cNvSpPr/>
          <p:nvPr/>
        </p:nvSpPr>
        <p:spPr>
          <a:xfrm>
            <a:off x="10650951" y="3627474"/>
            <a:ext cx="109728" cy="109728"/>
          </a:xfrm>
          <a:prstGeom prst="ellipse">
            <a:avLst/>
          </a:prstGeom>
          <a:solidFill>
            <a:srgbClr val="D6336C">
              <a:alpha val="75000"/>
            </a:srgbClr>
          </a:solidFill>
          <a:ln/>
        </p:spPr>
        <p:txBody>
          <a:bodyPr/>
          <a:lstStyle/>
          <a:p>
            <a:endParaRPr lang="en-US"/>
          </a:p>
        </p:txBody>
      </p:sp>
      <p:sp>
        <p:nvSpPr>
          <p:cNvPr id="53" name="Shape 51"/>
          <p:cNvSpPr/>
          <p:nvPr/>
        </p:nvSpPr>
        <p:spPr>
          <a:xfrm>
            <a:off x="9703664" y="2927359"/>
            <a:ext cx="109728" cy="109728"/>
          </a:xfrm>
          <a:prstGeom prst="ellipse">
            <a:avLst/>
          </a:prstGeom>
          <a:solidFill>
            <a:srgbClr val="D6336C">
              <a:alpha val="75000"/>
            </a:srgbClr>
          </a:solidFill>
          <a:ln/>
        </p:spPr>
        <p:txBody>
          <a:bodyPr/>
          <a:lstStyle/>
          <a:p>
            <a:endParaRPr lang="en-US"/>
          </a:p>
        </p:txBody>
      </p:sp>
      <p:sp>
        <p:nvSpPr>
          <p:cNvPr id="54" name="Shape 52"/>
          <p:cNvSpPr/>
          <p:nvPr/>
        </p:nvSpPr>
        <p:spPr>
          <a:xfrm>
            <a:off x="9861309" y="3484133"/>
            <a:ext cx="109728" cy="109728"/>
          </a:xfrm>
          <a:prstGeom prst="ellipse">
            <a:avLst/>
          </a:prstGeom>
          <a:solidFill>
            <a:srgbClr val="D6336C">
              <a:alpha val="75000"/>
            </a:srgbClr>
          </a:solidFill>
          <a:ln/>
        </p:spPr>
        <p:txBody>
          <a:bodyPr/>
          <a:lstStyle/>
          <a:p>
            <a:endParaRPr lang="en-US"/>
          </a:p>
        </p:txBody>
      </p:sp>
      <p:sp>
        <p:nvSpPr>
          <p:cNvPr id="55" name="Shape 53"/>
          <p:cNvSpPr/>
          <p:nvPr/>
        </p:nvSpPr>
        <p:spPr>
          <a:xfrm>
            <a:off x="10129589" y="3756239"/>
            <a:ext cx="109728" cy="109728"/>
          </a:xfrm>
          <a:prstGeom prst="ellipse">
            <a:avLst/>
          </a:prstGeom>
          <a:solidFill>
            <a:srgbClr val="D6336C">
              <a:alpha val="75000"/>
            </a:srgbClr>
          </a:solidFill>
          <a:ln/>
        </p:spPr>
        <p:txBody>
          <a:bodyPr/>
          <a:lstStyle/>
          <a:p>
            <a:endParaRPr lang="en-US"/>
          </a:p>
        </p:txBody>
      </p:sp>
      <p:sp>
        <p:nvSpPr>
          <p:cNvPr id="56" name="Shape 54"/>
          <p:cNvSpPr/>
          <p:nvPr/>
        </p:nvSpPr>
        <p:spPr>
          <a:xfrm>
            <a:off x="9948241" y="3280121"/>
            <a:ext cx="109728" cy="109728"/>
          </a:xfrm>
          <a:prstGeom prst="ellipse">
            <a:avLst/>
          </a:prstGeom>
          <a:solidFill>
            <a:srgbClr val="D6336C">
              <a:alpha val="75000"/>
            </a:srgbClr>
          </a:solidFill>
          <a:ln/>
        </p:spPr>
        <p:txBody>
          <a:bodyPr/>
          <a:lstStyle/>
          <a:p>
            <a:endParaRPr lang="en-US"/>
          </a:p>
        </p:txBody>
      </p:sp>
      <p:sp>
        <p:nvSpPr>
          <p:cNvPr id="57" name="Shape 55"/>
          <p:cNvSpPr/>
          <p:nvPr/>
        </p:nvSpPr>
        <p:spPr>
          <a:xfrm>
            <a:off x="10259017" y="3626411"/>
            <a:ext cx="109728" cy="109728"/>
          </a:xfrm>
          <a:prstGeom prst="ellipse">
            <a:avLst/>
          </a:prstGeom>
          <a:solidFill>
            <a:srgbClr val="D6336C">
              <a:alpha val="75000"/>
            </a:srgbClr>
          </a:solidFill>
          <a:ln/>
        </p:spPr>
        <p:txBody>
          <a:bodyPr/>
          <a:lstStyle/>
          <a:p>
            <a:endParaRPr lang="en-US"/>
          </a:p>
        </p:txBody>
      </p:sp>
      <p:sp>
        <p:nvSpPr>
          <p:cNvPr id="58" name="Shape 56"/>
          <p:cNvSpPr/>
          <p:nvPr/>
        </p:nvSpPr>
        <p:spPr>
          <a:xfrm>
            <a:off x="9759219" y="3176242"/>
            <a:ext cx="109728" cy="109728"/>
          </a:xfrm>
          <a:prstGeom prst="ellipse">
            <a:avLst/>
          </a:prstGeom>
          <a:solidFill>
            <a:srgbClr val="D6336C">
              <a:alpha val="75000"/>
            </a:srgbClr>
          </a:solidFill>
          <a:ln/>
        </p:spPr>
        <p:txBody>
          <a:bodyPr/>
          <a:lstStyle/>
          <a:p>
            <a:endParaRPr lang="en-US"/>
          </a:p>
        </p:txBody>
      </p:sp>
      <p:sp>
        <p:nvSpPr>
          <p:cNvPr id="59" name="Shape 57"/>
          <p:cNvSpPr/>
          <p:nvPr/>
        </p:nvSpPr>
        <p:spPr>
          <a:xfrm>
            <a:off x="9577689" y="3616757"/>
            <a:ext cx="109728" cy="109728"/>
          </a:xfrm>
          <a:prstGeom prst="ellipse">
            <a:avLst/>
          </a:prstGeom>
          <a:solidFill>
            <a:srgbClr val="D6336C">
              <a:alpha val="75000"/>
            </a:srgbClr>
          </a:solidFill>
          <a:ln/>
        </p:spPr>
        <p:txBody>
          <a:bodyPr/>
          <a:lstStyle/>
          <a:p>
            <a:endParaRPr lang="en-US"/>
          </a:p>
        </p:txBody>
      </p:sp>
      <p:sp>
        <p:nvSpPr>
          <p:cNvPr id="60" name="Shape 58"/>
          <p:cNvSpPr/>
          <p:nvPr/>
        </p:nvSpPr>
        <p:spPr>
          <a:xfrm>
            <a:off x="10260435" y="3413522"/>
            <a:ext cx="109728" cy="109728"/>
          </a:xfrm>
          <a:prstGeom prst="ellipse">
            <a:avLst/>
          </a:prstGeom>
          <a:solidFill>
            <a:srgbClr val="D6336C">
              <a:alpha val="75000"/>
            </a:srgbClr>
          </a:solidFill>
          <a:ln/>
        </p:spPr>
        <p:txBody>
          <a:bodyPr/>
          <a:lstStyle/>
          <a:p>
            <a:endParaRPr lang="en-US"/>
          </a:p>
        </p:txBody>
      </p:sp>
      <p:sp>
        <p:nvSpPr>
          <p:cNvPr id="61" name="Shape 59"/>
          <p:cNvSpPr/>
          <p:nvPr/>
        </p:nvSpPr>
        <p:spPr>
          <a:xfrm>
            <a:off x="10328935" y="3902234"/>
            <a:ext cx="109728" cy="109728"/>
          </a:xfrm>
          <a:prstGeom prst="ellipse">
            <a:avLst/>
          </a:prstGeom>
          <a:solidFill>
            <a:srgbClr val="D6336C">
              <a:alpha val="75000"/>
            </a:srgbClr>
          </a:solidFill>
          <a:ln/>
        </p:spPr>
        <p:txBody>
          <a:bodyPr/>
          <a:lstStyle/>
          <a:p>
            <a:endParaRPr lang="en-US"/>
          </a:p>
        </p:txBody>
      </p:sp>
      <p:sp>
        <p:nvSpPr>
          <p:cNvPr id="62" name="Shape 60"/>
          <p:cNvSpPr/>
          <p:nvPr/>
        </p:nvSpPr>
        <p:spPr>
          <a:xfrm>
            <a:off x="10156628" y="2881324"/>
            <a:ext cx="109728" cy="109728"/>
          </a:xfrm>
          <a:prstGeom prst="ellipse">
            <a:avLst/>
          </a:prstGeom>
          <a:solidFill>
            <a:srgbClr val="D6336C">
              <a:alpha val="75000"/>
            </a:srgbClr>
          </a:solidFill>
          <a:ln/>
        </p:spPr>
        <p:txBody>
          <a:bodyPr/>
          <a:lstStyle/>
          <a:p>
            <a:endParaRPr lang="en-US"/>
          </a:p>
        </p:txBody>
      </p:sp>
      <p:sp>
        <p:nvSpPr>
          <p:cNvPr id="63" name="Shape 61"/>
          <p:cNvSpPr/>
          <p:nvPr/>
        </p:nvSpPr>
        <p:spPr>
          <a:xfrm>
            <a:off x="10401667" y="2996428"/>
            <a:ext cx="109728" cy="109728"/>
          </a:xfrm>
          <a:prstGeom prst="ellipse">
            <a:avLst/>
          </a:prstGeom>
          <a:solidFill>
            <a:srgbClr val="D6336C">
              <a:alpha val="75000"/>
            </a:srgbClr>
          </a:solidFill>
          <a:ln/>
        </p:spPr>
        <p:txBody>
          <a:bodyPr/>
          <a:lstStyle/>
          <a:p>
            <a:endParaRPr lang="en-US"/>
          </a:p>
        </p:txBody>
      </p:sp>
      <p:sp>
        <p:nvSpPr>
          <p:cNvPr id="64" name="Shape 62"/>
          <p:cNvSpPr/>
          <p:nvPr/>
        </p:nvSpPr>
        <p:spPr>
          <a:xfrm>
            <a:off x="10519639" y="3753092"/>
            <a:ext cx="109728" cy="109728"/>
          </a:xfrm>
          <a:prstGeom prst="ellipse">
            <a:avLst/>
          </a:prstGeom>
          <a:solidFill>
            <a:srgbClr val="D6336C">
              <a:alpha val="75000"/>
            </a:srgbClr>
          </a:solidFill>
          <a:ln/>
        </p:spPr>
        <p:txBody>
          <a:bodyPr/>
          <a:lstStyle/>
          <a:p>
            <a:endParaRPr lang="en-US"/>
          </a:p>
        </p:txBody>
      </p:sp>
      <p:sp>
        <p:nvSpPr>
          <p:cNvPr id="65" name="Shape 63"/>
          <p:cNvSpPr/>
          <p:nvPr/>
        </p:nvSpPr>
        <p:spPr>
          <a:xfrm>
            <a:off x="10199100" y="2693284"/>
            <a:ext cx="109728" cy="109728"/>
          </a:xfrm>
          <a:prstGeom prst="ellipse">
            <a:avLst/>
          </a:prstGeom>
          <a:solidFill>
            <a:srgbClr val="D6336C">
              <a:alpha val="75000"/>
            </a:srgbClr>
          </a:solidFill>
          <a:ln/>
        </p:spPr>
        <p:txBody>
          <a:bodyPr/>
          <a:lstStyle/>
          <a:p>
            <a:endParaRPr lang="en-US"/>
          </a:p>
        </p:txBody>
      </p:sp>
      <p:sp>
        <p:nvSpPr>
          <p:cNvPr id="66" name="Shape 64"/>
          <p:cNvSpPr/>
          <p:nvPr/>
        </p:nvSpPr>
        <p:spPr>
          <a:xfrm>
            <a:off x="9685726" y="3501571"/>
            <a:ext cx="109728" cy="109728"/>
          </a:xfrm>
          <a:prstGeom prst="ellipse">
            <a:avLst/>
          </a:prstGeom>
          <a:solidFill>
            <a:srgbClr val="D6336C">
              <a:alpha val="75000"/>
            </a:srgbClr>
          </a:solidFill>
          <a:ln/>
        </p:spPr>
        <p:txBody>
          <a:bodyPr/>
          <a:lstStyle/>
          <a:p>
            <a:endParaRPr lang="en-US"/>
          </a:p>
        </p:txBody>
      </p:sp>
      <p:sp>
        <p:nvSpPr>
          <p:cNvPr id="67" name="Shape 65"/>
          <p:cNvSpPr/>
          <p:nvPr/>
        </p:nvSpPr>
        <p:spPr>
          <a:xfrm>
            <a:off x="9713048" y="3297478"/>
            <a:ext cx="109728" cy="109728"/>
          </a:xfrm>
          <a:prstGeom prst="ellipse">
            <a:avLst/>
          </a:prstGeom>
          <a:solidFill>
            <a:srgbClr val="D6336C">
              <a:alpha val="75000"/>
            </a:srgbClr>
          </a:solidFill>
          <a:ln/>
        </p:spPr>
        <p:txBody>
          <a:bodyPr/>
          <a:lstStyle/>
          <a:p>
            <a:endParaRPr lang="en-US"/>
          </a:p>
        </p:txBody>
      </p:sp>
      <p:sp>
        <p:nvSpPr>
          <p:cNvPr id="68" name="Shape 66"/>
          <p:cNvSpPr/>
          <p:nvPr/>
        </p:nvSpPr>
        <p:spPr>
          <a:xfrm>
            <a:off x="10119779" y="3336607"/>
            <a:ext cx="109728" cy="109728"/>
          </a:xfrm>
          <a:prstGeom prst="ellipse">
            <a:avLst/>
          </a:prstGeom>
          <a:solidFill>
            <a:srgbClr val="D6336C">
              <a:alpha val="75000"/>
            </a:srgbClr>
          </a:solidFill>
          <a:ln/>
        </p:spPr>
        <p:txBody>
          <a:bodyPr/>
          <a:lstStyle/>
          <a:p>
            <a:endParaRPr lang="en-US"/>
          </a:p>
        </p:txBody>
      </p:sp>
      <p:sp>
        <p:nvSpPr>
          <p:cNvPr id="69" name="Shape 67"/>
          <p:cNvSpPr/>
          <p:nvPr/>
        </p:nvSpPr>
        <p:spPr>
          <a:xfrm>
            <a:off x="9206033" y="3170181"/>
            <a:ext cx="109728" cy="109728"/>
          </a:xfrm>
          <a:prstGeom prst="ellipse">
            <a:avLst/>
          </a:prstGeom>
          <a:solidFill>
            <a:srgbClr val="D6336C">
              <a:alpha val="75000"/>
            </a:srgbClr>
          </a:solidFill>
          <a:ln/>
        </p:spPr>
        <p:txBody>
          <a:bodyPr/>
          <a:lstStyle/>
          <a:p>
            <a:endParaRPr lang="en-US"/>
          </a:p>
        </p:txBody>
      </p:sp>
      <p:sp>
        <p:nvSpPr>
          <p:cNvPr id="70" name="Shape 68"/>
          <p:cNvSpPr/>
          <p:nvPr/>
        </p:nvSpPr>
        <p:spPr>
          <a:xfrm>
            <a:off x="9542170" y="3242487"/>
            <a:ext cx="109728" cy="109728"/>
          </a:xfrm>
          <a:prstGeom prst="ellipse">
            <a:avLst/>
          </a:prstGeom>
          <a:solidFill>
            <a:srgbClr val="D6336C">
              <a:alpha val="75000"/>
            </a:srgbClr>
          </a:solidFill>
          <a:ln/>
        </p:spPr>
        <p:txBody>
          <a:bodyPr/>
          <a:lstStyle/>
          <a:p>
            <a:endParaRPr lang="en-US"/>
          </a:p>
        </p:txBody>
      </p:sp>
      <p:sp>
        <p:nvSpPr>
          <p:cNvPr id="71" name="Shape 69"/>
          <p:cNvSpPr/>
          <p:nvPr/>
        </p:nvSpPr>
        <p:spPr>
          <a:xfrm>
            <a:off x="9970557" y="3224655"/>
            <a:ext cx="109728" cy="109728"/>
          </a:xfrm>
          <a:prstGeom prst="ellipse">
            <a:avLst/>
          </a:prstGeom>
          <a:solidFill>
            <a:srgbClr val="D6336C">
              <a:alpha val="75000"/>
            </a:srgbClr>
          </a:solidFill>
          <a:ln/>
        </p:spPr>
        <p:txBody>
          <a:bodyPr/>
          <a:lstStyle/>
          <a:p>
            <a:endParaRPr lang="en-US"/>
          </a:p>
        </p:txBody>
      </p:sp>
      <p:sp>
        <p:nvSpPr>
          <p:cNvPr id="72" name="Shape 70"/>
          <p:cNvSpPr/>
          <p:nvPr/>
        </p:nvSpPr>
        <p:spPr>
          <a:xfrm>
            <a:off x="9927561" y="3260048"/>
            <a:ext cx="109728" cy="109728"/>
          </a:xfrm>
          <a:prstGeom prst="ellipse">
            <a:avLst/>
          </a:prstGeom>
          <a:solidFill>
            <a:srgbClr val="D6336C">
              <a:alpha val="75000"/>
            </a:srgbClr>
          </a:solidFill>
          <a:ln/>
        </p:spPr>
        <p:txBody>
          <a:bodyPr/>
          <a:lstStyle/>
          <a:p>
            <a:endParaRPr lang="en-US"/>
          </a:p>
        </p:txBody>
      </p:sp>
      <p:sp>
        <p:nvSpPr>
          <p:cNvPr id="73" name="Shape 71"/>
          <p:cNvSpPr/>
          <p:nvPr/>
        </p:nvSpPr>
        <p:spPr>
          <a:xfrm>
            <a:off x="10067578" y="3157797"/>
            <a:ext cx="109728" cy="109728"/>
          </a:xfrm>
          <a:prstGeom prst="ellipse">
            <a:avLst/>
          </a:prstGeom>
          <a:solidFill>
            <a:srgbClr val="D6336C">
              <a:alpha val="75000"/>
            </a:srgbClr>
          </a:solidFill>
          <a:ln/>
        </p:spPr>
        <p:txBody>
          <a:bodyPr/>
          <a:lstStyle/>
          <a:p>
            <a:endParaRPr lang="en-US"/>
          </a:p>
        </p:txBody>
      </p:sp>
      <p:sp>
        <p:nvSpPr>
          <p:cNvPr id="74" name="Shape 72"/>
          <p:cNvSpPr/>
          <p:nvPr/>
        </p:nvSpPr>
        <p:spPr>
          <a:xfrm>
            <a:off x="10163336" y="2629422"/>
            <a:ext cx="109728" cy="109728"/>
          </a:xfrm>
          <a:prstGeom prst="ellipse">
            <a:avLst/>
          </a:prstGeom>
          <a:solidFill>
            <a:srgbClr val="D6336C">
              <a:alpha val="75000"/>
            </a:srgbClr>
          </a:solidFill>
          <a:ln/>
        </p:spPr>
        <p:txBody>
          <a:bodyPr/>
          <a:lstStyle/>
          <a:p>
            <a:endParaRPr lang="en-US"/>
          </a:p>
        </p:txBody>
      </p:sp>
      <p:sp>
        <p:nvSpPr>
          <p:cNvPr id="75" name="Shape 73"/>
          <p:cNvSpPr/>
          <p:nvPr/>
        </p:nvSpPr>
        <p:spPr>
          <a:xfrm>
            <a:off x="9417832" y="3485913"/>
            <a:ext cx="109728" cy="109728"/>
          </a:xfrm>
          <a:prstGeom prst="ellipse">
            <a:avLst/>
          </a:prstGeom>
          <a:solidFill>
            <a:srgbClr val="D6336C">
              <a:alpha val="75000"/>
            </a:srgbClr>
          </a:solidFill>
          <a:ln/>
        </p:spPr>
        <p:txBody>
          <a:bodyPr/>
          <a:lstStyle/>
          <a:p>
            <a:endParaRPr lang="en-US"/>
          </a:p>
        </p:txBody>
      </p:sp>
      <p:sp>
        <p:nvSpPr>
          <p:cNvPr id="76" name="Shape 74"/>
          <p:cNvSpPr/>
          <p:nvPr/>
        </p:nvSpPr>
        <p:spPr>
          <a:xfrm>
            <a:off x="9817560" y="3393228"/>
            <a:ext cx="109728" cy="109728"/>
          </a:xfrm>
          <a:prstGeom prst="ellipse">
            <a:avLst/>
          </a:prstGeom>
          <a:solidFill>
            <a:srgbClr val="D6336C">
              <a:alpha val="75000"/>
            </a:srgbClr>
          </a:solidFill>
          <a:ln/>
        </p:spPr>
        <p:txBody>
          <a:bodyPr/>
          <a:lstStyle/>
          <a:p>
            <a:endParaRPr lang="en-US"/>
          </a:p>
        </p:txBody>
      </p:sp>
      <p:sp>
        <p:nvSpPr>
          <p:cNvPr id="77" name="Shape 75"/>
          <p:cNvSpPr/>
          <p:nvPr/>
        </p:nvSpPr>
        <p:spPr>
          <a:xfrm>
            <a:off x="9907616" y="3771576"/>
            <a:ext cx="109728" cy="109728"/>
          </a:xfrm>
          <a:prstGeom prst="ellipse">
            <a:avLst/>
          </a:prstGeom>
          <a:solidFill>
            <a:srgbClr val="D6336C">
              <a:alpha val="75000"/>
            </a:srgbClr>
          </a:solidFill>
          <a:ln/>
        </p:spPr>
        <p:txBody>
          <a:bodyPr/>
          <a:lstStyle/>
          <a:p>
            <a:endParaRPr lang="en-US"/>
          </a:p>
        </p:txBody>
      </p:sp>
      <p:sp>
        <p:nvSpPr>
          <p:cNvPr id="78" name="Shape 76"/>
          <p:cNvSpPr/>
          <p:nvPr/>
        </p:nvSpPr>
        <p:spPr>
          <a:xfrm>
            <a:off x="10607269" y="3678948"/>
            <a:ext cx="109728" cy="109728"/>
          </a:xfrm>
          <a:prstGeom prst="ellipse">
            <a:avLst/>
          </a:prstGeom>
          <a:solidFill>
            <a:srgbClr val="D6336C">
              <a:alpha val="75000"/>
            </a:srgbClr>
          </a:solidFill>
          <a:ln/>
        </p:spPr>
        <p:txBody>
          <a:bodyPr/>
          <a:lstStyle/>
          <a:p>
            <a:endParaRPr lang="en-US"/>
          </a:p>
        </p:txBody>
      </p:sp>
      <p:sp>
        <p:nvSpPr>
          <p:cNvPr id="79" name="Shape 77"/>
          <p:cNvSpPr/>
          <p:nvPr/>
        </p:nvSpPr>
        <p:spPr>
          <a:xfrm>
            <a:off x="10314471" y="3443444"/>
            <a:ext cx="109728" cy="109728"/>
          </a:xfrm>
          <a:prstGeom prst="ellipse">
            <a:avLst/>
          </a:prstGeom>
          <a:solidFill>
            <a:srgbClr val="D6336C">
              <a:alpha val="75000"/>
            </a:srgbClr>
          </a:solidFill>
          <a:ln/>
        </p:spPr>
        <p:txBody>
          <a:bodyPr/>
          <a:lstStyle/>
          <a:p>
            <a:endParaRPr lang="en-US"/>
          </a:p>
        </p:txBody>
      </p:sp>
      <p:sp>
        <p:nvSpPr>
          <p:cNvPr id="80" name="Shape 78"/>
          <p:cNvSpPr/>
          <p:nvPr/>
        </p:nvSpPr>
        <p:spPr>
          <a:xfrm>
            <a:off x="9803458" y="2727961"/>
            <a:ext cx="109728" cy="109728"/>
          </a:xfrm>
          <a:prstGeom prst="ellipse">
            <a:avLst/>
          </a:prstGeom>
          <a:solidFill>
            <a:srgbClr val="D6336C">
              <a:alpha val="75000"/>
            </a:srgbClr>
          </a:solidFill>
          <a:ln/>
        </p:spPr>
        <p:txBody>
          <a:bodyPr/>
          <a:lstStyle/>
          <a:p>
            <a:endParaRPr lang="en-US"/>
          </a:p>
        </p:txBody>
      </p:sp>
      <p:sp>
        <p:nvSpPr>
          <p:cNvPr id="81" name="Shape 79"/>
          <p:cNvSpPr/>
          <p:nvPr/>
        </p:nvSpPr>
        <p:spPr>
          <a:xfrm>
            <a:off x="9765772" y="3369124"/>
            <a:ext cx="109728" cy="109728"/>
          </a:xfrm>
          <a:prstGeom prst="ellipse">
            <a:avLst/>
          </a:prstGeom>
          <a:solidFill>
            <a:srgbClr val="D6336C">
              <a:alpha val="75000"/>
            </a:srgbClr>
          </a:solidFill>
          <a:ln/>
        </p:spPr>
        <p:txBody>
          <a:bodyPr/>
          <a:lstStyle/>
          <a:p>
            <a:endParaRPr lang="en-US"/>
          </a:p>
        </p:txBody>
      </p:sp>
      <p:sp>
        <p:nvSpPr>
          <p:cNvPr id="82" name="Shape 80"/>
          <p:cNvSpPr/>
          <p:nvPr/>
        </p:nvSpPr>
        <p:spPr>
          <a:xfrm>
            <a:off x="9836852" y="3333117"/>
            <a:ext cx="109728" cy="109728"/>
          </a:xfrm>
          <a:prstGeom prst="ellipse">
            <a:avLst/>
          </a:prstGeom>
          <a:solidFill>
            <a:srgbClr val="D6336C">
              <a:alpha val="75000"/>
            </a:srgbClr>
          </a:solidFill>
          <a:ln/>
        </p:spPr>
        <p:txBody>
          <a:bodyPr/>
          <a:lstStyle/>
          <a:p>
            <a:endParaRPr lang="en-US"/>
          </a:p>
        </p:txBody>
      </p:sp>
      <p:sp>
        <p:nvSpPr>
          <p:cNvPr id="83" name="Shape 81"/>
          <p:cNvSpPr/>
          <p:nvPr/>
        </p:nvSpPr>
        <p:spPr>
          <a:xfrm>
            <a:off x="9978400" y="3343494"/>
            <a:ext cx="109728" cy="109728"/>
          </a:xfrm>
          <a:prstGeom prst="ellipse">
            <a:avLst/>
          </a:prstGeom>
          <a:solidFill>
            <a:srgbClr val="D6336C">
              <a:alpha val="75000"/>
            </a:srgbClr>
          </a:solidFill>
          <a:ln/>
        </p:spPr>
        <p:txBody>
          <a:bodyPr/>
          <a:lstStyle/>
          <a:p>
            <a:endParaRPr lang="en-US"/>
          </a:p>
        </p:txBody>
      </p:sp>
      <p:sp>
        <p:nvSpPr>
          <p:cNvPr id="84" name="Shape 82"/>
          <p:cNvSpPr/>
          <p:nvPr/>
        </p:nvSpPr>
        <p:spPr>
          <a:xfrm>
            <a:off x="10328337" y="3331631"/>
            <a:ext cx="109728" cy="109728"/>
          </a:xfrm>
          <a:prstGeom prst="ellipse">
            <a:avLst/>
          </a:prstGeom>
          <a:solidFill>
            <a:srgbClr val="D6336C">
              <a:alpha val="75000"/>
            </a:srgbClr>
          </a:solidFill>
          <a:ln/>
        </p:spPr>
        <p:txBody>
          <a:bodyPr/>
          <a:lstStyle/>
          <a:p>
            <a:endParaRPr lang="en-US"/>
          </a:p>
        </p:txBody>
      </p:sp>
      <p:sp>
        <p:nvSpPr>
          <p:cNvPr id="85" name="Shape 83"/>
          <p:cNvSpPr/>
          <p:nvPr/>
        </p:nvSpPr>
        <p:spPr>
          <a:xfrm>
            <a:off x="8783672" y="4732522"/>
            <a:ext cx="109728" cy="109728"/>
          </a:xfrm>
          <a:prstGeom prst="ellipse">
            <a:avLst/>
          </a:prstGeom>
          <a:solidFill>
            <a:srgbClr val="1C8C8C">
              <a:alpha val="75000"/>
            </a:srgbClr>
          </a:solidFill>
          <a:ln/>
        </p:spPr>
        <p:txBody>
          <a:bodyPr/>
          <a:lstStyle/>
          <a:p>
            <a:endParaRPr lang="en-US"/>
          </a:p>
        </p:txBody>
      </p:sp>
      <p:sp>
        <p:nvSpPr>
          <p:cNvPr id="86" name="Shape 84"/>
          <p:cNvSpPr/>
          <p:nvPr/>
        </p:nvSpPr>
        <p:spPr>
          <a:xfrm>
            <a:off x="9044810" y="4855180"/>
            <a:ext cx="109728" cy="109728"/>
          </a:xfrm>
          <a:prstGeom prst="ellipse">
            <a:avLst/>
          </a:prstGeom>
          <a:solidFill>
            <a:srgbClr val="1C8C8C">
              <a:alpha val="75000"/>
            </a:srgbClr>
          </a:solidFill>
          <a:ln/>
        </p:spPr>
        <p:txBody>
          <a:bodyPr/>
          <a:lstStyle/>
          <a:p>
            <a:endParaRPr lang="en-US"/>
          </a:p>
        </p:txBody>
      </p:sp>
      <p:sp>
        <p:nvSpPr>
          <p:cNvPr id="87" name="Shape 85"/>
          <p:cNvSpPr/>
          <p:nvPr/>
        </p:nvSpPr>
        <p:spPr>
          <a:xfrm>
            <a:off x="8776873" y="4806773"/>
            <a:ext cx="109728" cy="109728"/>
          </a:xfrm>
          <a:prstGeom prst="ellipse">
            <a:avLst/>
          </a:prstGeom>
          <a:solidFill>
            <a:srgbClr val="1C8C8C">
              <a:alpha val="75000"/>
            </a:srgbClr>
          </a:solidFill>
          <a:ln/>
        </p:spPr>
        <p:txBody>
          <a:bodyPr/>
          <a:lstStyle/>
          <a:p>
            <a:endParaRPr lang="en-US"/>
          </a:p>
        </p:txBody>
      </p:sp>
      <p:sp>
        <p:nvSpPr>
          <p:cNvPr id="88" name="Shape 86"/>
          <p:cNvSpPr/>
          <p:nvPr/>
        </p:nvSpPr>
        <p:spPr>
          <a:xfrm>
            <a:off x="8802449" y="4823597"/>
            <a:ext cx="109728" cy="109728"/>
          </a:xfrm>
          <a:prstGeom prst="ellipse">
            <a:avLst/>
          </a:prstGeom>
          <a:solidFill>
            <a:srgbClr val="1C8C8C">
              <a:alpha val="75000"/>
            </a:srgbClr>
          </a:solidFill>
          <a:ln/>
        </p:spPr>
        <p:txBody>
          <a:bodyPr/>
          <a:lstStyle/>
          <a:p>
            <a:endParaRPr lang="en-US"/>
          </a:p>
        </p:txBody>
      </p:sp>
      <p:sp>
        <p:nvSpPr>
          <p:cNvPr id="89" name="Shape 87"/>
          <p:cNvSpPr/>
          <p:nvPr/>
        </p:nvSpPr>
        <p:spPr>
          <a:xfrm>
            <a:off x="9300937" y="4357546"/>
            <a:ext cx="109728" cy="109728"/>
          </a:xfrm>
          <a:prstGeom prst="ellipse">
            <a:avLst/>
          </a:prstGeom>
          <a:solidFill>
            <a:srgbClr val="1C8C8C">
              <a:alpha val="75000"/>
            </a:srgbClr>
          </a:solidFill>
          <a:ln/>
        </p:spPr>
        <p:txBody>
          <a:bodyPr/>
          <a:lstStyle/>
          <a:p>
            <a:endParaRPr lang="en-US"/>
          </a:p>
        </p:txBody>
      </p:sp>
      <p:sp>
        <p:nvSpPr>
          <p:cNvPr id="90" name="Shape 88"/>
          <p:cNvSpPr/>
          <p:nvPr/>
        </p:nvSpPr>
        <p:spPr>
          <a:xfrm>
            <a:off x="8719228" y="5147925"/>
            <a:ext cx="109728" cy="109728"/>
          </a:xfrm>
          <a:prstGeom prst="ellipse">
            <a:avLst/>
          </a:prstGeom>
          <a:solidFill>
            <a:srgbClr val="1C8C8C">
              <a:alpha val="75000"/>
            </a:srgbClr>
          </a:solidFill>
          <a:ln/>
        </p:spPr>
        <p:txBody>
          <a:bodyPr/>
          <a:lstStyle/>
          <a:p>
            <a:endParaRPr lang="en-US"/>
          </a:p>
        </p:txBody>
      </p:sp>
      <p:sp>
        <p:nvSpPr>
          <p:cNvPr id="91" name="Shape 89"/>
          <p:cNvSpPr/>
          <p:nvPr/>
        </p:nvSpPr>
        <p:spPr>
          <a:xfrm>
            <a:off x="8573185" y="5100167"/>
            <a:ext cx="109728" cy="109728"/>
          </a:xfrm>
          <a:prstGeom prst="ellipse">
            <a:avLst/>
          </a:prstGeom>
          <a:solidFill>
            <a:srgbClr val="1C8C8C">
              <a:alpha val="75000"/>
            </a:srgbClr>
          </a:solidFill>
          <a:ln/>
        </p:spPr>
        <p:txBody>
          <a:bodyPr/>
          <a:lstStyle/>
          <a:p>
            <a:endParaRPr lang="en-US"/>
          </a:p>
        </p:txBody>
      </p:sp>
      <p:sp>
        <p:nvSpPr>
          <p:cNvPr id="92" name="Shape 90"/>
          <p:cNvSpPr/>
          <p:nvPr/>
        </p:nvSpPr>
        <p:spPr>
          <a:xfrm>
            <a:off x="9052948" y="5090983"/>
            <a:ext cx="109728" cy="109728"/>
          </a:xfrm>
          <a:prstGeom prst="ellipse">
            <a:avLst/>
          </a:prstGeom>
          <a:solidFill>
            <a:srgbClr val="1C8C8C">
              <a:alpha val="75000"/>
            </a:srgbClr>
          </a:solidFill>
          <a:ln/>
        </p:spPr>
        <p:txBody>
          <a:bodyPr/>
          <a:lstStyle/>
          <a:p>
            <a:endParaRPr lang="en-US"/>
          </a:p>
        </p:txBody>
      </p:sp>
      <p:sp>
        <p:nvSpPr>
          <p:cNvPr id="93" name="Shape 91"/>
          <p:cNvSpPr/>
          <p:nvPr/>
        </p:nvSpPr>
        <p:spPr>
          <a:xfrm>
            <a:off x="8865843" y="4949922"/>
            <a:ext cx="109728" cy="109728"/>
          </a:xfrm>
          <a:prstGeom prst="ellipse">
            <a:avLst/>
          </a:prstGeom>
          <a:solidFill>
            <a:srgbClr val="1C8C8C">
              <a:alpha val="75000"/>
            </a:srgbClr>
          </a:solidFill>
          <a:ln/>
        </p:spPr>
        <p:txBody>
          <a:bodyPr/>
          <a:lstStyle/>
          <a:p>
            <a:endParaRPr lang="en-US"/>
          </a:p>
        </p:txBody>
      </p:sp>
      <p:sp>
        <p:nvSpPr>
          <p:cNvPr id="94" name="Shape 92"/>
          <p:cNvSpPr/>
          <p:nvPr/>
        </p:nvSpPr>
        <p:spPr>
          <a:xfrm>
            <a:off x="8738693" y="4759817"/>
            <a:ext cx="109728" cy="109728"/>
          </a:xfrm>
          <a:prstGeom prst="ellipse">
            <a:avLst/>
          </a:prstGeom>
          <a:solidFill>
            <a:srgbClr val="1C8C8C">
              <a:alpha val="75000"/>
            </a:srgbClr>
          </a:solidFill>
          <a:ln/>
        </p:spPr>
        <p:txBody>
          <a:bodyPr/>
          <a:lstStyle/>
          <a:p>
            <a:endParaRPr lang="en-US"/>
          </a:p>
        </p:txBody>
      </p:sp>
      <p:sp>
        <p:nvSpPr>
          <p:cNvPr id="95" name="Shape 93"/>
          <p:cNvSpPr/>
          <p:nvPr/>
        </p:nvSpPr>
        <p:spPr>
          <a:xfrm>
            <a:off x="8979533" y="4742577"/>
            <a:ext cx="109728" cy="109728"/>
          </a:xfrm>
          <a:prstGeom prst="ellipse">
            <a:avLst/>
          </a:prstGeom>
          <a:solidFill>
            <a:srgbClr val="1C8C8C">
              <a:alpha val="75000"/>
            </a:srgbClr>
          </a:solidFill>
          <a:ln/>
        </p:spPr>
        <p:txBody>
          <a:bodyPr/>
          <a:lstStyle/>
          <a:p>
            <a:endParaRPr lang="en-US"/>
          </a:p>
        </p:txBody>
      </p:sp>
      <p:sp>
        <p:nvSpPr>
          <p:cNvPr id="96" name="Shape 94"/>
          <p:cNvSpPr/>
          <p:nvPr/>
        </p:nvSpPr>
        <p:spPr>
          <a:xfrm>
            <a:off x="8970439" y="4768332"/>
            <a:ext cx="109728" cy="109728"/>
          </a:xfrm>
          <a:prstGeom prst="ellipse">
            <a:avLst/>
          </a:prstGeom>
          <a:solidFill>
            <a:srgbClr val="1C8C8C">
              <a:alpha val="75000"/>
            </a:srgbClr>
          </a:solidFill>
          <a:ln/>
        </p:spPr>
        <p:txBody>
          <a:bodyPr/>
          <a:lstStyle/>
          <a:p>
            <a:endParaRPr lang="en-US"/>
          </a:p>
        </p:txBody>
      </p:sp>
      <p:sp>
        <p:nvSpPr>
          <p:cNvPr id="97" name="Shape 95"/>
          <p:cNvSpPr/>
          <p:nvPr/>
        </p:nvSpPr>
        <p:spPr>
          <a:xfrm>
            <a:off x="8407051" y="4215615"/>
            <a:ext cx="109728" cy="109728"/>
          </a:xfrm>
          <a:prstGeom prst="ellipse">
            <a:avLst/>
          </a:prstGeom>
          <a:solidFill>
            <a:srgbClr val="1C8C8C">
              <a:alpha val="75000"/>
            </a:srgbClr>
          </a:solidFill>
          <a:ln/>
        </p:spPr>
        <p:txBody>
          <a:bodyPr/>
          <a:lstStyle/>
          <a:p>
            <a:endParaRPr lang="en-US"/>
          </a:p>
        </p:txBody>
      </p:sp>
      <p:sp>
        <p:nvSpPr>
          <p:cNvPr id="98" name="Shape 96"/>
          <p:cNvSpPr/>
          <p:nvPr/>
        </p:nvSpPr>
        <p:spPr>
          <a:xfrm>
            <a:off x="9301969" y="4893650"/>
            <a:ext cx="109728" cy="109728"/>
          </a:xfrm>
          <a:prstGeom prst="ellipse">
            <a:avLst/>
          </a:prstGeom>
          <a:solidFill>
            <a:srgbClr val="1C8C8C">
              <a:alpha val="75000"/>
            </a:srgbClr>
          </a:solidFill>
          <a:ln/>
        </p:spPr>
        <p:txBody>
          <a:bodyPr/>
          <a:lstStyle/>
          <a:p>
            <a:endParaRPr lang="en-US"/>
          </a:p>
        </p:txBody>
      </p:sp>
      <p:sp>
        <p:nvSpPr>
          <p:cNvPr id="99" name="Shape 97"/>
          <p:cNvSpPr/>
          <p:nvPr/>
        </p:nvSpPr>
        <p:spPr>
          <a:xfrm>
            <a:off x="8761617" y="5084512"/>
            <a:ext cx="109728" cy="109728"/>
          </a:xfrm>
          <a:prstGeom prst="ellipse">
            <a:avLst/>
          </a:prstGeom>
          <a:solidFill>
            <a:srgbClr val="1C8C8C">
              <a:alpha val="75000"/>
            </a:srgbClr>
          </a:solidFill>
          <a:ln/>
        </p:spPr>
        <p:txBody>
          <a:bodyPr/>
          <a:lstStyle/>
          <a:p>
            <a:endParaRPr lang="en-US"/>
          </a:p>
        </p:txBody>
      </p:sp>
      <p:sp>
        <p:nvSpPr>
          <p:cNvPr id="100" name="Shape 98"/>
          <p:cNvSpPr/>
          <p:nvPr/>
        </p:nvSpPr>
        <p:spPr>
          <a:xfrm>
            <a:off x="8365908" y="4557054"/>
            <a:ext cx="109728" cy="109728"/>
          </a:xfrm>
          <a:prstGeom prst="ellipse">
            <a:avLst/>
          </a:prstGeom>
          <a:solidFill>
            <a:srgbClr val="1C8C8C">
              <a:alpha val="75000"/>
            </a:srgbClr>
          </a:solidFill>
          <a:ln/>
        </p:spPr>
        <p:txBody>
          <a:bodyPr/>
          <a:lstStyle/>
          <a:p>
            <a:endParaRPr lang="en-US"/>
          </a:p>
        </p:txBody>
      </p:sp>
      <p:sp>
        <p:nvSpPr>
          <p:cNvPr id="101" name="Shape 99"/>
          <p:cNvSpPr/>
          <p:nvPr/>
        </p:nvSpPr>
        <p:spPr>
          <a:xfrm>
            <a:off x="8595501" y="5396902"/>
            <a:ext cx="109728" cy="109728"/>
          </a:xfrm>
          <a:prstGeom prst="ellipse">
            <a:avLst/>
          </a:prstGeom>
          <a:solidFill>
            <a:srgbClr val="1C8C8C">
              <a:alpha val="75000"/>
            </a:srgbClr>
          </a:solidFill>
          <a:ln/>
        </p:spPr>
        <p:txBody>
          <a:bodyPr/>
          <a:lstStyle/>
          <a:p>
            <a:endParaRPr lang="en-US"/>
          </a:p>
        </p:txBody>
      </p:sp>
      <p:sp>
        <p:nvSpPr>
          <p:cNvPr id="102" name="Shape 100"/>
          <p:cNvSpPr/>
          <p:nvPr/>
        </p:nvSpPr>
        <p:spPr>
          <a:xfrm>
            <a:off x="9257681" y="4456961"/>
            <a:ext cx="109728" cy="109728"/>
          </a:xfrm>
          <a:prstGeom prst="ellipse">
            <a:avLst/>
          </a:prstGeom>
          <a:solidFill>
            <a:srgbClr val="1C8C8C">
              <a:alpha val="75000"/>
            </a:srgbClr>
          </a:solidFill>
          <a:ln/>
        </p:spPr>
        <p:txBody>
          <a:bodyPr/>
          <a:lstStyle/>
          <a:p>
            <a:endParaRPr lang="en-US"/>
          </a:p>
        </p:txBody>
      </p:sp>
      <p:sp>
        <p:nvSpPr>
          <p:cNvPr id="103" name="Shape 101"/>
          <p:cNvSpPr/>
          <p:nvPr/>
        </p:nvSpPr>
        <p:spPr>
          <a:xfrm>
            <a:off x="9290715" y="4686030"/>
            <a:ext cx="109728" cy="109728"/>
          </a:xfrm>
          <a:prstGeom prst="ellipse">
            <a:avLst/>
          </a:prstGeom>
          <a:solidFill>
            <a:srgbClr val="1C8C8C">
              <a:alpha val="75000"/>
            </a:srgbClr>
          </a:solidFill>
          <a:ln/>
        </p:spPr>
        <p:txBody>
          <a:bodyPr/>
          <a:lstStyle/>
          <a:p>
            <a:endParaRPr lang="en-US"/>
          </a:p>
        </p:txBody>
      </p:sp>
      <p:sp>
        <p:nvSpPr>
          <p:cNvPr id="104" name="Shape 102"/>
          <p:cNvSpPr/>
          <p:nvPr/>
        </p:nvSpPr>
        <p:spPr>
          <a:xfrm>
            <a:off x="8853865" y="4880660"/>
            <a:ext cx="109728" cy="109728"/>
          </a:xfrm>
          <a:prstGeom prst="ellipse">
            <a:avLst/>
          </a:prstGeom>
          <a:solidFill>
            <a:srgbClr val="1C8C8C">
              <a:alpha val="75000"/>
            </a:srgbClr>
          </a:solidFill>
          <a:ln/>
        </p:spPr>
        <p:txBody>
          <a:bodyPr/>
          <a:lstStyle/>
          <a:p>
            <a:endParaRPr lang="en-US"/>
          </a:p>
        </p:txBody>
      </p:sp>
      <p:sp>
        <p:nvSpPr>
          <p:cNvPr id="105" name="Shape 103"/>
          <p:cNvSpPr/>
          <p:nvPr/>
        </p:nvSpPr>
        <p:spPr>
          <a:xfrm>
            <a:off x="9005834" y="4561481"/>
            <a:ext cx="109728" cy="109728"/>
          </a:xfrm>
          <a:prstGeom prst="ellipse">
            <a:avLst/>
          </a:prstGeom>
          <a:solidFill>
            <a:srgbClr val="1C8C8C">
              <a:alpha val="75000"/>
            </a:srgbClr>
          </a:solidFill>
          <a:ln/>
        </p:spPr>
        <p:txBody>
          <a:bodyPr/>
          <a:lstStyle/>
          <a:p>
            <a:endParaRPr lang="en-US"/>
          </a:p>
        </p:txBody>
      </p:sp>
      <p:sp>
        <p:nvSpPr>
          <p:cNvPr id="106" name="Shape 104"/>
          <p:cNvSpPr/>
          <p:nvPr/>
        </p:nvSpPr>
        <p:spPr>
          <a:xfrm>
            <a:off x="9043257" y="4066047"/>
            <a:ext cx="109728" cy="109728"/>
          </a:xfrm>
          <a:prstGeom prst="ellipse">
            <a:avLst/>
          </a:prstGeom>
          <a:solidFill>
            <a:srgbClr val="1C8C8C">
              <a:alpha val="75000"/>
            </a:srgbClr>
          </a:solidFill>
          <a:ln/>
        </p:spPr>
        <p:txBody>
          <a:bodyPr/>
          <a:lstStyle/>
          <a:p>
            <a:endParaRPr lang="en-US"/>
          </a:p>
        </p:txBody>
      </p:sp>
      <p:sp>
        <p:nvSpPr>
          <p:cNvPr id="107" name="Shape 105"/>
          <p:cNvSpPr/>
          <p:nvPr/>
        </p:nvSpPr>
        <p:spPr>
          <a:xfrm>
            <a:off x="9264937" y="4385921"/>
            <a:ext cx="109728" cy="109728"/>
          </a:xfrm>
          <a:prstGeom prst="ellipse">
            <a:avLst/>
          </a:prstGeom>
          <a:solidFill>
            <a:srgbClr val="1C8C8C">
              <a:alpha val="75000"/>
            </a:srgbClr>
          </a:solidFill>
          <a:ln/>
        </p:spPr>
        <p:txBody>
          <a:bodyPr/>
          <a:lstStyle/>
          <a:p>
            <a:endParaRPr lang="en-US"/>
          </a:p>
        </p:txBody>
      </p:sp>
      <p:sp>
        <p:nvSpPr>
          <p:cNvPr id="108" name="Shape 106"/>
          <p:cNvSpPr/>
          <p:nvPr/>
        </p:nvSpPr>
        <p:spPr>
          <a:xfrm>
            <a:off x="8384119" y="5184294"/>
            <a:ext cx="109728" cy="109728"/>
          </a:xfrm>
          <a:prstGeom prst="ellipse">
            <a:avLst/>
          </a:prstGeom>
          <a:solidFill>
            <a:srgbClr val="1C8C8C">
              <a:alpha val="75000"/>
            </a:srgbClr>
          </a:solidFill>
          <a:ln/>
        </p:spPr>
        <p:txBody>
          <a:bodyPr/>
          <a:lstStyle/>
          <a:p>
            <a:endParaRPr lang="en-US"/>
          </a:p>
        </p:txBody>
      </p:sp>
      <p:sp>
        <p:nvSpPr>
          <p:cNvPr id="109" name="Shape 107"/>
          <p:cNvSpPr/>
          <p:nvPr/>
        </p:nvSpPr>
        <p:spPr>
          <a:xfrm>
            <a:off x="8536630" y="4600765"/>
            <a:ext cx="109728" cy="109728"/>
          </a:xfrm>
          <a:prstGeom prst="ellipse">
            <a:avLst/>
          </a:prstGeom>
          <a:solidFill>
            <a:srgbClr val="1C8C8C">
              <a:alpha val="75000"/>
            </a:srgbClr>
          </a:solidFill>
          <a:ln/>
        </p:spPr>
        <p:txBody>
          <a:bodyPr/>
          <a:lstStyle/>
          <a:p>
            <a:endParaRPr lang="en-US"/>
          </a:p>
        </p:txBody>
      </p:sp>
      <p:sp>
        <p:nvSpPr>
          <p:cNvPr id="110" name="Shape 108"/>
          <p:cNvSpPr/>
          <p:nvPr/>
        </p:nvSpPr>
        <p:spPr>
          <a:xfrm>
            <a:off x="8888192" y="4808356"/>
            <a:ext cx="109728" cy="109728"/>
          </a:xfrm>
          <a:prstGeom prst="ellipse">
            <a:avLst/>
          </a:prstGeom>
          <a:solidFill>
            <a:srgbClr val="1C8C8C">
              <a:alpha val="75000"/>
            </a:srgbClr>
          </a:solidFill>
          <a:ln/>
        </p:spPr>
        <p:txBody>
          <a:bodyPr/>
          <a:lstStyle/>
          <a:p>
            <a:endParaRPr lang="en-US"/>
          </a:p>
        </p:txBody>
      </p:sp>
      <p:sp>
        <p:nvSpPr>
          <p:cNvPr id="111" name="Shape 109"/>
          <p:cNvSpPr/>
          <p:nvPr/>
        </p:nvSpPr>
        <p:spPr>
          <a:xfrm>
            <a:off x="8863174" y="4711134"/>
            <a:ext cx="109728" cy="109728"/>
          </a:xfrm>
          <a:prstGeom prst="ellipse">
            <a:avLst/>
          </a:prstGeom>
          <a:solidFill>
            <a:srgbClr val="1C8C8C">
              <a:alpha val="75000"/>
            </a:srgbClr>
          </a:solidFill>
          <a:ln/>
        </p:spPr>
        <p:txBody>
          <a:bodyPr/>
          <a:lstStyle/>
          <a:p>
            <a:endParaRPr lang="en-US"/>
          </a:p>
        </p:txBody>
      </p:sp>
      <p:sp>
        <p:nvSpPr>
          <p:cNvPr id="112" name="Shape 110"/>
          <p:cNvSpPr/>
          <p:nvPr/>
        </p:nvSpPr>
        <p:spPr>
          <a:xfrm>
            <a:off x="8733398" y="4284140"/>
            <a:ext cx="109728" cy="109728"/>
          </a:xfrm>
          <a:prstGeom prst="ellipse">
            <a:avLst/>
          </a:prstGeom>
          <a:solidFill>
            <a:srgbClr val="1C8C8C">
              <a:alpha val="75000"/>
            </a:srgbClr>
          </a:solidFill>
          <a:ln/>
        </p:spPr>
        <p:txBody>
          <a:bodyPr/>
          <a:lstStyle/>
          <a:p>
            <a:endParaRPr lang="en-US"/>
          </a:p>
        </p:txBody>
      </p:sp>
      <p:sp>
        <p:nvSpPr>
          <p:cNvPr id="113" name="Shape 111"/>
          <p:cNvSpPr/>
          <p:nvPr/>
        </p:nvSpPr>
        <p:spPr>
          <a:xfrm>
            <a:off x="8191566" y="4299720"/>
            <a:ext cx="109728" cy="109728"/>
          </a:xfrm>
          <a:prstGeom prst="ellipse">
            <a:avLst/>
          </a:prstGeom>
          <a:solidFill>
            <a:srgbClr val="1C8C8C">
              <a:alpha val="75000"/>
            </a:srgbClr>
          </a:solidFill>
          <a:ln/>
        </p:spPr>
        <p:txBody>
          <a:bodyPr/>
          <a:lstStyle/>
          <a:p>
            <a:endParaRPr lang="en-US"/>
          </a:p>
        </p:txBody>
      </p:sp>
      <p:sp>
        <p:nvSpPr>
          <p:cNvPr id="114" name="Shape 112"/>
          <p:cNvSpPr/>
          <p:nvPr/>
        </p:nvSpPr>
        <p:spPr>
          <a:xfrm>
            <a:off x="8826745" y="5294204"/>
            <a:ext cx="109728" cy="109728"/>
          </a:xfrm>
          <a:prstGeom prst="ellipse">
            <a:avLst/>
          </a:prstGeom>
          <a:solidFill>
            <a:srgbClr val="1C8C8C">
              <a:alpha val="75000"/>
            </a:srgbClr>
          </a:solidFill>
          <a:ln/>
        </p:spPr>
        <p:txBody>
          <a:bodyPr/>
          <a:lstStyle/>
          <a:p>
            <a:endParaRPr lang="en-US"/>
          </a:p>
        </p:txBody>
      </p:sp>
      <p:sp>
        <p:nvSpPr>
          <p:cNvPr id="115" name="Shape 113"/>
          <p:cNvSpPr/>
          <p:nvPr/>
        </p:nvSpPr>
        <p:spPr>
          <a:xfrm>
            <a:off x="8818927" y="4813170"/>
            <a:ext cx="109728" cy="109728"/>
          </a:xfrm>
          <a:prstGeom prst="ellipse">
            <a:avLst/>
          </a:prstGeom>
          <a:solidFill>
            <a:srgbClr val="1C8C8C">
              <a:alpha val="75000"/>
            </a:srgbClr>
          </a:solidFill>
          <a:ln/>
        </p:spPr>
        <p:txBody>
          <a:bodyPr/>
          <a:lstStyle/>
          <a:p>
            <a:endParaRPr lang="en-US"/>
          </a:p>
        </p:txBody>
      </p:sp>
      <p:sp>
        <p:nvSpPr>
          <p:cNvPr id="116" name="Shape 114"/>
          <p:cNvSpPr/>
          <p:nvPr/>
        </p:nvSpPr>
        <p:spPr>
          <a:xfrm>
            <a:off x="8918127" y="4746796"/>
            <a:ext cx="109728" cy="109728"/>
          </a:xfrm>
          <a:prstGeom prst="ellipse">
            <a:avLst/>
          </a:prstGeom>
          <a:solidFill>
            <a:srgbClr val="1C8C8C">
              <a:alpha val="75000"/>
            </a:srgbClr>
          </a:solidFill>
          <a:ln/>
        </p:spPr>
        <p:txBody>
          <a:bodyPr/>
          <a:lstStyle/>
          <a:p>
            <a:endParaRPr lang="en-US"/>
          </a:p>
        </p:txBody>
      </p:sp>
      <p:sp>
        <p:nvSpPr>
          <p:cNvPr id="117" name="Shape 115"/>
          <p:cNvSpPr/>
          <p:nvPr/>
        </p:nvSpPr>
        <p:spPr>
          <a:xfrm>
            <a:off x="9254002" y="5158841"/>
            <a:ext cx="109728" cy="109728"/>
          </a:xfrm>
          <a:prstGeom prst="ellipse">
            <a:avLst/>
          </a:prstGeom>
          <a:solidFill>
            <a:srgbClr val="1C8C8C">
              <a:alpha val="75000"/>
            </a:srgbClr>
          </a:solidFill>
          <a:ln/>
        </p:spPr>
        <p:txBody>
          <a:bodyPr/>
          <a:lstStyle/>
          <a:p>
            <a:endParaRPr lang="en-US"/>
          </a:p>
        </p:txBody>
      </p:sp>
      <p:sp>
        <p:nvSpPr>
          <p:cNvPr id="118" name="Shape 116"/>
          <p:cNvSpPr/>
          <p:nvPr/>
        </p:nvSpPr>
        <p:spPr>
          <a:xfrm>
            <a:off x="9435628" y="5069057"/>
            <a:ext cx="109728" cy="109728"/>
          </a:xfrm>
          <a:prstGeom prst="ellipse">
            <a:avLst/>
          </a:prstGeom>
          <a:solidFill>
            <a:srgbClr val="1C8C8C">
              <a:alpha val="75000"/>
            </a:srgbClr>
          </a:solidFill>
          <a:ln/>
        </p:spPr>
        <p:txBody>
          <a:bodyPr/>
          <a:lstStyle/>
          <a:p>
            <a:endParaRPr lang="en-US"/>
          </a:p>
        </p:txBody>
      </p:sp>
      <p:sp>
        <p:nvSpPr>
          <p:cNvPr id="119" name="Shape 117"/>
          <p:cNvSpPr/>
          <p:nvPr/>
        </p:nvSpPr>
        <p:spPr>
          <a:xfrm>
            <a:off x="8733778" y="4899572"/>
            <a:ext cx="109728" cy="109728"/>
          </a:xfrm>
          <a:prstGeom prst="ellipse">
            <a:avLst/>
          </a:prstGeom>
          <a:solidFill>
            <a:srgbClr val="1C8C8C">
              <a:alpha val="75000"/>
            </a:srgbClr>
          </a:solidFill>
          <a:ln/>
        </p:spPr>
        <p:txBody>
          <a:bodyPr/>
          <a:lstStyle/>
          <a:p>
            <a:endParaRPr lang="en-US"/>
          </a:p>
        </p:txBody>
      </p:sp>
      <p:sp>
        <p:nvSpPr>
          <p:cNvPr id="120" name="Shape 118"/>
          <p:cNvSpPr/>
          <p:nvPr/>
        </p:nvSpPr>
        <p:spPr>
          <a:xfrm>
            <a:off x="8871929" y="4627493"/>
            <a:ext cx="109728" cy="109728"/>
          </a:xfrm>
          <a:prstGeom prst="ellipse">
            <a:avLst/>
          </a:prstGeom>
          <a:solidFill>
            <a:srgbClr val="1C8C8C">
              <a:alpha val="75000"/>
            </a:srgbClr>
          </a:solidFill>
          <a:ln/>
        </p:spPr>
        <p:txBody>
          <a:bodyPr/>
          <a:lstStyle/>
          <a:p>
            <a:endParaRPr lang="en-US"/>
          </a:p>
        </p:txBody>
      </p:sp>
      <p:sp>
        <p:nvSpPr>
          <p:cNvPr id="121" name="Shape 119"/>
          <p:cNvSpPr/>
          <p:nvPr/>
        </p:nvSpPr>
        <p:spPr>
          <a:xfrm>
            <a:off x="6720840" y="5742432"/>
            <a:ext cx="182880" cy="182880"/>
          </a:xfrm>
          <a:prstGeom prst="ellipse">
            <a:avLst/>
          </a:prstGeom>
          <a:solidFill>
            <a:srgbClr val="6B4E8F"/>
          </a:solidFill>
          <a:ln/>
        </p:spPr>
        <p:txBody>
          <a:bodyPr/>
          <a:lstStyle/>
          <a:p>
            <a:endParaRPr lang="en-US"/>
          </a:p>
        </p:txBody>
      </p:sp>
      <p:sp>
        <p:nvSpPr>
          <p:cNvPr id="122" name="Text 120"/>
          <p:cNvSpPr/>
          <p:nvPr/>
        </p:nvSpPr>
        <p:spPr>
          <a:xfrm>
            <a:off x="6967728" y="5705856"/>
            <a:ext cx="1280160" cy="256032"/>
          </a:xfrm>
          <a:prstGeom prst="rect">
            <a:avLst/>
          </a:prstGeom>
          <a:noFill/>
          <a:ln/>
        </p:spPr>
        <p:txBody>
          <a:bodyPr wrap="square" lIns="0" tIns="0" rIns="0" bIns="0" rtlCol="0" anchor="ctr"/>
          <a:lstStyle/>
          <a:p>
            <a:pPr marL="0" indent="0">
              <a:buNone/>
            </a:pPr>
            <a:r>
              <a:rPr lang="en-US" sz="1300" dirty="0">
                <a:solidFill>
                  <a:srgbClr val="8A7F99"/>
                </a:solidFill>
                <a:latin typeface="Calibri" pitchFamily="34" charset="0"/>
                <a:ea typeface="Calibri" pitchFamily="34" charset="-122"/>
                <a:cs typeface="Calibri" pitchFamily="34" charset="-120"/>
              </a:rPr>
              <a:t>tumor</a:t>
            </a:r>
            <a:endParaRPr lang="en-US" sz="1300" dirty="0"/>
          </a:p>
        </p:txBody>
      </p:sp>
      <p:sp>
        <p:nvSpPr>
          <p:cNvPr id="123" name="Shape 121"/>
          <p:cNvSpPr/>
          <p:nvPr/>
        </p:nvSpPr>
        <p:spPr>
          <a:xfrm>
            <a:off x="8321040" y="5742432"/>
            <a:ext cx="182880" cy="182880"/>
          </a:xfrm>
          <a:prstGeom prst="ellipse">
            <a:avLst/>
          </a:prstGeom>
          <a:solidFill>
            <a:srgbClr val="D6336C"/>
          </a:solidFill>
          <a:ln/>
        </p:spPr>
        <p:txBody>
          <a:bodyPr/>
          <a:lstStyle/>
          <a:p>
            <a:endParaRPr lang="en-US"/>
          </a:p>
        </p:txBody>
      </p:sp>
      <p:sp>
        <p:nvSpPr>
          <p:cNvPr id="124" name="Text 122"/>
          <p:cNvSpPr/>
          <p:nvPr/>
        </p:nvSpPr>
        <p:spPr>
          <a:xfrm>
            <a:off x="8567928" y="5705856"/>
            <a:ext cx="1280160" cy="256032"/>
          </a:xfrm>
          <a:prstGeom prst="rect">
            <a:avLst/>
          </a:prstGeom>
          <a:noFill/>
          <a:ln/>
        </p:spPr>
        <p:txBody>
          <a:bodyPr wrap="square" lIns="0" tIns="0" rIns="0" bIns="0" rtlCol="0" anchor="ctr"/>
          <a:lstStyle/>
          <a:p>
            <a:pPr marL="0" indent="0">
              <a:buNone/>
            </a:pPr>
            <a:r>
              <a:rPr lang="en-US" sz="1300" dirty="0">
                <a:solidFill>
                  <a:srgbClr val="8A7F99"/>
                </a:solidFill>
                <a:latin typeface="Calibri" pitchFamily="34" charset="0"/>
                <a:ea typeface="Calibri" pitchFamily="34" charset="-122"/>
                <a:cs typeface="Calibri" pitchFamily="34" charset="-120"/>
              </a:rPr>
              <a:t>stroma</a:t>
            </a:r>
            <a:endParaRPr lang="en-US" sz="1300" dirty="0"/>
          </a:p>
        </p:txBody>
      </p:sp>
      <p:sp>
        <p:nvSpPr>
          <p:cNvPr id="125" name="Shape 123"/>
          <p:cNvSpPr/>
          <p:nvPr/>
        </p:nvSpPr>
        <p:spPr>
          <a:xfrm>
            <a:off x="9921240" y="5742432"/>
            <a:ext cx="182880" cy="182880"/>
          </a:xfrm>
          <a:prstGeom prst="ellipse">
            <a:avLst/>
          </a:prstGeom>
          <a:solidFill>
            <a:srgbClr val="1C8C8C"/>
          </a:solidFill>
          <a:ln/>
        </p:spPr>
        <p:txBody>
          <a:bodyPr/>
          <a:lstStyle/>
          <a:p>
            <a:endParaRPr lang="en-US"/>
          </a:p>
        </p:txBody>
      </p:sp>
      <p:sp>
        <p:nvSpPr>
          <p:cNvPr id="126" name="Text 124"/>
          <p:cNvSpPr/>
          <p:nvPr/>
        </p:nvSpPr>
        <p:spPr>
          <a:xfrm>
            <a:off x="10168128" y="5705856"/>
            <a:ext cx="1280160" cy="256032"/>
          </a:xfrm>
          <a:prstGeom prst="rect">
            <a:avLst/>
          </a:prstGeom>
          <a:noFill/>
          <a:ln/>
        </p:spPr>
        <p:txBody>
          <a:bodyPr wrap="square" lIns="0" tIns="0" rIns="0" bIns="0" rtlCol="0" anchor="ctr"/>
          <a:lstStyle/>
          <a:p>
            <a:pPr marL="0" indent="0">
              <a:buNone/>
            </a:pPr>
            <a:r>
              <a:rPr lang="en-US" sz="1300" dirty="0">
                <a:solidFill>
                  <a:srgbClr val="8A7F99"/>
                </a:solidFill>
                <a:latin typeface="Calibri" pitchFamily="34" charset="0"/>
                <a:ea typeface="Calibri" pitchFamily="34" charset="-122"/>
                <a:cs typeface="Calibri" pitchFamily="34" charset="-120"/>
              </a:rPr>
              <a:t>immune</a:t>
            </a:r>
            <a:endParaRPr lang="en-US" sz="1300" dirty="0"/>
          </a:p>
        </p:txBody>
      </p:sp>
      <p:sp>
        <p:nvSpPr>
          <p:cNvPr id="127" name="Text 125"/>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128" name="Text 126"/>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44</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EVALUATION · ROBUSTNESS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The generalization gap is the real test</a:t>
            </a:r>
            <a:endParaRPr lang="en-US" sz="2900" dirty="0"/>
          </a:p>
        </p:txBody>
      </p:sp>
      <p:sp>
        <p:nvSpPr>
          <p:cNvPr id="5" name="Text 3"/>
          <p:cNvSpPr/>
          <p:nvPr/>
        </p:nvSpPr>
        <p:spPr>
          <a:xfrm>
            <a:off x="640080" y="1554480"/>
            <a:ext cx="5669280" cy="4206240"/>
          </a:xfrm>
          <a:prstGeom prst="rect">
            <a:avLst/>
          </a:prstGeom>
          <a:noFill/>
          <a:ln/>
        </p:spPr>
        <p:txBody>
          <a:bodyPr wrap="square" lIns="0" tIns="0" rIns="0" bIns="0" rtlCol="0" anchor="t"/>
          <a:lstStyle/>
          <a:p>
            <a:pPr marL="203200" indent="-203200">
              <a:spcAft>
                <a:spcPts val="1000"/>
              </a:spcAft>
              <a:buSzPct val="100000"/>
              <a:buChar char="•"/>
            </a:pPr>
            <a:r>
              <a:rPr lang="en-US" sz="1850" dirty="0">
                <a:solidFill>
                  <a:srgbClr val="2A2233"/>
                </a:solidFill>
                <a:latin typeface="Calibri" pitchFamily="34" charset="0"/>
                <a:ea typeface="Calibri" pitchFamily="34" charset="-122"/>
                <a:cs typeface="Calibri" pitchFamily="34" charset="-120"/>
              </a:rPr>
              <a:t>Stain &amp; scanner shift: H&amp;E color and scanner optics vary by site — the #1 cause of performance drop.</a:t>
            </a:r>
            <a:endParaRPr lang="en-US" sz="1850" dirty="0"/>
          </a:p>
          <a:p>
            <a:pPr marL="203200" indent="-203200">
              <a:spcAft>
                <a:spcPts val="1000"/>
              </a:spcAft>
              <a:buSzPct val="100000"/>
              <a:buChar char="•"/>
            </a:pPr>
            <a:r>
              <a:rPr lang="en-US" sz="1850" dirty="0">
                <a:solidFill>
                  <a:srgbClr val="2A2233"/>
                </a:solidFill>
                <a:latin typeface="Calibri" pitchFamily="34" charset="0"/>
                <a:ea typeface="Calibri" pitchFamily="34" charset="-122"/>
                <a:cs typeface="Calibri" pitchFamily="34" charset="-120"/>
              </a:rPr>
              <a:t>Mitigations: stain normalization / augmentation, scanner-diverse training, and robust encoders.</a:t>
            </a:r>
            <a:endParaRPr lang="en-US" sz="1850" dirty="0"/>
          </a:p>
          <a:p>
            <a:pPr marL="203200" indent="-203200">
              <a:spcAft>
                <a:spcPts val="1000"/>
              </a:spcAft>
              <a:buSzPct val="100000"/>
              <a:buChar char="•"/>
            </a:pPr>
            <a:r>
              <a:rPr lang="en-US" sz="1850" dirty="0">
                <a:solidFill>
                  <a:srgbClr val="2A2233"/>
                </a:solidFill>
                <a:latin typeface="Calibri" pitchFamily="34" charset="0"/>
                <a:ea typeface="Calibri" pitchFamily="34" charset="-122"/>
                <a:cs typeface="Calibri" pitchFamily="34" charset="-120"/>
              </a:rPr>
              <a:t>Always quote an EXTERNAL test cohort; internal CV is optimistic.</a:t>
            </a:r>
            <a:endParaRPr lang="en-US" sz="1850" dirty="0"/>
          </a:p>
          <a:p>
            <a:pPr marL="203200" indent="-203200">
              <a:spcAft>
                <a:spcPts val="1000"/>
              </a:spcAft>
              <a:buSzPct val="100000"/>
              <a:buChar char="•"/>
            </a:pPr>
            <a:r>
              <a:rPr lang="en-US" sz="1850" dirty="0">
                <a:solidFill>
                  <a:srgbClr val="2A2233"/>
                </a:solidFill>
                <a:latin typeface="Calibri" pitchFamily="34" charset="0"/>
                <a:ea typeface="Calibri" pitchFamily="34" charset="-122"/>
                <a:cs typeface="Calibri" pitchFamily="34" charset="-120"/>
              </a:rPr>
              <a:t>Batch effects: a model can learn 'which hospital' instead of biology — check for site confounding.</a:t>
            </a:r>
            <a:endParaRPr lang="en-US" sz="1850" dirty="0"/>
          </a:p>
          <a:p>
            <a:pPr marL="203200" indent="-203200">
              <a:spcAft>
                <a:spcPts val="1000"/>
              </a:spcAft>
              <a:buSzPct val="100000"/>
              <a:buChar char="•"/>
            </a:pPr>
            <a:r>
              <a:rPr lang="en-US" sz="1850" dirty="0">
                <a:solidFill>
                  <a:srgbClr val="2A2233"/>
                </a:solidFill>
                <a:latin typeface="Calibri" pitchFamily="34" charset="0"/>
                <a:ea typeface="Calibri" pitchFamily="34" charset="-122"/>
                <a:cs typeface="Calibri" pitchFamily="34" charset="-120"/>
              </a:rPr>
              <a:t>Subgroup analysis: does performance hold across scanners, sites, and demographics?</a:t>
            </a:r>
            <a:endParaRPr lang="en-US" sz="1850" dirty="0"/>
          </a:p>
          <a:p>
            <a:pPr marL="203200" indent="-203200">
              <a:spcAft>
                <a:spcPts val="1000"/>
              </a:spcAft>
              <a:buSzPct val="100000"/>
              <a:buChar char="•"/>
            </a:pPr>
            <a:r>
              <a:rPr lang="en-US" sz="1850" dirty="0">
                <a:solidFill>
                  <a:srgbClr val="2A2233"/>
                </a:solidFill>
                <a:latin typeface="Calibri" pitchFamily="34" charset="0"/>
                <a:ea typeface="Calibri" pitchFamily="34" charset="-122"/>
                <a:cs typeface="Calibri" pitchFamily="34" charset="-120"/>
              </a:rPr>
              <a:t>Report failure cases and calibration, not just the mean AUC.</a:t>
            </a:r>
            <a:endParaRPr lang="en-US" sz="1850" dirty="0"/>
          </a:p>
        </p:txBody>
      </p:sp>
      <p:sp>
        <p:nvSpPr>
          <p:cNvPr id="6" name="Shape 4"/>
          <p:cNvSpPr/>
          <p:nvPr/>
        </p:nvSpPr>
        <p:spPr>
          <a:xfrm>
            <a:off x="6492240" y="1508760"/>
            <a:ext cx="5303520" cy="4617720"/>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7" name="Text 5"/>
          <p:cNvSpPr/>
          <p:nvPr/>
        </p:nvSpPr>
        <p:spPr>
          <a:xfrm>
            <a:off x="6720840" y="1645920"/>
            <a:ext cx="4846320" cy="274320"/>
          </a:xfrm>
          <a:prstGeom prst="rect">
            <a:avLst/>
          </a:prstGeom>
          <a:noFill/>
          <a:ln/>
        </p:spPr>
        <p:txBody>
          <a:bodyPr wrap="square" lIns="0" tIns="0" rIns="0" bIns="0" rtlCol="0" anchor="ctr"/>
          <a:lstStyle/>
          <a:p>
            <a:pPr marL="0" indent="0">
              <a:buNone/>
            </a:pPr>
            <a:r>
              <a:rPr lang="en-US" sz="1400" i="1" dirty="0">
                <a:solidFill>
                  <a:srgbClr val="8A7F99"/>
                </a:solidFill>
                <a:latin typeface="Calibri" pitchFamily="34" charset="0"/>
                <a:ea typeface="Calibri" pitchFamily="34" charset="-122"/>
                <a:cs typeface="Calibri" pitchFamily="34" charset="-120"/>
              </a:rPr>
              <a:t>Internal CV vs external cohort</a:t>
            </a:r>
            <a:endParaRPr lang="en-US" sz="1400" dirty="0"/>
          </a:p>
        </p:txBody>
      </p:sp>
      <p:sp>
        <p:nvSpPr>
          <p:cNvPr id="8" name="Shape 6"/>
          <p:cNvSpPr/>
          <p:nvPr/>
        </p:nvSpPr>
        <p:spPr>
          <a:xfrm>
            <a:off x="7040880" y="3328416"/>
            <a:ext cx="548640" cy="1975104"/>
          </a:xfrm>
          <a:prstGeom prst="rect">
            <a:avLst/>
          </a:prstGeom>
          <a:solidFill>
            <a:srgbClr val="4A2C6D"/>
          </a:solidFill>
          <a:ln/>
        </p:spPr>
        <p:txBody>
          <a:bodyPr/>
          <a:lstStyle/>
          <a:p>
            <a:endParaRPr lang="en-US"/>
          </a:p>
        </p:txBody>
      </p:sp>
      <p:sp>
        <p:nvSpPr>
          <p:cNvPr id="9" name="Shape 7"/>
          <p:cNvSpPr/>
          <p:nvPr/>
        </p:nvSpPr>
        <p:spPr>
          <a:xfrm>
            <a:off x="7644384" y="3986784"/>
            <a:ext cx="548640" cy="1316736"/>
          </a:xfrm>
          <a:prstGeom prst="rect">
            <a:avLst/>
          </a:prstGeom>
          <a:solidFill>
            <a:srgbClr val="D6336C"/>
          </a:solidFill>
          <a:ln/>
        </p:spPr>
        <p:txBody>
          <a:bodyPr/>
          <a:lstStyle/>
          <a:p>
            <a:endParaRPr lang="en-US"/>
          </a:p>
        </p:txBody>
      </p:sp>
      <p:sp>
        <p:nvSpPr>
          <p:cNvPr id="10" name="Text 8"/>
          <p:cNvSpPr/>
          <p:nvPr/>
        </p:nvSpPr>
        <p:spPr>
          <a:xfrm>
            <a:off x="6903720" y="5376672"/>
            <a:ext cx="1417320" cy="274320"/>
          </a:xfrm>
          <a:prstGeom prst="rect">
            <a:avLst/>
          </a:prstGeom>
          <a:noFill/>
          <a:ln/>
        </p:spPr>
        <p:txBody>
          <a:bodyPr wrap="square" lIns="0" tIns="0" rIns="0" bIns="0" rtlCol="0" anchor="ctr"/>
          <a:lstStyle/>
          <a:p>
            <a:pPr marL="0" indent="0" algn="ctr">
              <a:buNone/>
            </a:pPr>
            <a:r>
              <a:rPr lang="en-US" sz="1300" dirty="0">
                <a:solidFill>
                  <a:srgbClr val="2A2233"/>
                </a:solidFill>
                <a:latin typeface="Calibri" pitchFamily="34" charset="0"/>
                <a:ea typeface="Calibri" pitchFamily="34" charset="-122"/>
                <a:cs typeface="Calibri" pitchFamily="34" charset="-120"/>
              </a:rPr>
              <a:t>Mean-pool</a:t>
            </a:r>
            <a:endParaRPr lang="en-US" sz="1300" dirty="0"/>
          </a:p>
        </p:txBody>
      </p:sp>
      <p:sp>
        <p:nvSpPr>
          <p:cNvPr id="11" name="Text 9"/>
          <p:cNvSpPr/>
          <p:nvPr/>
        </p:nvSpPr>
        <p:spPr>
          <a:xfrm>
            <a:off x="6995160" y="3072384"/>
            <a:ext cx="640080" cy="228600"/>
          </a:xfrm>
          <a:prstGeom prst="rect">
            <a:avLst/>
          </a:prstGeom>
          <a:noFill/>
          <a:ln/>
        </p:spPr>
        <p:txBody>
          <a:bodyPr wrap="square" lIns="0" tIns="0" rIns="0" bIns="0" rtlCol="0" anchor="ctr"/>
          <a:lstStyle/>
          <a:p>
            <a:pPr marL="0" indent="0" algn="ctr">
              <a:buNone/>
            </a:pPr>
            <a:r>
              <a:rPr lang="en-US" sz="1150" dirty="0">
                <a:solidFill>
                  <a:srgbClr val="4A2C6D"/>
                </a:solidFill>
                <a:latin typeface="Courier New" pitchFamily="34" charset="0"/>
                <a:ea typeface="Courier New" pitchFamily="34" charset="-122"/>
                <a:cs typeface="Courier New" pitchFamily="34" charset="-120"/>
              </a:rPr>
              <a:t>0.86</a:t>
            </a:r>
            <a:endParaRPr lang="en-US" sz="1150" dirty="0"/>
          </a:p>
        </p:txBody>
      </p:sp>
      <p:sp>
        <p:nvSpPr>
          <p:cNvPr id="12" name="Text 10"/>
          <p:cNvSpPr/>
          <p:nvPr/>
        </p:nvSpPr>
        <p:spPr>
          <a:xfrm>
            <a:off x="7598664" y="3730752"/>
            <a:ext cx="640080" cy="228600"/>
          </a:xfrm>
          <a:prstGeom prst="rect">
            <a:avLst/>
          </a:prstGeom>
          <a:noFill/>
          <a:ln/>
        </p:spPr>
        <p:txBody>
          <a:bodyPr wrap="square" lIns="0" tIns="0" rIns="0" bIns="0" rtlCol="0" anchor="ctr"/>
          <a:lstStyle/>
          <a:p>
            <a:pPr marL="0" indent="0" algn="ctr">
              <a:buNone/>
            </a:pPr>
            <a:r>
              <a:rPr lang="en-US" sz="1150" dirty="0">
                <a:solidFill>
                  <a:srgbClr val="D6336C"/>
                </a:solidFill>
                <a:latin typeface="Courier New" pitchFamily="34" charset="0"/>
                <a:ea typeface="Courier New" pitchFamily="34" charset="-122"/>
                <a:cs typeface="Courier New" pitchFamily="34" charset="-120"/>
              </a:rPr>
              <a:t>0.74</a:t>
            </a:r>
            <a:endParaRPr lang="en-US" sz="1150" dirty="0"/>
          </a:p>
        </p:txBody>
      </p:sp>
      <p:sp>
        <p:nvSpPr>
          <p:cNvPr id="13" name="Shape 11"/>
          <p:cNvSpPr/>
          <p:nvPr/>
        </p:nvSpPr>
        <p:spPr>
          <a:xfrm>
            <a:off x="8549640" y="3054096"/>
            <a:ext cx="548640" cy="2249424"/>
          </a:xfrm>
          <a:prstGeom prst="rect">
            <a:avLst/>
          </a:prstGeom>
          <a:solidFill>
            <a:srgbClr val="4A2C6D"/>
          </a:solidFill>
          <a:ln/>
        </p:spPr>
        <p:txBody>
          <a:bodyPr/>
          <a:lstStyle/>
          <a:p>
            <a:endParaRPr lang="en-US"/>
          </a:p>
        </p:txBody>
      </p:sp>
      <p:sp>
        <p:nvSpPr>
          <p:cNvPr id="14" name="Shape 12"/>
          <p:cNvSpPr/>
          <p:nvPr/>
        </p:nvSpPr>
        <p:spPr>
          <a:xfrm>
            <a:off x="9153144" y="3657600"/>
            <a:ext cx="548640" cy="1645920"/>
          </a:xfrm>
          <a:prstGeom prst="rect">
            <a:avLst/>
          </a:prstGeom>
          <a:solidFill>
            <a:srgbClr val="D6336C"/>
          </a:solidFill>
          <a:ln/>
        </p:spPr>
        <p:txBody>
          <a:bodyPr/>
          <a:lstStyle/>
          <a:p>
            <a:endParaRPr lang="en-US"/>
          </a:p>
        </p:txBody>
      </p:sp>
      <p:sp>
        <p:nvSpPr>
          <p:cNvPr id="15" name="Text 13"/>
          <p:cNvSpPr/>
          <p:nvPr/>
        </p:nvSpPr>
        <p:spPr>
          <a:xfrm>
            <a:off x="8412480" y="5376672"/>
            <a:ext cx="1417320" cy="274320"/>
          </a:xfrm>
          <a:prstGeom prst="rect">
            <a:avLst/>
          </a:prstGeom>
          <a:noFill/>
          <a:ln/>
        </p:spPr>
        <p:txBody>
          <a:bodyPr wrap="square" lIns="0" tIns="0" rIns="0" bIns="0" rtlCol="0" anchor="ctr"/>
          <a:lstStyle/>
          <a:p>
            <a:pPr marL="0" indent="0" algn="ctr">
              <a:buNone/>
            </a:pPr>
            <a:r>
              <a:rPr lang="en-US" sz="1300" dirty="0">
                <a:solidFill>
                  <a:srgbClr val="2A2233"/>
                </a:solidFill>
                <a:latin typeface="Calibri" pitchFamily="34" charset="0"/>
                <a:ea typeface="Calibri" pitchFamily="34" charset="-122"/>
                <a:cs typeface="Calibri" pitchFamily="34" charset="-120"/>
              </a:rPr>
              <a:t>ABMIL</a:t>
            </a:r>
            <a:endParaRPr lang="en-US" sz="1300" dirty="0"/>
          </a:p>
        </p:txBody>
      </p:sp>
      <p:sp>
        <p:nvSpPr>
          <p:cNvPr id="16" name="Text 14"/>
          <p:cNvSpPr/>
          <p:nvPr/>
        </p:nvSpPr>
        <p:spPr>
          <a:xfrm>
            <a:off x="8503920" y="2798064"/>
            <a:ext cx="640080" cy="228600"/>
          </a:xfrm>
          <a:prstGeom prst="rect">
            <a:avLst/>
          </a:prstGeom>
          <a:noFill/>
          <a:ln/>
        </p:spPr>
        <p:txBody>
          <a:bodyPr wrap="square" lIns="0" tIns="0" rIns="0" bIns="0" rtlCol="0" anchor="ctr"/>
          <a:lstStyle/>
          <a:p>
            <a:pPr marL="0" indent="0" algn="ctr">
              <a:buNone/>
            </a:pPr>
            <a:r>
              <a:rPr lang="en-US" sz="1150" dirty="0">
                <a:solidFill>
                  <a:srgbClr val="4A2C6D"/>
                </a:solidFill>
                <a:latin typeface="Courier New" pitchFamily="34" charset="0"/>
                <a:ea typeface="Courier New" pitchFamily="34" charset="-122"/>
                <a:cs typeface="Courier New" pitchFamily="34" charset="-120"/>
              </a:rPr>
              <a:t>0.91</a:t>
            </a:r>
            <a:endParaRPr lang="en-US" sz="1150" dirty="0"/>
          </a:p>
        </p:txBody>
      </p:sp>
      <p:sp>
        <p:nvSpPr>
          <p:cNvPr id="17" name="Text 15"/>
          <p:cNvSpPr/>
          <p:nvPr/>
        </p:nvSpPr>
        <p:spPr>
          <a:xfrm>
            <a:off x="9107424" y="3401568"/>
            <a:ext cx="640080" cy="228600"/>
          </a:xfrm>
          <a:prstGeom prst="rect">
            <a:avLst/>
          </a:prstGeom>
          <a:noFill/>
          <a:ln/>
        </p:spPr>
        <p:txBody>
          <a:bodyPr wrap="square" lIns="0" tIns="0" rIns="0" bIns="0" rtlCol="0" anchor="ctr"/>
          <a:lstStyle/>
          <a:p>
            <a:pPr marL="0" indent="0" algn="ctr">
              <a:buNone/>
            </a:pPr>
            <a:r>
              <a:rPr lang="en-US" sz="1150" dirty="0">
                <a:solidFill>
                  <a:srgbClr val="D6336C"/>
                </a:solidFill>
                <a:latin typeface="Courier New" pitchFamily="34" charset="0"/>
                <a:ea typeface="Courier New" pitchFamily="34" charset="-122"/>
                <a:cs typeface="Courier New" pitchFamily="34" charset="-120"/>
              </a:rPr>
              <a:t>0.80</a:t>
            </a:r>
            <a:endParaRPr lang="en-US" sz="1150" dirty="0"/>
          </a:p>
        </p:txBody>
      </p:sp>
      <p:sp>
        <p:nvSpPr>
          <p:cNvPr id="18" name="Shape 16"/>
          <p:cNvSpPr/>
          <p:nvPr/>
        </p:nvSpPr>
        <p:spPr>
          <a:xfrm>
            <a:off x="10058400" y="2944368"/>
            <a:ext cx="548640" cy="2359152"/>
          </a:xfrm>
          <a:prstGeom prst="rect">
            <a:avLst/>
          </a:prstGeom>
          <a:solidFill>
            <a:srgbClr val="4A2C6D"/>
          </a:solidFill>
          <a:ln/>
        </p:spPr>
        <p:txBody>
          <a:bodyPr/>
          <a:lstStyle/>
          <a:p>
            <a:endParaRPr lang="en-US"/>
          </a:p>
        </p:txBody>
      </p:sp>
      <p:sp>
        <p:nvSpPr>
          <p:cNvPr id="19" name="Shape 17"/>
          <p:cNvSpPr/>
          <p:nvPr/>
        </p:nvSpPr>
        <p:spPr>
          <a:xfrm>
            <a:off x="10661904" y="3493008"/>
            <a:ext cx="548640" cy="1810512"/>
          </a:xfrm>
          <a:prstGeom prst="rect">
            <a:avLst/>
          </a:prstGeom>
          <a:solidFill>
            <a:srgbClr val="D6336C"/>
          </a:solidFill>
          <a:ln/>
        </p:spPr>
        <p:txBody>
          <a:bodyPr/>
          <a:lstStyle/>
          <a:p>
            <a:endParaRPr lang="en-US"/>
          </a:p>
        </p:txBody>
      </p:sp>
      <p:sp>
        <p:nvSpPr>
          <p:cNvPr id="20" name="Text 18"/>
          <p:cNvSpPr/>
          <p:nvPr/>
        </p:nvSpPr>
        <p:spPr>
          <a:xfrm>
            <a:off x="9921240" y="5376672"/>
            <a:ext cx="1417320" cy="274320"/>
          </a:xfrm>
          <a:prstGeom prst="rect">
            <a:avLst/>
          </a:prstGeom>
          <a:noFill/>
          <a:ln/>
        </p:spPr>
        <p:txBody>
          <a:bodyPr wrap="square" lIns="0" tIns="0" rIns="0" bIns="0" rtlCol="0" anchor="ctr"/>
          <a:lstStyle/>
          <a:p>
            <a:pPr marL="0" indent="0" algn="ctr">
              <a:buNone/>
            </a:pPr>
            <a:r>
              <a:rPr lang="en-US" sz="1300" dirty="0">
                <a:solidFill>
                  <a:srgbClr val="2A2233"/>
                </a:solidFill>
                <a:latin typeface="Calibri" pitchFamily="34" charset="0"/>
                <a:ea typeface="Calibri" pitchFamily="34" charset="-122"/>
                <a:cs typeface="Calibri" pitchFamily="34" charset="-120"/>
              </a:rPr>
              <a:t>CLAM</a:t>
            </a:r>
            <a:endParaRPr lang="en-US" sz="1300" dirty="0"/>
          </a:p>
        </p:txBody>
      </p:sp>
      <p:sp>
        <p:nvSpPr>
          <p:cNvPr id="21" name="Text 19"/>
          <p:cNvSpPr/>
          <p:nvPr/>
        </p:nvSpPr>
        <p:spPr>
          <a:xfrm>
            <a:off x="10012680" y="2688336"/>
            <a:ext cx="640080" cy="228600"/>
          </a:xfrm>
          <a:prstGeom prst="rect">
            <a:avLst/>
          </a:prstGeom>
          <a:noFill/>
          <a:ln/>
        </p:spPr>
        <p:txBody>
          <a:bodyPr wrap="square" lIns="0" tIns="0" rIns="0" bIns="0" rtlCol="0" anchor="ctr"/>
          <a:lstStyle/>
          <a:p>
            <a:pPr marL="0" indent="0" algn="ctr">
              <a:buNone/>
            </a:pPr>
            <a:r>
              <a:rPr lang="en-US" sz="1150" dirty="0">
                <a:solidFill>
                  <a:srgbClr val="4A2C6D"/>
                </a:solidFill>
                <a:latin typeface="Courier New" pitchFamily="34" charset="0"/>
                <a:ea typeface="Courier New" pitchFamily="34" charset="-122"/>
                <a:cs typeface="Courier New" pitchFamily="34" charset="-120"/>
              </a:rPr>
              <a:t>0.93</a:t>
            </a:r>
            <a:endParaRPr lang="en-US" sz="1150" dirty="0"/>
          </a:p>
        </p:txBody>
      </p:sp>
      <p:sp>
        <p:nvSpPr>
          <p:cNvPr id="22" name="Text 20"/>
          <p:cNvSpPr/>
          <p:nvPr/>
        </p:nvSpPr>
        <p:spPr>
          <a:xfrm>
            <a:off x="10616184" y="3236976"/>
            <a:ext cx="640080" cy="228600"/>
          </a:xfrm>
          <a:prstGeom prst="rect">
            <a:avLst/>
          </a:prstGeom>
          <a:noFill/>
          <a:ln/>
        </p:spPr>
        <p:txBody>
          <a:bodyPr wrap="square" lIns="0" tIns="0" rIns="0" bIns="0" rtlCol="0" anchor="ctr"/>
          <a:lstStyle/>
          <a:p>
            <a:pPr marL="0" indent="0" algn="ctr">
              <a:buNone/>
            </a:pPr>
            <a:r>
              <a:rPr lang="en-US" sz="1150" dirty="0">
                <a:solidFill>
                  <a:srgbClr val="D6336C"/>
                </a:solidFill>
                <a:latin typeface="Courier New" pitchFamily="34" charset="0"/>
                <a:ea typeface="Courier New" pitchFamily="34" charset="-122"/>
                <a:cs typeface="Courier New" pitchFamily="34" charset="-120"/>
              </a:rPr>
              <a:t>0.83</a:t>
            </a:r>
            <a:endParaRPr lang="en-US" sz="1150" dirty="0"/>
          </a:p>
        </p:txBody>
      </p:sp>
      <p:sp>
        <p:nvSpPr>
          <p:cNvPr id="23" name="Text 21"/>
          <p:cNvSpPr/>
          <p:nvPr/>
        </p:nvSpPr>
        <p:spPr>
          <a:xfrm>
            <a:off x="6720840" y="5760720"/>
            <a:ext cx="4937760" cy="274320"/>
          </a:xfrm>
          <a:prstGeom prst="rect">
            <a:avLst/>
          </a:prstGeom>
          <a:noFill/>
          <a:ln/>
        </p:spPr>
        <p:txBody>
          <a:bodyPr wrap="square" lIns="0" tIns="0" rIns="0" bIns="0" rtlCol="0" anchor="ctr"/>
          <a:lstStyle/>
          <a:p>
            <a:pPr marL="0" indent="0">
              <a:buNone/>
            </a:pPr>
            <a:r>
              <a:rPr lang="en-US" sz="1250" dirty="0">
                <a:solidFill>
                  <a:srgbClr val="8A7F99"/>
                </a:solidFill>
                <a:latin typeface="Calibri" pitchFamily="34" charset="0"/>
                <a:ea typeface="Calibri" pitchFamily="34" charset="-122"/>
                <a:cs typeface="Calibri" pitchFamily="34" charset="-120"/>
              </a:rPr>
              <a:t>■ internal CV   ■ external cohort (AUROC)</a:t>
            </a:r>
            <a:endParaRPr lang="en-US" sz="1250" dirty="0"/>
          </a:p>
        </p:txBody>
      </p:sp>
      <p:sp>
        <p:nvSpPr>
          <p:cNvPr id="24" name="Text 22"/>
          <p:cNvSpPr/>
          <p:nvPr/>
        </p:nvSpPr>
        <p:spPr>
          <a:xfrm>
            <a:off x="6720840" y="1874520"/>
            <a:ext cx="4846320" cy="228600"/>
          </a:xfrm>
          <a:prstGeom prst="rect">
            <a:avLst/>
          </a:prstGeom>
          <a:noFill/>
          <a:ln/>
        </p:spPr>
        <p:txBody>
          <a:bodyPr wrap="square" lIns="0" tIns="0" rIns="0" bIns="0" rtlCol="0" anchor="ctr"/>
          <a:lstStyle/>
          <a:p>
            <a:pPr marL="0" indent="0">
              <a:buNone/>
            </a:pPr>
            <a:r>
              <a:rPr lang="en-US" sz="1150" i="1" dirty="0">
                <a:solidFill>
                  <a:srgbClr val="8A7F99"/>
                </a:solidFill>
                <a:latin typeface="Calibri" pitchFamily="34" charset="0"/>
                <a:ea typeface="Calibri" pitchFamily="34" charset="-122"/>
                <a:cs typeface="Calibri" pitchFamily="34" charset="-120"/>
              </a:rPr>
              <a:t>illustrative numbers</a:t>
            </a:r>
            <a:endParaRPr lang="en-US" sz="1150" dirty="0"/>
          </a:p>
        </p:txBody>
      </p:sp>
      <p:sp>
        <p:nvSpPr>
          <p:cNvPr id="25" name="Text 2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26" name="Text 24"/>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45</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D6336C"/>
          </a:solidFill>
          <a:ln/>
        </p:spPr>
        <p:txBody>
          <a:bodyPr/>
          <a:lstStyle/>
          <a:p>
            <a:endParaRPr lang="en-US"/>
          </a:p>
        </p:txBody>
      </p:sp>
      <p:sp>
        <p:nvSpPr>
          <p:cNvPr id="3" name="Shape 1"/>
          <p:cNvSpPr/>
          <p:nvPr/>
        </p:nvSpPr>
        <p:spPr>
          <a:xfrm>
            <a:off x="868680" y="2286000"/>
            <a:ext cx="1463040" cy="1463040"/>
          </a:xfrm>
          <a:prstGeom prst="ellipse">
            <a:avLst/>
          </a:prstGeom>
          <a:solidFill>
            <a:srgbClr val="D6336C"/>
          </a:solidFill>
          <a:ln/>
        </p:spPr>
        <p:txBody>
          <a:bodyPr/>
          <a:lstStyle/>
          <a:p>
            <a:endParaRPr lang="en-US"/>
          </a:p>
        </p:txBody>
      </p:sp>
      <p:sp>
        <p:nvSpPr>
          <p:cNvPr id="4" name="Text 2"/>
          <p:cNvSpPr/>
          <p:nvPr/>
        </p:nvSpPr>
        <p:spPr>
          <a:xfrm>
            <a:off x="868680" y="2286000"/>
            <a:ext cx="1463040" cy="1463040"/>
          </a:xfrm>
          <a:prstGeom prst="rect">
            <a:avLst/>
          </a:prstGeom>
          <a:noFill/>
          <a:ln/>
        </p:spPr>
        <p:txBody>
          <a:bodyPr wrap="square" lIns="0" tIns="0" rIns="0" bIns="0" rtlCol="0" anchor="ctr"/>
          <a:lstStyle/>
          <a:p>
            <a:pPr marL="0" indent="0" algn="ctr">
              <a:buNone/>
            </a:pPr>
            <a:r>
              <a:rPr lang="en-US" sz="2880" b="1" dirty="0">
                <a:solidFill>
                  <a:srgbClr val="FFFFFF"/>
                </a:solidFill>
                <a:latin typeface="Calibri" pitchFamily="34" charset="0"/>
                <a:ea typeface="Calibri" pitchFamily="34" charset="-122"/>
                <a:cs typeface="Calibri" pitchFamily="34" charset="-120"/>
              </a:rPr>
              <a:t>10</a:t>
            </a:r>
            <a:endParaRPr lang="en-US" sz="2880" dirty="0"/>
          </a:p>
        </p:txBody>
      </p:sp>
      <p:sp>
        <p:nvSpPr>
          <p:cNvPr id="5" name="Text 3"/>
          <p:cNvSpPr/>
          <p:nvPr/>
        </p:nvSpPr>
        <p:spPr>
          <a:xfrm>
            <a:off x="2697480" y="2423160"/>
            <a:ext cx="7315200" cy="320040"/>
          </a:xfrm>
          <a:prstGeom prst="rect">
            <a:avLst/>
          </a:prstGeom>
          <a:noFill/>
          <a:ln/>
        </p:spPr>
        <p:txBody>
          <a:bodyPr wrap="square" lIns="0" tIns="0" rIns="0" bIns="0" rtlCol="0" anchor="ctr"/>
          <a:lstStyle/>
          <a:p>
            <a:pPr marL="0" indent="0">
              <a:buNone/>
            </a:pPr>
            <a:r>
              <a:rPr lang="en-US" sz="1650" b="1" kern="0" spc="300" dirty="0">
                <a:solidFill>
                  <a:srgbClr val="F2A9C4"/>
                </a:solidFill>
                <a:latin typeface="Calibri" pitchFamily="34" charset="0"/>
                <a:ea typeface="Calibri" pitchFamily="34" charset="-122"/>
                <a:cs typeface="Calibri" pitchFamily="34" charset="-120"/>
              </a:rPr>
              <a:t>SECTION</a:t>
            </a:r>
            <a:endParaRPr lang="en-US" sz="1650" dirty="0"/>
          </a:p>
        </p:txBody>
      </p:sp>
      <p:sp>
        <p:nvSpPr>
          <p:cNvPr id="6" name="Text 4"/>
          <p:cNvSpPr/>
          <p:nvPr/>
        </p:nvSpPr>
        <p:spPr>
          <a:xfrm>
            <a:off x="2670048" y="2743200"/>
            <a:ext cx="896112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Conclusion</a:t>
            </a:r>
            <a:endParaRPr lang="en-US" sz="3800" dirty="0"/>
          </a:p>
        </p:txBody>
      </p:sp>
      <p:sp>
        <p:nvSpPr>
          <p:cNvPr id="7" name="Text 5"/>
          <p:cNvSpPr/>
          <p:nvPr/>
        </p:nvSpPr>
        <p:spPr>
          <a:xfrm>
            <a:off x="2697480" y="3794760"/>
            <a:ext cx="8778240" cy="640080"/>
          </a:xfrm>
          <a:prstGeom prst="rect">
            <a:avLst/>
          </a:prstGeom>
          <a:noFill/>
          <a:ln/>
        </p:spPr>
        <p:txBody>
          <a:bodyPr wrap="square" lIns="0" tIns="0" rIns="0" bIns="0" rtlCol="0" anchor="ctr"/>
          <a:lstStyle/>
          <a:p>
            <a:pPr marL="0" indent="0">
              <a:buNone/>
            </a:pPr>
            <a:r>
              <a:rPr lang="en-US" sz="1800" dirty="0">
                <a:solidFill>
                  <a:srgbClr val="CFC3DE"/>
                </a:solidFill>
                <a:latin typeface="Calibri" pitchFamily="34" charset="0"/>
                <a:ea typeface="Calibri" pitchFamily="34" charset="-122"/>
                <a:cs typeface="Calibri" pitchFamily="34" charset="-120"/>
              </a:rPr>
              <a:t>Takeaways, the road ahead, and your quiz</a:t>
            </a:r>
            <a:endParaRPr lang="en-US" sz="18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9" name="Text 7"/>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46</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CONCLUSION · TAKEAWAYS</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Five things to remember</a:t>
            </a:r>
            <a:endParaRPr lang="en-US" sz="2900" dirty="0"/>
          </a:p>
        </p:txBody>
      </p:sp>
      <p:sp>
        <p:nvSpPr>
          <p:cNvPr id="5" name="Shape 3"/>
          <p:cNvSpPr/>
          <p:nvPr/>
        </p:nvSpPr>
        <p:spPr>
          <a:xfrm>
            <a:off x="640080" y="1417320"/>
            <a:ext cx="11155680" cy="877824"/>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417320"/>
            <a:ext cx="82296" cy="877824"/>
          </a:xfrm>
          <a:prstGeom prst="rect">
            <a:avLst/>
          </a:prstGeom>
          <a:solidFill>
            <a:srgbClr val="D6336C"/>
          </a:solidFill>
          <a:ln/>
        </p:spPr>
        <p:txBody>
          <a:bodyPr/>
          <a:lstStyle/>
          <a:p>
            <a:endParaRPr lang="en-US"/>
          </a:p>
        </p:txBody>
      </p:sp>
      <p:sp>
        <p:nvSpPr>
          <p:cNvPr id="7" name="Shape 5"/>
          <p:cNvSpPr/>
          <p:nvPr/>
        </p:nvSpPr>
        <p:spPr>
          <a:xfrm>
            <a:off x="841248" y="1627632"/>
            <a:ext cx="457200" cy="457200"/>
          </a:xfrm>
          <a:prstGeom prst="ellipse">
            <a:avLst/>
          </a:prstGeom>
          <a:solidFill>
            <a:srgbClr val="D6336C"/>
          </a:solidFill>
          <a:ln/>
        </p:spPr>
        <p:txBody>
          <a:bodyPr/>
          <a:lstStyle/>
          <a:p>
            <a:endParaRPr lang="en-US"/>
          </a:p>
        </p:txBody>
      </p:sp>
      <p:sp>
        <p:nvSpPr>
          <p:cNvPr id="8" name="Text 6"/>
          <p:cNvSpPr/>
          <p:nvPr/>
        </p:nvSpPr>
        <p:spPr>
          <a:xfrm>
            <a:off x="841248" y="1627632"/>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1481328" y="1508760"/>
            <a:ext cx="4754880" cy="69494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MIL solves the scale + weak-label problem</a:t>
            </a:r>
            <a:endParaRPr lang="en-US" sz="1700" dirty="0"/>
          </a:p>
        </p:txBody>
      </p:sp>
      <p:sp>
        <p:nvSpPr>
          <p:cNvPr id="10" name="Text 8"/>
          <p:cNvSpPr/>
          <p:nvPr/>
        </p:nvSpPr>
        <p:spPr>
          <a:xfrm>
            <a:off x="6355080" y="1508760"/>
            <a:ext cx="5303520" cy="694944"/>
          </a:xfrm>
          <a:prstGeom prst="rect">
            <a:avLst/>
          </a:prstGeom>
          <a:noFill/>
          <a:ln/>
        </p:spPr>
        <p:txBody>
          <a:bodyPr wrap="square" lIns="0" tIns="0" rIns="0" bIns="0" rtlCol="0" anchor="ctr"/>
          <a:lstStyle/>
          <a:p>
            <a:pPr marL="0" indent="0">
              <a:buNone/>
            </a:pPr>
            <a:r>
              <a:rPr lang="en-US" sz="1450" dirty="0">
                <a:solidFill>
                  <a:srgbClr val="2A2233"/>
                </a:solidFill>
                <a:latin typeface="Calibri" pitchFamily="34" charset="0"/>
                <a:ea typeface="Calibri" pitchFamily="34" charset="-122"/>
                <a:cs typeface="Calibri" pitchFamily="34" charset="-120"/>
              </a:rPr>
              <a:t>Gigapixel slides + one label per slide → decompose into a bag of patches and learn the pooling.</a:t>
            </a:r>
            <a:endParaRPr lang="en-US" sz="1450" dirty="0"/>
          </a:p>
        </p:txBody>
      </p:sp>
      <p:sp>
        <p:nvSpPr>
          <p:cNvPr id="11" name="Shape 9"/>
          <p:cNvSpPr/>
          <p:nvPr/>
        </p:nvSpPr>
        <p:spPr>
          <a:xfrm>
            <a:off x="640080" y="2377440"/>
            <a:ext cx="11155680" cy="877824"/>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10"/>
          <p:cNvSpPr/>
          <p:nvPr/>
        </p:nvSpPr>
        <p:spPr>
          <a:xfrm>
            <a:off x="640080" y="2377440"/>
            <a:ext cx="82296" cy="877824"/>
          </a:xfrm>
          <a:prstGeom prst="rect">
            <a:avLst/>
          </a:prstGeom>
          <a:solidFill>
            <a:srgbClr val="4A2C6D"/>
          </a:solidFill>
          <a:ln/>
        </p:spPr>
        <p:txBody>
          <a:bodyPr/>
          <a:lstStyle/>
          <a:p>
            <a:endParaRPr lang="en-US"/>
          </a:p>
        </p:txBody>
      </p:sp>
      <p:sp>
        <p:nvSpPr>
          <p:cNvPr id="13" name="Shape 11"/>
          <p:cNvSpPr/>
          <p:nvPr/>
        </p:nvSpPr>
        <p:spPr>
          <a:xfrm>
            <a:off x="841248" y="2587752"/>
            <a:ext cx="457200" cy="457200"/>
          </a:xfrm>
          <a:prstGeom prst="ellipse">
            <a:avLst/>
          </a:prstGeom>
          <a:solidFill>
            <a:srgbClr val="4A2C6D"/>
          </a:solidFill>
          <a:ln/>
        </p:spPr>
        <p:txBody>
          <a:bodyPr/>
          <a:lstStyle/>
          <a:p>
            <a:endParaRPr lang="en-US"/>
          </a:p>
        </p:txBody>
      </p:sp>
      <p:sp>
        <p:nvSpPr>
          <p:cNvPr id="14" name="Text 12"/>
          <p:cNvSpPr/>
          <p:nvPr/>
        </p:nvSpPr>
        <p:spPr>
          <a:xfrm>
            <a:off x="841248" y="2587752"/>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1481328" y="2468880"/>
            <a:ext cx="4754880" cy="69494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Three boxes: encode → pool → classify</a:t>
            </a:r>
            <a:endParaRPr lang="en-US" sz="1700" dirty="0"/>
          </a:p>
        </p:txBody>
      </p:sp>
      <p:sp>
        <p:nvSpPr>
          <p:cNvPr id="16" name="Text 14"/>
          <p:cNvSpPr/>
          <p:nvPr/>
        </p:nvSpPr>
        <p:spPr>
          <a:xfrm>
            <a:off x="6355080" y="2468880"/>
            <a:ext cx="5303520" cy="694944"/>
          </a:xfrm>
          <a:prstGeom prst="rect">
            <a:avLst/>
          </a:prstGeom>
          <a:noFill/>
          <a:ln/>
        </p:spPr>
        <p:txBody>
          <a:bodyPr wrap="square" lIns="0" tIns="0" rIns="0" bIns="0" rtlCol="0" anchor="ctr"/>
          <a:lstStyle/>
          <a:p>
            <a:pPr marL="0" indent="0">
              <a:buNone/>
            </a:pPr>
            <a:r>
              <a:rPr lang="en-US" sz="1450" dirty="0">
                <a:solidFill>
                  <a:srgbClr val="2A2233"/>
                </a:solidFill>
                <a:latin typeface="Calibri" pitchFamily="34" charset="0"/>
                <a:ea typeface="Calibri" pitchFamily="34" charset="-122"/>
                <a:cs typeface="Calibri" pitchFamily="34" charset="-120"/>
              </a:rPr>
              <a:t>Ŷ = g(σ(f(x₁..x_N))). The pooling σ must be permutation-invariant; it's where the design lives.</a:t>
            </a:r>
            <a:endParaRPr lang="en-US" sz="1450" dirty="0"/>
          </a:p>
        </p:txBody>
      </p:sp>
      <p:sp>
        <p:nvSpPr>
          <p:cNvPr id="17" name="Shape 15"/>
          <p:cNvSpPr/>
          <p:nvPr/>
        </p:nvSpPr>
        <p:spPr>
          <a:xfrm>
            <a:off x="640080" y="3337560"/>
            <a:ext cx="11155680" cy="877824"/>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40080" y="3337560"/>
            <a:ext cx="82296" cy="877824"/>
          </a:xfrm>
          <a:prstGeom prst="rect">
            <a:avLst/>
          </a:prstGeom>
          <a:solidFill>
            <a:srgbClr val="D6336C"/>
          </a:solidFill>
          <a:ln/>
        </p:spPr>
        <p:txBody>
          <a:bodyPr/>
          <a:lstStyle/>
          <a:p>
            <a:endParaRPr lang="en-US"/>
          </a:p>
        </p:txBody>
      </p:sp>
      <p:sp>
        <p:nvSpPr>
          <p:cNvPr id="19" name="Shape 17"/>
          <p:cNvSpPr/>
          <p:nvPr/>
        </p:nvSpPr>
        <p:spPr>
          <a:xfrm>
            <a:off x="841248" y="3547872"/>
            <a:ext cx="457200" cy="457200"/>
          </a:xfrm>
          <a:prstGeom prst="ellipse">
            <a:avLst/>
          </a:prstGeom>
          <a:solidFill>
            <a:srgbClr val="D6336C"/>
          </a:solidFill>
          <a:ln/>
        </p:spPr>
        <p:txBody>
          <a:bodyPr/>
          <a:lstStyle/>
          <a:p>
            <a:endParaRPr lang="en-US"/>
          </a:p>
        </p:txBody>
      </p:sp>
      <p:sp>
        <p:nvSpPr>
          <p:cNvPr id="20" name="Text 18"/>
          <p:cNvSpPr/>
          <p:nvPr/>
        </p:nvSpPr>
        <p:spPr>
          <a:xfrm>
            <a:off x="841248" y="3547872"/>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1" name="Text 19"/>
          <p:cNvSpPr/>
          <p:nvPr/>
        </p:nvSpPr>
        <p:spPr>
          <a:xfrm>
            <a:off x="1481328" y="3429000"/>
            <a:ext cx="4754880" cy="69494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Frozen foundation encoder + small trainable head</a:t>
            </a:r>
            <a:endParaRPr lang="en-US" sz="1700" dirty="0"/>
          </a:p>
        </p:txBody>
      </p:sp>
      <p:sp>
        <p:nvSpPr>
          <p:cNvPr id="22" name="Text 20"/>
          <p:cNvSpPr/>
          <p:nvPr/>
        </p:nvSpPr>
        <p:spPr>
          <a:xfrm>
            <a:off x="6355080" y="3429000"/>
            <a:ext cx="5303520" cy="694944"/>
          </a:xfrm>
          <a:prstGeom prst="rect">
            <a:avLst/>
          </a:prstGeom>
          <a:noFill/>
          <a:ln/>
        </p:spPr>
        <p:txBody>
          <a:bodyPr wrap="square" lIns="0" tIns="0" rIns="0" bIns="0" rtlCol="0" anchor="ctr"/>
          <a:lstStyle/>
          <a:p>
            <a:pPr marL="0" indent="0">
              <a:buNone/>
            </a:pPr>
            <a:r>
              <a:rPr lang="en-US" sz="1450" dirty="0">
                <a:solidFill>
                  <a:srgbClr val="2A2233"/>
                </a:solidFill>
                <a:latin typeface="Calibri" pitchFamily="34" charset="0"/>
                <a:ea typeface="Calibri" pitchFamily="34" charset="-122"/>
                <a:cs typeface="Calibri" pitchFamily="34" charset="-120"/>
              </a:rPr>
              <a:t>UNI2 / Virchow2 / CONCH features do the heavy lifting; the aggregator is tiny and trains in minutes.</a:t>
            </a:r>
            <a:endParaRPr lang="en-US" sz="1450" dirty="0"/>
          </a:p>
        </p:txBody>
      </p:sp>
      <p:sp>
        <p:nvSpPr>
          <p:cNvPr id="23" name="Shape 21"/>
          <p:cNvSpPr/>
          <p:nvPr/>
        </p:nvSpPr>
        <p:spPr>
          <a:xfrm>
            <a:off x="640080" y="4297680"/>
            <a:ext cx="11155680" cy="877824"/>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4" name="Shape 22"/>
          <p:cNvSpPr/>
          <p:nvPr/>
        </p:nvSpPr>
        <p:spPr>
          <a:xfrm>
            <a:off x="640080" y="4297680"/>
            <a:ext cx="82296" cy="877824"/>
          </a:xfrm>
          <a:prstGeom prst="rect">
            <a:avLst/>
          </a:prstGeom>
          <a:solidFill>
            <a:srgbClr val="4A2C6D"/>
          </a:solidFill>
          <a:ln/>
        </p:spPr>
        <p:txBody>
          <a:bodyPr/>
          <a:lstStyle/>
          <a:p>
            <a:endParaRPr lang="en-US"/>
          </a:p>
        </p:txBody>
      </p:sp>
      <p:sp>
        <p:nvSpPr>
          <p:cNvPr id="25" name="Shape 23"/>
          <p:cNvSpPr/>
          <p:nvPr/>
        </p:nvSpPr>
        <p:spPr>
          <a:xfrm>
            <a:off x="841248" y="4507992"/>
            <a:ext cx="457200" cy="457200"/>
          </a:xfrm>
          <a:prstGeom prst="ellipse">
            <a:avLst/>
          </a:prstGeom>
          <a:solidFill>
            <a:srgbClr val="4A2C6D"/>
          </a:solidFill>
          <a:ln/>
        </p:spPr>
        <p:txBody>
          <a:bodyPr/>
          <a:lstStyle/>
          <a:p>
            <a:endParaRPr lang="en-US"/>
          </a:p>
        </p:txBody>
      </p:sp>
      <p:sp>
        <p:nvSpPr>
          <p:cNvPr id="26" name="Text 24"/>
          <p:cNvSpPr/>
          <p:nvPr/>
        </p:nvSpPr>
        <p:spPr>
          <a:xfrm>
            <a:off x="841248" y="4507992"/>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25"/>
          <p:cNvSpPr/>
          <p:nvPr/>
        </p:nvSpPr>
        <p:spPr>
          <a:xfrm>
            <a:off x="1481328" y="4389120"/>
            <a:ext cx="4754880" cy="69494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CLAM-SB is a strong, interpretable default</a:t>
            </a:r>
            <a:endParaRPr lang="en-US" sz="1700" dirty="0"/>
          </a:p>
        </p:txBody>
      </p:sp>
      <p:sp>
        <p:nvSpPr>
          <p:cNvPr id="28" name="Text 26"/>
          <p:cNvSpPr/>
          <p:nvPr/>
        </p:nvSpPr>
        <p:spPr>
          <a:xfrm>
            <a:off x="6355080" y="4389120"/>
            <a:ext cx="5303520" cy="694944"/>
          </a:xfrm>
          <a:prstGeom prst="rect">
            <a:avLst/>
          </a:prstGeom>
          <a:noFill/>
          <a:ln/>
        </p:spPr>
        <p:txBody>
          <a:bodyPr wrap="square" lIns="0" tIns="0" rIns="0" bIns="0" rtlCol="0" anchor="ctr"/>
          <a:lstStyle/>
          <a:p>
            <a:pPr marL="0" indent="0">
              <a:buNone/>
            </a:pPr>
            <a:r>
              <a:rPr lang="en-US" sz="1450" dirty="0">
                <a:solidFill>
                  <a:srgbClr val="2A2233"/>
                </a:solidFill>
                <a:latin typeface="Calibri" pitchFamily="34" charset="0"/>
                <a:ea typeface="Calibri" pitchFamily="34" charset="-122"/>
                <a:cs typeface="Calibri" pitchFamily="34" charset="-120"/>
              </a:rPr>
              <a:t>Gated attention + instance clustering; beat mean-pooling, then consider TransMIL / DTFD.</a:t>
            </a:r>
            <a:endParaRPr lang="en-US" sz="1450" dirty="0"/>
          </a:p>
        </p:txBody>
      </p:sp>
      <p:sp>
        <p:nvSpPr>
          <p:cNvPr id="29" name="Shape 27"/>
          <p:cNvSpPr/>
          <p:nvPr/>
        </p:nvSpPr>
        <p:spPr>
          <a:xfrm>
            <a:off x="640080" y="5257800"/>
            <a:ext cx="11155680" cy="877824"/>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30" name="Shape 28"/>
          <p:cNvSpPr/>
          <p:nvPr/>
        </p:nvSpPr>
        <p:spPr>
          <a:xfrm>
            <a:off x="640080" y="5257800"/>
            <a:ext cx="82296" cy="877824"/>
          </a:xfrm>
          <a:prstGeom prst="rect">
            <a:avLst/>
          </a:prstGeom>
          <a:solidFill>
            <a:srgbClr val="D6336C"/>
          </a:solidFill>
          <a:ln/>
        </p:spPr>
        <p:txBody>
          <a:bodyPr/>
          <a:lstStyle/>
          <a:p>
            <a:endParaRPr lang="en-US"/>
          </a:p>
        </p:txBody>
      </p:sp>
      <p:sp>
        <p:nvSpPr>
          <p:cNvPr id="31" name="Shape 29"/>
          <p:cNvSpPr/>
          <p:nvPr/>
        </p:nvSpPr>
        <p:spPr>
          <a:xfrm>
            <a:off x="841248" y="5468112"/>
            <a:ext cx="457200" cy="457200"/>
          </a:xfrm>
          <a:prstGeom prst="ellipse">
            <a:avLst/>
          </a:prstGeom>
          <a:solidFill>
            <a:srgbClr val="D6336C"/>
          </a:solidFill>
          <a:ln/>
        </p:spPr>
        <p:txBody>
          <a:bodyPr/>
          <a:lstStyle/>
          <a:p>
            <a:endParaRPr lang="en-US"/>
          </a:p>
        </p:txBody>
      </p:sp>
      <p:sp>
        <p:nvSpPr>
          <p:cNvPr id="32" name="Text 30"/>
          <p:cNvSpPr/>
          <p:nvPr/>
        </p:nvSpPr>
        <p:spPr>
          <a:xfrm>
            <a:off x="841248" y="5468112"/>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3" name="Text 31"/>
          <p:cNvSpPr/>
          <p:nvPr/>
        </p:nvSpPr>
        <p:spPr>
          <a:xfrm>
            <a:off x="1481328" y="5349240"/>
            <a:ext cx="4754880" cy="694944"/>
          </a:xfrm>
          <a:prstGeom prst="rect">
            <a:avLst/>
          </a:prstGeom>
          <a:noFill/>
          <a:ln/>
        </p:spPr>
        <p:txBody>
          <a:bodyPr wrap="square" lIns="0" tIns="0" rIns="0" bIns="0" rtlCol="0" anchor="ctr"/>
          <a:lstStyle/>
          <a:p>
            <a:pPr marL="0" indent="0">
              <a:buNone/>
            </a:pPr>
            <a:r>
              <a:rPr lang="en-US" sz="1700" b="1" dirty="0">
                <a:solidFill>
                  <a:srgbClr val="4A2C6D"/>
                </a:solidFill>
                <a:latin typeface="Calibri" pitchFamily="34" charset="0"/>
                <a:ea typeface="Calibri" pitchFamily="34" charset="-122"/>
                <a:cs typeface="Calibri" pitchFamily="34" charset="-120"/>
              </a:rPr>
              <a:t>Validate honestly</a:t>
            </a:r>
            <a:endParaRPr lang="en-US" sz="1700" dirty="0"/>
          </a:p>
        </p:txBody>
      </p:sp>
      <p:sp>
        <p:nvSpPr>
          <p:cNvPr id="34" name="Text 32"/>
          <p:cNvSpPr/>
          <p:nvPr/>
        </p:nvSpPr>
        <p:spPr>
          <a:xfrm>
            <a:off x="6355080" y="5349240"/>
            <a:ext cx="5303520" cy="694944"/>
          </a:xfrm>
          <a:prstGeom prst="rect">
            <a:avLst/>
          </a:prstGeom>
          <a:noFill/>
          <a:ln/>
        </p:spPr>
        <p:txBody>
          <a:bodyPr wrap="square" lIns="0" tIns="0" rIns="0" bIns="0" rtlCol="0" anchor="ctr"/>
          <a:lstStyle/>
          <a:p>
            <a:pPr marL="0" indent="0">
              <a:buNone/>
            </a:pPr>
            <a:r>
              <a:rPr lang="en-US" sz="1450" dirty="0">
                <a:solidFill>
                  <a:srgbClr val="2A2233"/>
                </a:solidFill>
                <a:latin typeface="Calibri" pitchFamily="34" charset="0"/>
                <a:ea typeface="Calibri" pitchFamily="34" charset="-122"/>
                <a:cs typeface="Calibri" pitchFamily="34" charset="-120"/>
              </a:rPr>
              <a:t>Patient-level splits, mean±std, external cohorts, and attention overlays — or you're fooling yourself.</a:t>
            </a:r>
            <a:endParaRPr lang="en-US" sz="1450" dirty="0"/>
          </a:p>
        </p:txBody>
      </p:sp>
      <p:sp>
        <p:nvSpPr>
          <p:cNvPr id="35" name="Text 3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6" name="Text 34"/>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47</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FA"/>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ect">
            <a:avLst/>
          </a:prstGeom>
          <a:solidFill>
            <a:srgbClr val="D6336C"/>
          </a:solidFill>
          <a:ln/>
        </p:spPr>
        <p:txBody>
          <a:bodyPr/>
          <a:lstStyle/>
          <a:p>
            <a:endParaRPr lang="en-US"/>
          </a:p>
        </p:txBody>
      </p:sp>
      <p:sp>
        <p:nvSpPr>
          <p:cNvPr id="3" name="Text 1"/>
          <p:cNvSpPr/>
          <p:nvPr/>
        </p:nvSpPr>
        <p:spPr>
          <a:xfrm>
            <a:off x="713232" y="365760"/>
            <a:ext cx="10058400" cy="256032"/>
          </a:xfrm>
          <a:prstGeom prst="rect">
            <a:avLst/>
          </a:prstGeom>
          <a:noFill/>
          <a:ln/>
        </p:spPr>
        <p:txBody>
          <a:bodyPr wrap="square" lIns="0" tIns="0" rIns="0" bIns="0" rtlCol="0" anchor="ctr"/>
          <a:lstStyle/>
          <a:p>
            <a:pPr marL="0" indent="0">
              <a:buNone/>
            </a:pPr>
            <a:r>
              <a:rPr lang="en-US" sz="1350" b="1" kern="0" spc="200" dirty="0">
                <a:solidFill>
                  <a:srgbClr val="D6336C"/>
                </a:solidFill>
                <a:latin typeface="Calibri" pitchFamily="34" charset="0"/>
                <a:ea typeface="Calibri" pitchFamily="34" charset="-122"/>
                <a:cs typeface="Calibri" pitchFamily="34" charset="-120"/>
              </a:rPr>
              <a:t>CONCLUSION · THE ROAD AHEAD</a:t>
            </a:r>
            <a:endParaRPr lang="en-US" sz="1350" dirty="0"/>
          </a:p>
        </p:txBody>
      </p:sp>
      <p:sp>
        <p:nvSpPr>
          <p:cNvPr id="4" name="Text 2"/>
          <p:cNvSpPr/>
          <p:nvPr/>
        </p:nvSpPr>
        <p:spPr>
          <a:xfrm>
            <a:off x="694944" y="566928"/>
            <a:ext cx="11064240" cy="658368"/>
          </a:xfrm>
          <a:prstGeom prst="rect">
            <a:avLst/>
          </a:prstGeom>
          <a:noFill/>
          <a:ln/>
        </p:spPr>
        <p:txBody>
          <a:bodyPr wrap="square" lIns="0" tIns="0" rIns="0" bIns="0" rtlCol="0" anchor="ctr"/>
          <a:lstStyle/>
          <a:p>
            <a:pPr marL="0" indent="0">
              <a:buNone/>
            </a:pPr>
            <a:r>
              <a:rPr lang="en-US" sz="2900" b="1" dirty="0">
                <a:solidFill>
                  <a:srgbClr val="4A2C6D"/>
                </a:solidFill>
                <a:latin typeface="Georgia" pitchFamily="34" charset="0"/>
                <a:ea typeface="Georgia" pitchFamily="34" charset="-122"/>
                <a:cs typeface="Georgia" pitchFamily="34" charset="-120"/>
              </a:rPr>
              <a:t>Where pathology MIL is going</a:t>
            </a:r>
            <a:endParaRPr lang="en-US" sz="2900" dirty="0"/>
          </a:p>
        </p:txBody>
      </p:sp>
      <p:sp>
        <p:nvSpPr>
          <p:cNvPr id="5" name="Shape 3"/>
          <p:cNvSpPr/>
          <p:nvPr/>
        </p:nvSpPr>
        <p:spPr>
          <a:xfrm>
            <a:off x="640080"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640080" y="1463040"/>
            <a:ext cx="82296" cy="1993392"/>
          </a:xfrm>
          <a:prstGeom prst="rect">
            <a:avLst/>
          </a:prstGeom>
          <a:solidFill>
            <a:srgbClr val="D6336C"/>
          </a:solidFill>
          <a:ln/>
        </p:spPr>
        <p:txBody>
          <a:bodyPr/>
          <a:lstStyle/>
          <a:p>
            <a:endParaRPr lang="en-US"/>
          </a:p>
        </p:txBody>
      </p:sp>
      <p:sp>
        <p:nvSpPr>
          <p:cNvPr id="7" name="Text 5"/>
          <p:cNvSpPr/>
          <p:nvPr/>
        </p:nvSpPr>
        <p:spPr>
          <a:xfrm>
            <a:off x="877824" y="1609344"/>
            <a:ext cx="3108960" cy="548640"/>
          </a:xfrm>
          <a:prstGeom prst="rect">
            <a:avLst/>
          </a:prstGeom>
          <a:noFill/>
          <a:ln/>
        </p:spPr>
        <p:txBody>
          <a:bodyPr wrap="square" lIns="0" tIns="0" rIns="0" bIns="0" rtlCol="0" anchor="ctr"/>
          <a:lstStyle/>
          <a:p>
            <a:pPr marL="0" indent="0">
              <a:buNone/>
            </a:pPr>
            <a:r>
              <a:rPr lang="en-US" sz="1650" b="1" dirty="0">
                <a:solidFill>
                  <a:srgbClr val="4A2C6D"/>
                </a:solidFill>
                <a:latin typeface="Calibri" pitchFamily="34" charset="0"/>
                <a:ea typeface="Calibri" pitchFamily="34" charset="-122"/>
                <a:cs typeface="Calibri" pitchFamily="34" charset="-120"/>
              </a:rPr>
              <a:t>Slide foundation models</a:t>
            </a:r>
            <a:endParaRPr lang="en-US" sz="1650" dirty="0"/>
          </a:p>
        </p:txBody>
      </p:sp>
      <p:sp>
        <p:nvSpPr>
          <p:cNvPr id="8" name="Text 6"/>
          <p:cNvSpPr/>
          <p:nvPr/>
        </p:nvSpPr>
        <p:spPr>
          <a:xfrm>
            <a:off x="877824" y="2176272"/>
            <a:ext cx="3108960" cy="118872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Pretrained aggregators (TITAN, PRISM, GigaPath, CHIEF) shrink task-data needs — MIL heads may be linear probes.</a:t>
            </a:r>
            <a:endParaRPr lang="en-US" sz="1400" dirty="0"/>
          </a:p>
        </p:txBody>
      </p:sp>
      <p:sp>
        <p:nvSpPr>
          <p:cNvPr id="9" name="Shape 7"/>
          <p:cNvSpPr/>
          <p:nvPr/>
        </p:nvSpPr>
        <p:spPr>
          <a:xfrm>
            <a:off x="4507992"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4507992" y="1463040"/>
            <a:ext cx="82296" cy="1993392"/>
          </a:xfrm>
          <a:prstGeom prst="rect">
            <a:avLst/>
          </a:prstGeom>
          <a:solidFill>
            <a:srgbClr val="4A2C6D"/>
          </a:solidFill>
          <a:ln/>
        </p:spPr>
        <p:txBody>
          <a:bodyPr/>
          <a:lstStyle/>
          <a:p>
            <a:endParaRPr lang="en-US"/>
          </a:p>
        </p:txBody>
      </p:sp>
      <p:sp>
        <p:nvSpPr>
          <p:cNvPr id="11" name="Text 9"/>
          <p:cNvSpPr/>
          <p:nvPr/>
        </p:nvSpPr>
        <p:spPr>
          <a:xfrm>
            <a:off x="4745736" y="1609344"/>
            <a:ext cx="3108960" cy="548640"/>
          </a:xfrm>
          <a:prstGeom prst="rect">
            <a:avLst/>
          </a:prstGeom>
          <a:noFill/>
          <a:ln/>
        </p:spPr>
        <p:txBody>
          <a:bodyPr wrap="square" lIns="0" tIns="0" rIns="0" bIns="0" rtlCol="0" anchor="ctr"/>
          <a:lstStyle/>
          <a:p>
            <a:pPr marL="0" indent="0">
              <a:buNone/>
            </a:pPr>
            <a:r>
              <a:rPr lang="en-US" sz="1650" b="1" dirty="0">
                <a:solidFill>
                  <a:srgbClr val="4A2C6D"/>
                </a:solidFill>
                <a:latin typeface="Calibri" pitchFamily="34" charset="0"/>
                <a:ea typeface="Calibri" pitchFamily="34" charset="-122"/>
                <a:cs typeface="Calibri" pitchFamily="34" charset="-120"/>
              </a:rPr>
              <a:t>Multimodal integration</a:t>
            </a:r>
            <a:endParaRPr lang="en-US" sz="1650" dirty="0"/>
          </a:p>
        </p:txBody>
      </p:sp>
      <p:sp>
        <p:nvSpPr>
          <p:cNvPr id="12" name="Text 10"/>
          <p:cNvSpPr/>
          <p:nvPr/>
        </p:nvSpPr>
        <p:spPr>
          <a:xfrm>
            <a:off x="4745736" y="2176272"/>
            <a:ext cx="3108960" cy="118872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Fuse histology with genomics, transcriptomics, radiology &amp; text reports for richer prediction.</a:t>
            </a:r>
            <a:endParaRPr lang="en-US" sz="1400" dirty="0"/>
          </a:p>
        </p:txBody>
      </p:sp>
      <p:sp>
        <p:nvSpPr>
          <p:cNvPr id="13" name="Shape 11"/>
          <p:cNvSpPr/>
          <p:nvPr/>
        </p:nvSpPr>
        <p:spPr>
          <a:xfrm>
            <a:off x="8375904" y="1463040"/>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8375904" y="1463040"/>
            <a:ext cx="82296" cy="1993392"/>
          </a:xfrm>
          <a:prstGeom prst="rect">
            <a:avLst/>
          </a:prstGeom>
          <a:solidFill>
            <a:srgbClr val="1C8C8C"/>
          </a:solidFill>
          <a:ln/>
        </p:spPr>
        <p:txBody>
          <a:bodyPr/>
          <a:lstStyle/>
          <a:p>
            <a:endParaRPr lang="en-US"/>
          </a:p>
        </p:txBody>
      </p:sp>
      <p:sp>
        <p:nvSpPr>
          <p:cNvPr id="15" name="Text 13"/>
          <p:cNvSpPr/>
          <p:nvPr/>
        </p:nvSpPr>
        <p:spPr>
          <a:xfrm>
            <a:off x="8613648" y="1609344"/>
            <a:ext cx="3108960" cy="548640"/>
          </a:xfrm>
          <a:prstGeom prst="rect">
            <a:avLst/>
          </a:prstGeom>
          <a:noFill/>
          <a:ln/>
        </p:spPr>
        <p:txBody>
          <a:bodyPr wrap="square" lIns="0" tIns="0" rIns="0" bIns="0" rtlCol="0" anchor="ctr"/>
          <a:lstStyle/>
          <a:p>
            <a:pPr marL="0" indent="0">
              <a:buNone/>
            </a:pPr>
            <a:r>
              <a:rPr lang="en-US" sz="1650" b="1" dirty="0">
                <a:solidFill>
                  <a:srgbClr val="4A2C6D"/>
                </a:solidFill>
                <a:latin typeface="Calibri" pitchFamily="34" charset="0"/>
                <a:ea typeface="Calibri" pitchFamily="34" charset="-122"/>
                <a:cs typeface="Calibri" pitchFamily="34" charset="-120"/>
              </a:rPr>
              <a:t>Vision-language &amp; agents</a:t>
            </a:r>
            <a:endParaRPr lang="en-US" sz="1650" dirty="0"/>
          </a:p>
        </p:txBody>
      </p:sp>
      <p:sp>
        <p:nvSpPr>
          <p:cNvPr id="16" name="Text 14"/>
          <p:cNvSpPr/>
          <p:nvPr/>
        </p:nvSpPr>
        <p:spPr>
          <a:xfrm>
            <a:off x="8613648" y="2176272"/>
            <a:ext cx="3108960" cy="118872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CONCH-style zero-shot, report generation, and conversational pathology assistants.</a:t>
            </a:r>
            <a:endParaRPr lang="en-US" sz="1400" dirty="0"/>
          </a:p>
        </p:txBody>
      </p:sp>
      <p:sp>
        <p:nvSpPr>
          <p:cNvPr id="17" name="Shape 15"/>
          <p:cNvSpPr/>
          <p:nvPr/>
        </p:nvSpPr>
        <p:spPr>
          <a:xfrm>
            <a:off x="640080" y="3712464"/>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40080" y="3712464"/>
            <a:ext cx="82296" cy="1993392"/>
          </a:xfrm>
          <a:prstGeom prst="rect">
            <a:avLst/>
          </a:prstGeom>
          <a:solidFill>
            <a:srgbClr val="6B4E8F"/>
          </a:solidFill>
          <a:ln/>
        </p:spPr>
        <p:txBody>
          <a:bodyPr/>
          <a:lstStyle/>
          <a:p>
            <a:endParaRPr lang="en-US"/>
          </a:p>
        </p:txBody>
      </p:sp>
      <p:sp>
        <p:nvSpPr>
          <p:cNvPr id="19" name="Text 17"/>
          <p:cNvSpPr/>
          <p:nvPr/>
        </p:nvSpPr>
        <p:spPr>
          <a:xfrm>
            <a:off x="877824" y="3858768"/>
            <a:ext cx="3108960" cy="548640"/>
          </a:xfrm>
          <a:prstGeom prst="rect">
            <a:avLst/>
          </a:prstGeom>
          <a:noFill/>
          <a:ln/>
        </p:spPr>
        <p:txBody>
          <a:bodyPr wrap="square" lIns="0" tIns="0" rIns="0" bIns="0" rtlCol="0" anchor="ctr"/>
          <a:lstStyle/>
          <a:p>
            <a:pPr marL="0" indent="0">
              <a:buNone/>
            </a:pPr>
            <a:r>
              <a:rPr lang="en-US" sz="1650" b="1" dirty="0">
                <a:solidFill>
                  <a:srgbClr val="4A2C6D"/>
                </a:solidFill>
                <a:latin typeface="Calibri" pitchFamily="34" charset="0"/>
                <a:ea typeface="Calibri" pitchFamily="34" charset="-122"/>
                <a:cs typeface="Calibri" pitchFamily="34" charset="-120"/>
              </a:rPr>
              <a:t>Spatial &amp; cell-level reasoning</a:t>
            </a:r>
            <a:endParaRPr lang="en-US" sz="1650" dirty="0"/>
          </a:p>
        </p:txBody>
      </p:sp>
      <p:sp>
        <p:nvSpPr>
          <p:cNvPr id="20" name="Text 18"/>
          <p:cNvSpPr/>
          <p:nvPr/>
        </p:nvSpPr>
        <p:spPr>
          <a:xfrm>
            <a:off x="877824" y="4425696"/>
            <a:ext cx="3108960" cy="118872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Combine MIL with cell segmentation / graphs for spatial-biology-aware models.</a:t>
            </a:r>
            <a:endParaRPr lang="en-US" sz="1400" dirty="0"/>
          </a:p>
        </p:txBody>
      </p:sp>
      <p:sp>
        <p:nvSpPr>
          <p:cNvPr id="21" name="Shape 19"/>
          <p:cNvSpPr/>
          <p:nvPr/>
        </p:nvSpPr>
        <p:spPr>
          <a:xfrm>
            <a:off x="4507992" y="3712464"/>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4507992" y="3712464"/>
            <a:ext cx="82296" cy="1993392"/>
          </a:xfrm>
          <a:prstGeom prst="rect">
            <a:avLst/>
          </a:prstGeom>
          <a:solidFill>
            <a:srgbClr val="C77D14"/>
          </a:solidFill>
          <a:ln/>
        </p:spPr>
        <p:txBody>
          <a:bodyPr/>
          <a:lstStyle/>
          <a:p>
            <a:endParaRPr lang="en-US"/>
          </a:p>
        </p:txBody>
      </p:sp>
      <p:sp>
        <p:nvSpPr>
          <p:cNvPr id="23" name="Text 21"/>
          <p:cNvSpPr/>
          <p:nvPr/>
        </p:nvSpPr>
        <p:spPr>
          <a:xfrm>
            <a:off x="4745736" y="3858768"/>
            <a:ext cx="3108960" cy="548640"/>
          </a:xfrm>
          <a:prstGeom prst="rect">
            <a:avLst/>
          </a:prstGeom>
          <a:noFill/>
          <a:ln/>
        </p:spPr>
        <p:txBody>
          <a:bodyPr wrap="square" lIns="0" tIns="0" rIns="0" bIns="0" rtlCol="0" anchor="ctr"/>
          <a:lstStyle/>
          <a:p>
            <a:pPr marL="0" indent="0">
              <a:buNone/>
            </a:pPr>
            <a:r>
              <a:rPr lang="en-US" sz="1650" b="1" dirty="0">
                <a:solidFill>
                  <a:srgbClr val="4A2C6D"/>
                </a:solidFill>
                <a:latin typeface="Calibri" pitchFamily="34" charset="0"/>
                <a:ea typeface="Calibri" pitchFamily="34" charset="-122"/>
                <a:cs typeface="Calibri" pitchFamily="34" charset="-120"/>
              </a:rPr>
              <a:t>Robustness &amp; fairness</a:t>
            </a:r>
            <a:endParaRPr lang="en-US" sz="1650" dirty="0"/>
          </a:p>
        </p:txBody>
      </p:sp>
      <p:sp>
        <p:nvSpPr>
          <p:cNvPr id="24" name="Text 22"/>
          <p:cNvSpPr/>
          <p:nvPr/>
        </p:nvSpPr>
        <p:spPr>
          <a:xfrm>
            <a:off x="4745736" y="4425696"/>
            <a:ext cx="3108960" cy="118872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Stain/scanner invariance, calibration, and equitable performance as deployment scales.</a:t>
            </a:r>
            <a:endParaRPr lang="en-US" sz="1400" dirty="0"/>
          </a:p>
        </p:txBody>
      </p:sp>
      <p:sp>
        <p:nvSpPr>
          <p:cNvPr id="25" name="Shape 23"/>
          <p:cNvSpPr/>
          <p:nvPr/>
        </p:nvSpPr>
        <p:spPr>
          <a:xfrm>
            <a:off x="8375904" y="3712464"/>
            <a:ext cx="3566160" cy="1993392"/>
          </a:xfrm>
          <a:prstGeom prst="rect">
            <a:avLst/>
          </a:prstGeom>
          <a:solidFill>
            <a:srgbClr val="FFFFFF"/>
          </a:solidFill>
          <a:ln w="12700">
            <a:solidFill>
              <a:srgbClr val="E4DCEC"/>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4"/>
          <p:cNvSpPr/>
          <p:nvPr/>
        </p:nvSpPr>
        <p:spPr>
          <a:xfrm>
            <a:off x="8375904" y="3712464"/>
            <a:ext cx="82296" cy="1993392"/>
          </a:xfrm>
          <a:prstGeom prst="rect">
            <a:avLst/>
          </a:prstGeom>
          <a:solidFill>
            <a:srgbClr val="D6336C"/>
          </a:solidFill>
          <a:ln/>
        </p:spPr>
        <p:txBody>
          <a:bodyPr/>
          <a:lstStyle/>
          <a:p>
            <a:endParaRPr lang="en-US"/>
          </a:p>
        </p:txBody>
      </p:sp>
      <p:sp>
        <p:nvSpPr>
          <p:cNvPr id="27" name="Text 25"/>
          <p:cNvSpPr/>
          <p:nvPr/>
        </p:nvSpPr>
        <p:spPr>
          <a:xfrm>
            <a:off x="8613648" y="3858768"/>
            <a:ext cx="3108960" cy="548640"/>
          </a:xfrm>
          <a:prstGeom prst="rect">
            <a:avLst/>
          </a:prstGeom>
          <a:noFill/>
          <a:ln/>
        </p:spPr>
        <p:txBody>
          <a:bodyPr wrap="square" lIns="0" tIns="0" rIns="0" bIns="0" rtlCol="0" anchor="ctr"/>
          <a:lstStyle/>
          <a:p>
            <a:pPr marL="0" indent="0">
              <a:buNone/>
            </a:pPr>
            <a:r>
              <a:rPr lang="en-US" sz="1650" b="1" dirty="0">
                <a:solidFill>
                  <a:srgbClr val="4A2C6D"/>
                </a:solidFill>
                <a:latin typeface="Calibri" pitchFamily="34" charset="0"/>
                <a:ea typeface="Calibri" pitchFamily="34" charset="-122"/>
                <a:cs typeface="Calibri" pitchFamily="34" charset="-120"/>
              </a:rPr>
              <a:t>Regulation &amp; clinical trust</a:t>
            </a:r>
            <a:endParaRPr lang="en-US" sz="1650" dirty="0"/>
          </a:p>
        </p:txBody>
      </p:sp>
      <p:sp>
        <p:nvSpPr>
          <p:cNvPr id="28" name="Text 26"/>
          <p:cNvSpPr/>
          <p:nvPr/>
        </p:nvSpPr>
        <p:spPr>
          <a:xfrm>
            <a:off x="8613648" y="4425696"/>
            <a:ext cx="3108960" cy="1188720"/>
          </a:xfrm>
          <a:prstGeom prst="rect">
            <a:avLst/>
          </a:prstGeom>
          <a:noFill/>
          <a:ln/>
        </p:spPr>
        <p:txBody>
          <a:bodyPr wrap="square" lIns="0" tIns="0" rIns="0" bIns="0" rtlCol="0" anchor="t"/>
          <a:lstStyle/>
          <a:p>
            <a:pPr marL="0" indent="0">
              <a:buNone/>
            </a:pPr>
            <a:r>
              <a:rPr lang="en-US" sz="1400" dirty="0">
                <a:solidFill>
                  <a:srgbClr val="2A2233"/>
                </a:solidFill>
                <a:latin typeface="Calibri" pitchFamily="34" charset="0"/>
                <a:ea typeface="Calibri" pitchFamily="34" charset="-122"/>
                <a:cs typeface="Calibri" pitchFamily="34" charset="-120"/>
              </a:rPr>
              <a:t>Prospective validation, explainability standards, and reimbursement pathways.</a:t>
            </a:r>
            <a:endParaRPr lang="en-US" sz="1400" dirty="0"/>
          </a:p>
        </p:txBody>
      </p:sp>
      <p:sp>
        <p:nvSpPr>
          <p:cNvPr id="29" name="Text 2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A7F99"/>
                </a:solidFill>
                <a:latin typeface="Calibri" pitchFamily="34" charset="0"/>
                <a:ea typeface="Calibri" pitchFamily="34" charset="-122"/>
                <a:cs typeface="Calibri" pitchFamily="34" charset="-120"/>
              </a:rPr>
              <a:t>Introduction to Pathology MIL</a:t>
            </a:r>
            <a:endParaRPr lang="en-US" sz="1150" dirty="0"/>
          </a:p>
        </p:txBody>
      </p:sp>
      <p:sp>
        <p:nvSpPr>
          <p:cNvPr id="30" name="Text 28"/>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A7F99"/>
                </a:solidFill>
                <a:latin typeface="Calibri" pitchFamily="34" charset="0"/>
                <a:ea typeface="Calibri" pitchFamily="34" charset="-122"/>
                <a:cs typeface="Calibri" pitchFamily="34" charset="-120"/>
              </a:rPr>
              <a:t>48</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241436"/>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D6336C"/>
          </a:solidFill>
          <a:ln/>
        </p:spPr>
        <p:txBody>
          <a:bodyPr/>
          <a:lstStyle/>
          <a:p>
            <a:endParaRPr lang="en-US"/>
          </a:p>
        </p:txBody>
      </p:sp>
      <p:sp>
        <p:nvSpPr>
          <p:cNvPr id="3" name="Text 1"/>
          <p:cNvSpPr/>
          <p:nvPr/>
        </p:nvSpPr>
        <p:spPr>
          <a:xfrm>
            <a:off x="640080" y="502920"/>
            <a:ext cx="7315200" cy="320040"/>
          </a:xfrm>
          <a:prstGeom prst="rect">
            <a:avLst/>
          </a:prstGeom>
          <a:noFill/>
          <a:ln/>
        </p:spPr>
        <p:txBody>
          <a:bodyPr wrap="square" lIns="0" tIns="0" rIns="0" bIns="0" rtlCol="0" anchor="ctr"/>
          <a:lstStyle/>
          <a:p>
            <a:pPr marL="0" indent="0">
              <a:buNone/>
            </a:pPr>
            <a:r>
              <a:rPr lang="en-US" sz="1550" b="1" kern="0" spc="300" dirty="0">
                <a:solidFill>
                  <a:srgbClr val="F2A9C4"/>
                </a:solidFill>
                <a:latin typeface="Calibri" pitchFamily="34" charset="0"/>
                <a:ea typeface="Calibri" pitchFamily="34" charset="-122"/>
                <a:cs typeface="Calibri" pitchFamily="34" charset="-120"/>
              </a:rPr>
              <a:t>WRAP-UP</a:t>
            </a:r>
            <a:endParaRPr lang="en-US" sz="1550" dirty="0"/>
          </a:p>
        </p:txBody>
      </p:sp>
      <p:sp>
        <p:nvSpPr>
          <p:cNvPr id="4" name="Text 2"/>
          <p:cNvSpPr/>
          <p:nvPr/>
        </p:nvSpPr>
        <p:spPr>
          <a:xfrm>
            <a:off x="621792" y="822960"/>
            <a:ext cx="10058400" cy="640080"/>
          </a:xfrm>
          <a:prstGeom prst="rect">
            <a:avLst/>
          </a:prstGeom>
          <a:noFill/>
          <a:ln/>
        </p:spPr>
        <p:txBody>
          <a:bodyPr wrap="square" lIns="0" tIns="0" rIns="0" bIns="0" rtlCol="0" anchor="ctr"/>
          <a:lstStyle/>
          <a:p>
            <a:pPr marL="0" indent="0">
              <a:buNone/>
            </a:pPr>
            <a:r>
              <a:rPr lang="en-US" sz="3300" b="1" dirty="0">
                <a:solidFill>
                  <a:srgbClr val="FFFFFF"/>
                </a:solidFill>
                <a:latin typeface="Georgia" pitchFamily="34" charset="0"/>
                <a:ea typeface="Georgia" pitchFamily="34" charset="-122"/>
                <a:cs typeface="Georgia" pitchFamily="34" charset="-120"/>
              </a:rPr>
              <a:t>Test yourself &amp; keep learning</a:t>
            </a:r>
            <a:endParaRPr lang="en-US" sz="3300" dirty="0"/>
          </a:p>
        </p:txBody>
      </p:sp>
      <p:sp>
        <p:nvSpPr>
          <p:cNvPr id="5" name="Shape 3"/>
          <p:cNvSpPr/>
          <p:nvPr/>
        </p:nvSpPr>
        <p:spPr>
          <a:xfrm>
            <a:off x="640080" y="1783080"/>
            <a:ext cx="5486400" cy="4160520"/>
          </a:xfrm>
          <a:prstGeom prst="roundRect">
            <a:avLst>
              <a:gd name="adj" fmla="val 1319"/>
            </a:avLst>
          </a:prstGeom>
          <a:solidFill>
            <a:srgbClr val="31203F"/>
          </a:solidFill>
          <a:ln w="19050">
            <a:solidFill>
              <a:srgbClr val="D6336C"/>
            </a:solidFill>
            <a:prstDash val="solid"/>
          </a:ln>
        </p:spPr>
        <p:txBody>
          <a:bodyPr/>
          <a:lstStyle/>
          <a:p>
            <a:endParaRPr lang="en-US"/>
          </a:p>
        </p:txBody>
      </p:sp>
      <p:sp>
        <p:nvSpPr>
          <p:cNvPr id="6" name="Text 4"/>
          <p:cNvSpPr/>
          <p:nvPr/>
        </p:nvSpPr>
        <p:spPr>
          <a:xfrm>
            <a:off x="914400" y="2011680"/>
            <a:ext cx="4937760" cy="411480"/>
          </a:xfrm>
          <a:prstGeom prst="rect">
            <a:avLst/>
          </a:prstGeom>
          <a:noFill/>
          <a:ln/>
        </p:spPr>
        <p:txBody>
          <a:bodyPr wrap="square" lIns="0" tIns="0" rIns="0" bIns="0" rtlCol="0" anchor="ctr"/>
          <a:lstStyle/>
          <a:p>
            <a:pPr marL="0" indent="0">
              <a:buNone/>
            </a:pPr>
            <a:r>
              <a:rPr lang="en-US" sz="2000" b="1" dirty="0">
                <a:solidFill>
                  <a:srgbClr val="F2A9C4"/>
                </a:solidFill>
                <a:latin typeface="Calibri" pitchFamily="34" charset="0"/>
                <a:ea typeface="Calibri" pitchFamily="34" charset="-122"/>
                <a:cs typeface="Calibri" pitchFamily="34" charset="-120"/>
              </a:rPr>
              <a:t>◆  NotebookLM Quiz</a:t>
            </a:r>
            <a:endParaRPr lang="en-US" sz="2000" dirty="0"/>
          </a:p>
        </p:txBody>
      </p:sp>
      <p:sp>
        <p:nvSpPr>
          <p:cNvPr id="7" name="Text 5"/>
          <p:cNvSpPr/>
          <p:nvPr/>
        </p:nvSpPr>
        <p:spPr>
          <a:xfrm>
            <a:off x="914400" y="2487168"/>
            <a:ext cx="4937760" cy="822960"/>
          </a:xfrm>
          <a:prstGeom prst="rect">
            <a:avLst/>
          </a:prstGeom>
          <a:noFill/>
          <a:ln/>
        </p:spPr>
        <p:txBody>
          <a:bodyPr wrap="square" lIns="0" tIns="0" rIns="0" bIns="0" rtlCol="0" anchor="t"/>
          <a:lstStyle/>
          <a:p>
            <a:pPr marL="0" indent="0">
              <a:lnSpc>
                <a:spcPct val="110000"/>
              </a:lnSpc>
              <a:buNone/>
            </a:pPr>
            <a:r>
              <a:rPr lang="en-US" sz="1550" dirty="0">
                <a:solidFill>
                  <a:srgbClr val="E7DDF2"/>
                </a:solidFill>
                <a:latin typeface="Calibri" pitchFamily="34" charset="0"/>
                <a:ea typeface="Calibri" pitchFamily="34" charset="-122"/>
                <a:cs typeface="Calibri" pitchFamily="34" charset="-120"/>
              </a:rPr>
              <a:t>Upload </a:t>
            </a:r>
            <a:r>
              <a:rPr lang="en-US" sz="1550" dirty="0">
                <a:solidFill>
                  <a:srgbClr val="F2A9C4"/>
                </a:solidFill>
                <a:latin typeface="Courier New" pitchFamily="34" charset="0"/>
                <a:ea typeface="Courier New" pitchFamily="34" charset="-122"/>
                <a:cs typeface="Courier New" pitchFamily="34" charset="-120"/>
              </a:rPr>
              <a:t>quiz/MIL_quiz_source.md</a:t>
            </a:r>
            <a:r>
              <a:rPr lang="en-US" sz="1550" dirty="0">
                <a:solidFill>
                  <a:srgbClr val="E7DDF2"/>
                </a:solidFill>
                <a:latin typeface="Calibri" pitchFamily="34" charset="0"/>
                <a:ea typeface="Calibri" pitchFamily="34" charset="-122"/>
                <a:cs typeface="Calibri" pitchFamily="34" charset="-120"/>
              </a:rPr>
              <a:t> to NotebookLM to auto-generate flashcards, an audio overview, and a quiz.</a:t>
            </a:r>
            <a:endParaRPr lang="en-US" sz="1550" dirty="0"/>
          </a:p>
        </p:txBody>
      </p:sp>
      <p:sp>
        <p:nvSpPr>
          <p:cNvPr id="8" name="Text 6"/>
          <p:cNvSpPr/>
          <p:nvPr/>
        </p:nvSpPr>
        <p:spPr>
          <a:xfrm>
            <a:off x="914400" y="3383280"/>
            <a:ext cx="4937760" cy="237744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rgbClr val="E7DDF2"/>
                </a:solidFill>
                <a:latin typeface="Calibri" pitchFamily="34" charset="0"/>
                <a:ea typeface="Calibri" pitchFamily="34" charset="-122"/>
                <a:cs typeface="Calibri" pitchFamily="34" charset="-120"/>
              </a:rPr>
              <a:t>20 questions spanning all 9 sections.</a:t>
            </a:r>
            <a:endParaRPr lang="en-US" sz="1700" dirty="0"/>
          </a:p>
          <a:p>
            <a:pPr marL="203200" indent="-203200">
              <a:spcAft>
                <a:spcPts val="900"/>
              </a:spcAft>
              <a:buSzPct val="100000"/>
              <a:buChar char="•"/>
            </a:pPr>
            <a:r>
              <a:rPr lang="en-US" sz="1700" dirty="0">
                <a:solidFill>
                  <a:srgbClr val="E7DDF2"/>
                </a:solidFill>
                <a:latin typeface="Calibri" pitchFamily="34" charset="0"/>
                <a:ea typeface="Calibri" pitchFamily="34" charset="-122"/>
                <a:cs typeface="Calibri" pitchFamily="34" charset="-120"/>
              </a:rPr>
              <a:t>Conceptual (MIL assumption, attention) + practical (splitting, leakage).</a:t>
            </a:r>
            <a:endParaRPr lang="en-US" sz="1700" dirty="0"/>
          </a:p>
          <a:p>
            <a:pPr marL="203200" indent="-203200">
              <a:spcAft>
                <a:spcPts val="900"/>
              </a:spcAft>
              <a:buSzPct val="100000"/>
              <a:buChar char="•"/>
            </a:pPr>
            <a:r>
              <a:rPr lang="en-US" sz="1700" dirty="0">
                <a:solidFill>
                  <a:srgbClr val="E7DDF2"/>
                </a:solidFill>
                <a:latin typeface="Calibri" pitchFamily="34" charset="0"/>
                <a:ea typeface="Calibri" pitchFamily="34" charset="-122"/>
                <a:cs typeface="Calibri" pitchFamily="34" charset="-120"/>
              </a:rPr>
              <a:t>Answer key with explanations included.</a:t>
            </a:r>
            <a:endParaRPr lang="en-US" sz="1700" dirty="0"/>
          </a:p>
          <a:p>
            <a:pPr marL="203200" indent="-203200">
              <a:spcAft>
                <a:spcPts val="900"/>
              </a:spcAft>
              <a:buSzPct val="100000"/>
              <a:buChar char="•"/>
            </a:pPr>
            <a:r>
              <a:rPr lang="en-US" sz="1700" dirty="0">
                <a:solidFill>
                  <a:srgbClr val="E7DDF2"/>
                </a:solidFill>
                <a:latin typeface="Calibri" pitchFamily="34" charset="0"/>
                <a:ea typeface="Calibri" pitchFamily="34" charset="-122"/>
                <a:cs typeface="Calibri" pitchFamily="34" charset="-120"/>
              </a:rPr>
              <a:t>Pairs with the 5 hands-on notebooks for a full self-study loop.</a:t>
            </a:r>
            <a:endParaRPr lang="en-US" sz="1700" dirty="0"/>
          </a:p>
        </p:txBody>
      </p:sp>
      <p:sp>
        <p:nvSpPr>
          <p:cNvPr id="9" name="Shape 7"/>
          <p:cNvSpPr/>
          <p:nvPr/>
        </p:nvSpPr>
        <p:spPr>
          <a:xfrm>
            <a:off x="6355080" y="1783080"/>
            <a:ext cx="5440680" cy="4160520"/>
          </a:xfrm>
          <a:prstGeom prst="roundRect">
            <a:avLst>
              <a:gd name="adj" fmla="val 1319"/>
            </a:avLst>
          </a:prstGeom>
          <a:solidFill>
            <a:srgbClr val="31203F"/>
          </a:solidFill>
          <a:ln w="19050">
            <a:solidFill>
              <a:srgbClr val="1C8C8C"/>
            </a:solidFill>
            <a:prstDash val="solid"/>
          </a:ln>
        </p:spPr>
        <p:txBody>
          <a:bodyPr/>
          <a:lstStyle/>
          <a:p>
            <a:endParaRPr lang="en-US"/>
          </a:p>
        </p:txBody>
      </p:sp>
      <p:sp>
        <p:nvSpPr>
          <p:cNvPr id="10" name="Text 8"/>
          <p:cNvSpPr/>
          <p:nvPr/>
        </p:nvSpPr>
        <p:spPr>
          <a:xfrm>
            <a:off x="6629400" y="2011680"/>
            <a:ext cx="4937760" cy="411480"/>
          </a:xfrm>
          <a:prstGeom prst="rect">
            <a:avLst/>
          </a:prstGeom>
          <a:noFill/>
          <a:ln/>
        </p:spPr>
        <p:txBody>
          <a:bodyPr wrap="square" lIns="0" tIns="0" rIns="0" bIns="0" rtlCol="0" anchor="ctr"/>
          <a:lstStyle/>
          <a:p>
            <a:pPr marL="0" indent="0">
              <a:buNone/>
            </a:pPr>
            <a:r>
              <a:rPr lang="en-US" sz="2000" b="1" dirty="0">
                <a:solidFill>
                  <a:srgbClr val="7FD7D7"/>
                </a:solidFill>
                <a:latin typeface="Calibri" pitchFamily="34" charset="0"/>
                <a:ea typeface="Calibri" pitchFamily="34" charset="-122"/>
                <a:cs typeface="Calibri" pitchFamily="34" charset="-120"/>
              </a:rPr>
              <a:t>Key references</a:t>
            </a:r>
            <a:endParaRPr lang="en-US" sz="2000" dirty="0"/>
          </a:p>
        </p:txBody>
      </p:sp>
      <p:sp>
        <p:nvSpPr>
          <p:cNvPr id="11" name="Text 9"/>
          <p:cNvSpPr/>
          <p:nvPr/>
        </p:nvSpPr>
        <p:spPr>
          <a:xfrm>
            <a:off x="6629400" y="2514600"/>
            <a:ext cx="4983480" cy="3291840"/>
          </a:xfrm>
          <a:prstGeom prst="rect">
            <a:avLst/>
          </a:prstGeom>
          <a:noFill/>
          <a:ln/>
        </p:spPr>
        <p:txBody>
          <a:bodyPr wrap="square" lIns="0" tIns="0" rIns="0" bIns="0" rtlCol="0" anchor="t"/>
          <a:lstStyle/>
          <a:p>
            <a:pPr marL="177800" indent="-177800">
              <a:spcAft>
                <a:spcPts val="700"/>
              </a:spcAft>
              <a:buSzPct val="100000"/>
              <a:buChar char="•"/>
            </a:pPr>
            <a:r>
              <a:rPr lang="en-US" sz="1450" dirty="0">
                <a:solidFill>
                  <a:srgbClr val="E7DDF2"/>
                </a:solidFill>
                <a:latin typeface="Calibri" pitchFamily="34" charset="0"/>
                <a:ea typeface="Calibri" pitchFamily="34" charset="-122"/>
                <a:cs typeface="Calibri" pitchFamily="34" charset="-120"/>
              </a:rPr>
              <a:t>Ilse et al. — Attention-based Deep MIL, ICML 2018</a:t>
            </a:r>
            <a:endParaRPr lang="en-US" sz="1450" dirty="0"/>
          </a:p>
          <a:p>
            <a:pPr marL="177800" indent="-177800">
              <a:spcAft>
                <a:spcPts val="700"/>
              </a:spcAft>
              <a:buSzPct val="100000"/>
              <a:buChar char="•"/>
            </a:pPr>
            <a:r>
              <a:rPr lang="en-US" sz="1450" dirty="0">
                <a:solidFill>
                  <a:srgbClr val="E7DDF2"/>
                </a:solidFill>
                <a:latin typeface="Calibri" pitchFamily="34" charset="0"/>
                <a:ea typeface="Calibri" pitchFamily="34" charset="-122"/>
                <a:cs typeface="Calibri" pitchFamily="34" charset="-120"/>
              </a:rPr>
              <a:t>Lu et al. — CLAM, Nature Biomed. Eng. 2021</a:t>
            </a:r>
            <a:endParaRPr lang="en-US" sz="1450" dirty="0"/>
          </a:p>
          <a:p>
            <a:pPr marL="177800" indent="-177800">
              <a:spcAft>
                <a:spcPts val="700"/>
              </a:spcAft>
              <a:buSzPct val="100000"/>
              <a:buChar char="•"/>
            </a:pPr>
            <a:r>
              <a:rPr lang="en-US" sz="1450" dirty="0">
                <a:solidFill>
                  <a:srgbClr val="E7DDF2"/>
                </a:solidFill>
                <a:latin typeface="Calibri" pitchFamily="34" charset="0"/>
                <a:ea typeface="Calibri" pitchFamily="34" charset="-122"/>
                <a:cs typeface="Calibri" pitchFamily="34" charset="-120"/>
              </a:rPr>
              <a:t>Shao et al. — TransMIL, NeurIPS 2021</a:t>
            </a:r>
            <a:endParaRPr lang="en-US" sz="1450" dirty="0"/>
          </a:p>
          <a:p>
            <a:pPr marL="177800" indent="-177800">
              <a:spcAft>
                <a:spcPts val="700"/>
              </a:spcAft>
              <a:buSzPct val="100000"/>
              <a:buChar char="•"/>
            </a:pPr>
            <a:r>
              <a:rPr lang="en-US" sz="1450" dirty="0">
                <a:solidFill>
                  <a:srgbClr val="E7DDF2"/>
                </a:solidFill>
                <a:latin typeface="Calibri" pitchFamily="34" charset="0"/>
                <a:ea typeface="Calibri" pitchFamily="34" charset="-122"/>
                <a:cs typeface="Calibri" pitchFamily="34" charset="-120"/>
              </a:rPr>
              <a:t>Chen et al. — UNI, Nature Medicine 2024</a:t>
            </a:r>
            <a:endParaRPr lang="en-US" sz="1450" dirty="0"/>
          </a:p>
          <a:p>
            <a:pPr marL="177800" indent="-177800">
              <a:spcAft>
                <a:spcPts val="700"/>
              </a:spcAft>
              <a:buSzPct val="100000"/>
              <a:buChar char="•"/>
            </a:pPr>
            <a:r>
              <a:rPr lang="en-US" sz="1450" dirty="0">
                <a:solidFill>
                  <a:srgbClr val="E7DDF2"/>
                </a:solidFill>
                <a:latin typeface="Calibri" pitchFamily="34" charset="0"/>
                <a:ea typeface="Calibri" pitchFamily="34" charset="-122"/>
                <a:cs typeface="Calibri" pitchFamily="34" charset="-120"/>
              </a:rPr>
              <a:t>Lu et al. — CONCH, Nature Medicine 2024</a:t>
            </a:r>
            <a:endParaRPr lang="en-US" sz="1450" dirty="0"/>
          </a:p>
          <a:p>
            <a:pPr marL="177800" indent="-177800">
              <a:spcAft>
                <a:spcPts val="700"/>
              </a:spcAft>
              <a:buSzPct val="100000"/>
              <a:buChar char="•"/>
            </a:pPr>
            <a:r>
              <a:rPr lang="en-US" sz="1450" dirty="0">
                <a:solidFill>
                  <a:srgbClr val="E7DDF2"/>
                </a:solidFill>
                <a:latin typeface="Calibri" pitchFamily="34" charset="0"/>
                <a:ea typeface="Calibri" pitchFamily="34" charset="-122"/>
                <a:cs typeface="Calibri" pitchFamily="34" charset="-120"/>
              </a:rPr>
              <a:t>Vorontsov et al. — Virchow, Nature Medicine 2024</a:t>
            </a:r>
            <a:endParaRPr lang="en-US" sz="1450" dirty="0"/>
          </a:p>
          <a:p>
            <a:pPr marL="177800" indent="-177800">
              <a:spcAft>
                <a:spcPts val="700"/>
              </a:spcAft>
              <a:buSzPct val="100000"/>
              <a:buChar char="•"/>
            </a:pPr>
            <a:r>
              <a:rPr lang="en-US" sz="1450" dirty="0">
                <a:solidFill>
                  <a:srgbClr val="E7DDF2"/>
                </a:solidFill>
                <a:latin typeface="Calibri" pitchFamily="34" charset="0"/>
                <a:ea typeface="Calibri" pitchFamily="34" charset="-122"/>
                <a:cs typeface="Calibri" pitchFamily="34" charset="-120"/>
              </a:rPr>
              <a:t>Xu et al. — Prov-GigaPath, Nature 2024</a:t>
            </a:r>
            <a:endParaRPr lang="en-US" sz="1450" dirty="0"/>
          </a:p>
          <a:p>
            <a:pPr marL="177800" indent="-177800">
              <a:spcAft>
                <a:spcPts val="700"/>
              </a:spcAft>
              <a:buSzPct val="100000"/>
              <a:buChar char="•"/>
            </a:pPr>
            <a:r>
              <a:rPr lang="en-US" sz="1450" dirty="0">
                <a:solidFill>
                  <a:srgbClr val="E7DDF2"/>
                </a:solidFill>
                <a:latin typeface="Calibri" pitchFamily="34" charset="0"/>
                <a:ea typeface="Calibri" pitchFamily="34" charset="-122"/>
                <a:cs typeface="Calibri" pitchFamily="34" charset="-120"/>
              </a:rPr>
              <a:t>Toolkits: CLAM &amp; TRIDENT (github.com/mahmoodlab)</a:t>
            </a:r>
            <a:endParaRPr lang="en-US" sz="1450" dirty="0"/>
          </a:p>
        </p:txBody>
      </p:sp>
      <p:sp>
        <p:nvSpPr>
          <p:cNvPr id="12" name="Text 10"/>
          <p:cNvSpPr/>
          <p:nvPr/>
        </p:nvSpPr>
        <p:spPr>
          <a:xfrm>
            <a:off x="640080" y="6172200"/>
            <a:ext cx="10881360" cy="457200"/>
          </a:xfrm>
          <a:prstGeom prst="rect">
            <a:avLst/>
          </a:prstGeom>
          <a:noFill/>
          <a:ln/>
        </p:spPr>
        <p:txBody>
          <a:bodyPr wrap="square" lIns="0" tIns="0" rIns="0" bIns="0" rtlCol="0" anchor="ctr"/>
          <a:lstStyle/>
          <a:p>
            <a:pPr marL="0" indent="0" algn="ctr">
              <a:buNone/>
            </a:pPr>
            <a:r>
              <a:rPr lang="en-US" sz="1900" b="1" i="1" dirty="0">
                <a:solidFill>
                  <a:srgbClr val="F2A9C4"/>
                </a:solidFill>
                <a:latin typeface="Georgia" pitchFamily="34" charset="0"/>
                <a:ea typeface="Georgia" pitchFamily="34" charset="-122"/>
                <a:cs typeface="Georgia" pitchFamily="34" charset="-120"/>
              </a:rPr>
              <a:t>Thank you — questions?</a:t>
            </a:r>
            <a:endParaRPr lang="en-US" sz="1900" dirty="0"/>
          </a:p>
        </p:txBody>
      </p:sp>
      <p:sp>
        <p:nvSpPr>
          <p:cNvPr id="13" name="Text 11"/>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150" dirty="0">
                <a:solidFill>
                  <a:srgbClr val="8E7BA8"/>
                </a:solidFill>
                <a:latin typeface="Calibri" pitchFamily="34" charset="0"/>
                <a:ea typeface="Calibri" pitchFamily="34" charset="-122"/>
                <a:cs typeface="Calibri" pitchFamily="34" charset="-120"/>
              </a:rPr>
              <a:t>Introduction to Pathology MIL</a:t>
            </a:r>
            <a:endParaRPr lang="en-US" sz="1150" dirty="0"/>
          </a:p>
        </p:txBody>
      </p:sp>
      <p:sp>
        <p:nvSpPr>
          <p:cNvPr id="14" name="Text 12"/>
          <p:cNvSpPr/>
          <p:nvPr/>
        </p:nvSpPr>
        <p:spPr>
          <a:xfrm>
            <a:off x="11183112" y="6473952"/>
            <a:ext cx="548640" cy="274320"/>
          </a:xfrm>
          <a:prstGeom prst="rect">
            <a:avLst/>
          </a:prstGeom>
          <a:noFill/>
          <a:ln/>
        </p:spPr>
        <p:txBody>
          <a:bodyPr wrap="square" lIns="0" tIns="0" rIns="0" bIns="0" rtlCol="0" anchor="ctr"/>
          <a:lstStyle/>
          <a:p>
            <a:pPr marL="0" indent="0" algn="r">
              <a:buNone/>
            </a:pPr>
            <a:r>
              <a:rPr lang="en-US" sz="1150" dirty="0">
                <a:solidFill>
                  <a:srgbClr val="8E7BA8"/>
                </a:solidFill>
                <a:latin typeface="Calibri" pitchFamily="34" charset="0"/>
                <a:ea typeface="Calibri" pitchFamily="34" charset="-122"/>
                <a:cs typeface="Calibri" pitchFamily="34" charset="-120"/>
              </a:rPr>
              <a:t>49</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7854</Words>
  <Application>Microsoft Macintosh PowerPoint</Application>
  <PresentationFormat>Widescreen</PresentationFormat>
  <Paragraphs>923</Paragraphs>
  <Slides>49</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Pathology MIL</dc:title>
  <dc:subject>PptxGenJS Presentation</dc:subject>
  <dc:creator>autoMIL course</dc:creator>
  <cp:lastModifiedBy>leo.yin1127@gmail.com</cp:lastModifiedBy>
  <cp:revision>1</cp:revision>
  <dcterms:created xsi:type="dcterms:W3CDTF">2026-06-04T15:39:31Z</dcterms:created>
  <dcterms:modified xsi:type="dcterms:W3CDTF">2026-06-04T15:47:05Z</dcterms:modified>
</cp:coreProperties>
</file>